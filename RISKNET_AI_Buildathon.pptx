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F3C"/>
        </a:solidFill>
      </p:bgPr>
    </p:bg>
    <p:spTree>
      <p:nvGrpSpPr>
        <p:cNvPr id="1" name=""/>
        <p:cNvGrpSpPr/>
        <p:nvPr/>
      </p:nvGrpSpPr>
      <p:grpSpPr>
        <a:xfrm>
          <a:off x="0" y="0"/>
          <a:ext cx="0" cy="0"/>
          <a:chOff x="0" y="0"/>
          <a:chExt cx="0" cy="0"/>
        </a:xfrm>
      </p:grpSpPr>
      <p:sp>
        <p:nvSpPr>
          <p:cNvPr id="2" name="Shape 0"/>
          <p:cNvSpPr/>
          <p:nvPr/>
        </p:nvSpPr>
        <p:spPr>
          <a:xfrm>
            <a:off x="9692640" y="731520"/>
            <a:ext cx="914400" cy="274320"/>
          </a:xfrm>
          <a:prstGeom prst="line">
            <a:avLst/>
          </a:prstGeom>
          <a:noFill/>
          <a:ln w="15875">
            <a:solidFill>
              <a:srgbClr val="24396B"/>
            </a:solidFill>
            <a:prstDash val="solid"/>
          </a:ln>
        </p:spPr>
      </p:sp>
      <p:sp>
        <p:nvSpPr>
          <p:cNvPr id="3" name="Shape 1"/>
          <p:cNvSpPr/>
          <p:nvPr/>
        </p:nvSpPr>
        <p:spPr>
          <a:xfrm>
            <a:off x="9692640" y="1005840"/>
            <a:ext cx="1645920" cy="457200"/>
          </a:xfrm>
          <a:prstGeom prst="line">
            <a:avLst/>
          </a:prstGeom>
          <a:noFill/>
          <a:ln w="15875">
            <a:solidFill>
              <a:srgbClr val="24396B"/>
            </a:solidFill>
            <a:prstDash val="solid"/>
          </a:ln>
        </p:spPr>
      </p:sp>
      <p:sp>
        <p:nvSpPr>
          <p:cNvPr id="4" name="Shape 2"/>
          <p:cNvSpPr/>
          <p:nvPr/>
        </p:nvSpPr>
        <p:spPr>
          <a:xfrm>
            <a:off x="9692640" y="1005840"/>
            <a:ext cx="1463040" cy="1371600"/>
          </a:xfrm>
          <a:prstGeom prst="line">
            <a:avLst/>
          </a:prstGeom>
          <a:noFill/>
          <a:ln w="15875">
            <a:solidFill>
              <a:srgbClr val="24396B"/>
            </a:solidFill>
            <a:prstDash val="solid"/>
          </a:ln>
        </p:spPr>
      </p:sp>
      <p:sp>
        <p:nvSpPr>
          <p:cNvPr id="5" name="Shape 3"/>
          <p:cNvSpPr/>
          <p:nvPr/>
        </p:nvSpPr>
        <p:spPr>
          <a:xfrm>
            <a:off x="10607040" y="731520"/>
            <a:ext cx="731520" cy="731520"/>
          </a:xfrm>
          <a:prstGeom prst="line">
            <a:avLst/>
          </a:prstGeom>
          <a:noFill/>
          <a:ln w="15875">
            <a:solidFill>
              <a:srgbClr val="24396B"/>
            </a:solidFill>
            <a:prstDash val="solid"/>
          </a:ln>
        </p:spPr>
      </p:sp>
      <p:sp>
        <p:nvSpPr>
          <p:cNvPr id="6" name="Shape 4"/>
          <p:cNvSpPr/>
          <p:nvPr/>
        </p:nvSpPr>
        <p:spPr>
          <a:xfrm>
            <a:off x="10149840" y="731520"/>
            <a:ext cx="457200" cy="1188720"/>
          </a:xfrm>
          <a:prstGeom prst="line">
            <a:avLst/>
          </a:prstGeom>
          <a:noFill/>
          <a:ln w="15875">
            <a:solidFill>
              <a:srgbClr val="24396B"/>
            </a:solidFill>
            <a:prstDash val="solid"/>
          </a:ln>
        </p:spPr>
      </p:sp>
      <p:sp>
        <p:nvSpPr>
          <p:cNvPr id="7" name="Shape 5"/>
          <p:cNvSpPr/>
          <p:nvPr/>
        </p:nvSpPr>
        <p:spPr>
          <a:xfrm>
            <a:off x="9418320" y="731520"/>
            <a:ext cx="1188720" cy="1097280"/>
          </a:xfrm>
          <a:prstGeom prst="line">
            <a:avLst/>
          </a:prstGeom>
          <a:noFill/>
          <a:ln w="15875">
            <a:solidFill>
              <a:srgbClr val="24396B"/>
            </a:solidFill>
            <a:prstDash val="solid"/>
          </a:ln>
        </p:spPr>
      </p:sp>
      <p:sp>
        <p:nvSpPr>
          <p:cNvPr id="8" name="Shape 6"/>
          <p:cNvSpPr/>
          <p:nvPr/>
        </p:nvSpPr>
        <p:spPr>
          <a:xfrm>
            <a:off x="9418320" y="1463040"/>
            <a:ext cx="1920240" cy="365760"/>
          </a:xfrm>
          <a:prstGeom prst="line">
            <a:avLst/>
          </a:prstGeom>
          <a:noFill/>
          <a:ln w="15875">
            <a:solidFill>
              <a:srgbClr val="24396B"/>
            </a:solidFill>
            <a:prstDash val="solid"/>
          </a:ln>
        </p:spPr>
      </p:sp>
      <p:sp>
        <p:nvSpPr>
          <p:cNvPr id="9" name="Shape 7"/>
          <p:cNvSpPr/>
          <p:nvPr/>
        </p:nvSpPr>
        <p:spPr>
          <a:xfrm>
            <a:off x="10149840" y="1920240"/>
            <a:ext cx="1005840" cy="457200"/>
          </a:xfrm>
          <a:prstGeom prst="line">
            <a:avLst/>
          </a:prstGeom>
          <a:noFill/>
          <a:ln w="15875">
            <a:solidFill>
              <a:srgbClr val="24396B"/>
            </a:solidFill>
            <a:prstDash val="solid"/>
          </a:ln>
        </p:spPr>
      </p:sp>
      <p:sp>
        <p:nvSpPr>
          <p:cNvPr id="10" name="Shape 8"/>
          <p:cNvSpPr/>
          <p:nvPr/>
        </p:nvSpPr>
        <p:spPr>
          <a:xfrm>
            <a:off x="9418320" y="1828800"/>
            <a:ext cx="731520" cy="91440"/>
          </a:xfrm>
          <a:prstGeom prst="line">
            <a:avLst/>
          </a:prstGeom>
          <a:noFill/>
          <a:ln w="15875">
            <a:solidFill>
              <a:srgbClr val="24396B"/>
            </a:solidFill>
            <a:prstDash val="solid"/>
          </a:ln>
        </p:spPr>
      </p:sp>
      <p:sp>
        <p:nvSpPr>
          <p:cNvPr id="11" name="Shape 9"/>
          <p:cNvSpPr/>
          <p:nvPr/>
        </p:nvSpPr>
        <p:spPr>
          <a:xfrm>
            <a:off x="9637776" y="950976"/>
            <a:ext cx="109728" cy="109728"/>
          </a:xfrm>
          <a:prstGeom prst="ellipse">
            <a:avLst/>
          </a:prstGeom>
          <a:solidFill>
            <a:srgbClr val="F0A23A"/>
          </a:solidFill>
          <a:ln/>
        </p:spPr>
      </p:sp>
      <p:sp>
        <p:nvSpPr>
          <p:cNvPr id="12" name="Shape 10"/>
          <p:cNvSpPr/>
          <p:nvPr/>
        </p:nvSpPr>
        <p:spPr>
          <a:xfrm>
            <a:off x="10552176" y="676656"/>
            <a:ext cx="109728" cy="109728"/>
          </a:xfrm>
          <a:prstGeom prst="ellipse">
            <a:avLst/>
          </a:prstGeom>
          <a:solidFill>
            <a:srgbClr val="F0A23A"/>
          </a:solidFill>
          <a:ln/>
        </p:spPr>
      </p:sp>
      <p:sp>
        <p:nvSpPr>
          <p:cNvPr id="13" name="Shape 11"/>
          <p:cNvSpPr/>
          <p:nvPr/>
        </p:nvSpPr>
        <p:spPr>
          <a:xfrm>
            <a:off x="11283696" y="1408176"/>
            <a:ext cx="109728" cy="109728"/>
          </a:xfrm>
          <a:prstGeom prst="ellipse">
            <a:avLst/>
          </a:prstGeom>
          <a:solidFill>
            <a:srgbClr val="F0A23A"/>
          </a:solidFill>
          <a:ln/>
        </p:spPr>
      </p:sp>
      <p:sp>
        <p:nvSpPr>
          <p:cNvPr id="14" name="Shape 12"/>
          <p:cNvSpPr/>
          <p:nvPr/>
        </p:nvSpPr>
        <p:spPr>
          <a:xfrm>
            <a:off x="10094976" y="1865376"/>
            <a:ext cx="109728" cy="109728"/>
          </a:xfrm>
          <a:prstGeom prst="ellipse">
            <a:avLst/>
          </a:prstGeom>
          <a:solidFill>
            <a:srgbClr val="F0A23A"/>
          </a:solidFill>
          <a:ln/>
        </p:spPr>
      </p:sp>
      <p:sp>
        <p:nvSpPr>
          <p:cNvPr id="15" name="Shape 13"/>
          <p:cNvSpPr/>
          <p:nvPr/>
        </p:nvSpPr>
        <p:spPr>
          <a:xfrm>
            <a:off x="11100816" y="2322576"/>
            <a:ext cx="109728" cy="109728"/>
          </a:xfrm>
          <a:prstGeom prst="ellipse">
            <a:avLst/>
          </a:prstGeom>
          <a:solidFill>
            <a:srgbClr val="F0A23A"/>
          </a:solidFill>
          <a:ln/>
        </p:spPr>
      </p:sp>
      <p:sp>
        <p:nvSpPr>
          <p:cNvPr id="16" name="Shape 14"/>
          <p:cNvSpPr/>
          <p:nvPr/>
        </p:nvSpPr>
        <p:spPr>
          <a:xfrm>
            <a:off x="9363456" y="1773936"/>
            <a:ext cx="109728" cy="109728"/>
          </a:xfrm>
          <a:prstGeom prst="ellipse">
            <a:avLst/>
          </a:prstGeom>
          <a:solidFill>
            <a:srgbClr val="F0A23A"/>
          </a:solidFill>
          <a:ln/>
        </p:spPr>
      </p:sp>
      <p:sp>
        <p:nvSpPr>
          <p:cNvPr id="17" name="Text 15"/>
          <p:cNvSpPr/>
          <p:nvPr/>
        </p:nvSpPr>
        <p:spPr>
          <a:xfrm>
            <a:off x="640080" y="2331720"/>
            <a:ext cx="9144000" cy="365760"/>
          </a:xfrm>
          <a:prstGeom prst="rect">
            <a:avLst/>
          </a:prstGeom>
          <a:noFill/>
          <a:ln/>
        </p:spPr>
        <p:txBody>
          <a:bodyPr wrap="square" rtlCol="0" anchor="ctr"/>
          <a:lstStyle/>
          <a:p>
            <a:pPr indent="0" marL="0">
              <a:buNone/>
            </a:pPr>
            <a:r>
              <a:rPr lang="en-US" sz="1400" b="1" spc="300" kern="0" dirty="0">
                <a:solidFill>
                  <a:srgbClr val="F0A23A"/>
                </a:solidFill>
                <a:latin typeface="Calibri" pitchFamily="34" charset="0"/>
                <a:ea typeface="Calibri" pitchFamily="34" charset="-122"/>
                <a:cs typeface="Calibri" pitchFamily="34" charset="-120"/>
              </a:rPr>
              <a:t>FRAUD RING &amp; CUSTOMER RISK INTELLIGENCE</a:t>
            </a:r>
            <a:endParaRPr lang="en-US" sz="1400" dirty="0"/>
          </a:p>
        </p:txBody>
      </p:sp>
      <p:sp>
        <p:nvSpPr>
          <p:cNvPr id="18" name="Text 16"/>
          <p:cNvSpPr/>
          <p:nvPr/>
        </p:nvSpPr>
        <p:spPr>
          <a:xfrm>
            <a:off x="594360" y="2651760"/>
            <a:ext cx="10515600" cy="1188720"/>
          </a:xfrm>
          <a:prstGeom prst="rect">
            <a:avLst/>
          </a:prstGeom>
          <a:noFill/>
          <a:ln/>
        </p:spPr>
        <p:txBody>
          <a:bodyPr wrap="square"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RISKNET AI</a:t>
            </a:r>
            <a:endParaRPr lang="en-US" sz="6400" dirty="0"/>
          </a:p>
        </p:txBody>
      </p:sp>
      <p:sp>
        <p:nvSpPr>
          <p:cNvPr id="19" name="Text 17"/>
          <p:cNvSpPr/>
          <p:nvPr/>
        </p:nvSpPr>
        <p:spPr>
          <a:xfrm>
            <a:off x="640080" y="3794760"/>
            <a:ext cx="8778240" cy="822960"/>
          </a:xfrm>
          <a:prstGeom prst="rect">
            <a:avLst/>
          </a:prstGeom>
          <a:noFill/>
          <a:ln/>
        </p:spPr>
        <p:txBody>
          <a:bodyPr wrap="square" rtlCol="0" anchor="ctr"/>
          <a:lstStyle/>
          <a:p>
            <a:pPr indent="0" marL="0">
              <a:lnSpc>
                <a:spcPct val="125000"/>
              </a:lnSpc>
              <a:buNone/>
            </a:pPr>
            <a:r>
              <a:rPr lang="en-US" sz="1500" dirty="0">
                <a:solidFill>
                  <a:srgbClr val="D8E3F5"/>
                </a:solidFill>
                <a:latin typeface="Calibri" pitchFamily="34" charset="0"/>
                <a:ea typeface="Calibri" pitchFamily="34" charset="-122"/>
                <a:cs typeface="Calibri" pitchFamily="34" charset="-120"/>
              </a:rPr>
              <a:t>An AI-powered platform combining behavioral analytics, machine learning, and graph-based</a:t>
            </a:r>
            <a:endParaRPr lang="en-US" sz="1500" dirty="0"/>
          </a:p>
          <a:p>
            <a:pPr indent="0" marL="0">
              <a:lnSpc>
                <a:spcPct val="125000"/>
              </a:lnSpc>
              <a:buNone/>
            </a:pPr>
            <a:r>
              <a:rPr lang="en-US" sz="1500" dirty="0">
                <a:solidFill>
                  <a:srgbClr val="D8E3F5"/>
                </a:solidFill>
                <a:latin typeface="Calibri" pitchFamily="34" charset="0"/>
                <a:ea typeface="Calibri" pitchFamily="34" charset="-122"/>
                <a:cs typeface="Calibri" pitchFamily="34" charset="-120"/>
              </a:rPr>
              <a:t>network intelligence to detect coordinated fraud rings — not just risky individuals.</a:t>
            </a:r>
            <a:endParaRPr lang="en-US" sz="1500" dirty="0"/>
          </a:p>
        </p:txBody>
      </p:sp>
      <p:sp>
        <p:nvSpPr>
          <p:cNvPr id="20" name="Shape 18"/>
          <p:cNvSpPr/>
          <p:nvPr/>
        </p:nvSpPr>
        <p:spPr>
          <a:xfrm>
            <a:off x="640080" y="4892040"/>
            <a:ext cx="10881360" cy="1234440"/>
          </a:xfrm>
          <a:prstGeom prst="roundRect">
            <a:avLst>
              <a:gd name="adj" fmla="val 5926"/>
            </a:avLst>
          </a:prstGeom>
          <a:solidFill>
            <a:srgbClr val="1B2E58"/>
          </a:solidFill>
          <a:ln/>
        </p:spPr>
      </p:sp>
      <p:sp>
        <p:nvSpPr>
          <p:cNvPr id="21" name="Text 19"/>
          <p:cNvSpPr/>
          <p:nvPr/>
        </p:nvSpPr>
        <p:spPr>
          <a:xfrm>
            <a:off x="868680" y="5074920"/>
            <a:ext cx="2468880" cy="274320"/>
          </a:xfrm>
          <a:prstGeom prst="rect">
            <a:avLst/>
          </a:prstGeom>
          <a:noFill/>
          <a:ln/>
        </p:spPr>
        <p:txBody>
          <a:bodyPr wrap="square" rtlCol="0" anchor="ctr"/>
          <a:lstStyle/>
          <a:p>
            <a:pPr indent="0" marL="0">
              <a:buNone/>
            </a:pPr>
            <a:r>
              <a:rPr lang="en-US" sz="1000" b="1" spc="150" kern="0" dirty="0">
                <a:solidFill>
                  <a:srgbClr val="9FB1D6"/>
                </a:solidFill>
                <a:latin typeface="Calibri" pitchFamily="34" charset="0"/>
                <a:ea typeface="Calibri" pitchFamily="34" charset="-122"/>
                <a:cs typeface="Calibri" pitchFamily="34" charset="-120"/>
              </a:rPr>
              <a:t>DOMAIN</a:t>
            </a:r>
            <a:endParaRPr lang="en-US" sz="1000" dirty="0"/>
          </a:p>
        </p:txBody>
      </p:sp>
      <p:sp>
        <p:nvSpPr>
          <p:cNvPr id="22" name="Text 20"/>
          <p:cNvSpPr/>
          <p:nvPr/>
        </p:nvSpPr>
        <p:spPr>
          <a:xfrm>
            <a:off x="868680" y="5349240"/>
            <a:ext cx="246888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FinTech · AI / ML</a:t>
            </a:r>
            <a:endParaRPr lang="en-US" sz="1300" dirty="0"/>
          </a:p>
        </p:txBody>
      </p:sp>
      <p:sp>
        <p:nvSpPr>
          <p:cNvPr id="23" name="Text 21"/>
          <p:cNvSpPr/>
          <p:nvPr/>
        </p:nvSpPr>
        <p:spPr>
          <a:xfrm>
            <a:off x="3474720" y="5074920"/>
            <a:ext cx="2468880" cy="274320"/>
          </a:xfrm>
          <a:prstGeom prst="rect">
            <a:avLst/>
          </a:prstGeom>
          <a:noFill/>
          <a:ln/>
        </p:spPr>
        <p:txBody>
          <a:bodyPr wrap="square" rtlCol="0" anchor="ctr"/>
          <a:lstStyle/>
          <a:p>
            <a:pPr indent="0" marL="0">
              <a:buNone/>
            </a:pPr>
            <a:r>
              <a:rPr lang="en-US" sz="1000" b="1" spc="150" kern="0" dirty="0">
                <a:solidFill>
                  <a:srgbClr val="9FB1D6"/>
                </a:solidFill>
                <a:latin typeface="Calibri" pitchFamily="34" charset="0"/>
                <a:ea typeface="Calibri" pitchFamily="34" charset="-122"/>
                <a:cs typeface="Calibri" pitchFamily="34" charset="-120"/>
              </a:rPr>
              <a:t>STACK</a:t>
            </a:r>
            <a:endParaRPr lang="en-US" sz="1000" dirty="0"/>
          </a:p>
        </p:txBody>
      </p:sp>
      <p:sp>
        <p:nvSpPr>
          <p:cNvPr id="24" name="Text 22"/>
          <p:cNvSpPr/>
          <p:nvPr/>
        </p:nvSpPr>
        <p:spPr>
          <a:xfrm>
            <a:off x="3474720" y="5349240"/>
            <a:ext cx="246888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Python · Scikit-learn · NetworkX · FastAPI</a:t>
            </a:r>
            <a:endParaRPr lang="en-US" sz="1300" dirty="0"/>
          </a:p>
        </p:txBody>
      </p:sp>
      <p:sp>
        <p:nvSpPr>
          <p:cNvPr id="25" name="Text 23"/>
          <p:cNvSpPr/>
          <p:nvPr/>
        </p:nvSpPr>
        <p:spPr>
          <a:xfrm>
            <a:off x="6080760" y="5074920"/>
            <a:ext cx="2468880" cy="274320"/>
          </a:xfrm>
          <a:prstGeom prst="rect">
            <a:avLst/>
          </a:prstGeom>
          <a:noFill/>
          <a:ln/>
        </p:spPr>
        <p:txBody>
          <a:bodyPr wrap="square" rtlCol="0" anchor="ctr"/>
          <a:lstStyle/>
          <a:p>
            <a:pPr indent="0" marL="0">
              <a:buNone/>
            </a:pPr>
            <a:r>
              <a:rPr lang="en-US" sz="1000" b="1" spc="150" kern="0" dirty="0">
                <a:solidFill>
                  <a:srgbClr val="9FB1D6"/>
                </a:solidFill>
                <a:latin typeface="Calibri" pitchFamily="34" charset="0"/>
                <a:ea typeface="Calibri" pitchFamily="34" charset="-122"/>
                <a:cs typeface="Calibri" pitchFamily="34" charset="-120"/>
              </a:rPr>
              <a:t>PREPARED BY</a:t>
            </a:r>
            <a:endParaRPr lang="en-US" sz="1000" dirty="0"/>
          </a:p>
        </p:txBody>
      </p:sp>
      <p:sp>
        <p:nvSpPr>
          <p:cNvPr id="26" name="Text 24"/>
          <p:cNvSpPr/>
          <p:nvPr/>
        </p:nvSpPr>
        <p:spPr>
          <a:xfrm>
            <a:off x="6080760" y="5349240"/>
            <a:ext cx="246888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Prahlad</a:t>
            </a:r>
            <a:endParaRPr lang="en-US" sz="1300" dirty="0"/>
          </a:p>
        </p:txBody>
      </p:sp>
      <p:sp>
        <p:nvSpPr>
          <p:cNvPr id="27" name="Text 25"/>
          <p:cNvSpPr/>
          <p:nvPr/>
        </p:nvSpPr>
        <p:spPr>
          <a:xfrm>
            <a:off x="8686800" y="5074920"/>
            <a:ext cx="2468880" cy="274320"/>
          </a:xfrm>
          <a:prstGeom prst="rect">
            <a:avLst/>
          </a:prstGeom>
          <a:noFill/>
          <a:ln/>
        </p:spPr>
        <p:txBody>
          <a:bodyPr wrap="square" rtlCol="0" anchor="ctr"/>
          <a:lstStyle/>
          <a:p>
            <a:pPr indent="0" marL="0">
              <a:buNone/>
            </a:pPr>
            <a:r>
              <a:rPr lang="en-US" sz="1000" b="1" spc="150" kern="0" dirty="0">
                <a:solidFill>
                  <a:srgbClr val="9FB1D6"/>
                </a:solidFill>
                <a:latin typeface="Calibri" pitchFamily="34" charset="0"/>
                <a:ea typeface="Calibri" pitchFamily="34" charset="-122"/>
                <a:cs typeface="Calibri" pitchFamily="34" charset="-120"/>
              </a:rPr>
              <a:t>TYPE</a:t>
            </a:r>
            <a:endParaRPr lang="en-US" sz="1000" dirty="0"/>
          </a:p>
        </p:txBody>
      </p:sp>
      <p:sp>
        <p:nvSpPr>
          <p:cNvPr id="28" name="Text 26"/>
          <p:cNvSpPr/>
          <p:nvPr/>
        </p:nvSpPr>
        <p:spPr>
          <a:xfrm>
            <a:off x="8686800" y="5349240"/>
            <a:ext cx="246888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Buildathon Project</a:t>
            </a:r>
            <a:endParaRPr lang="en-US" sz="1300" dirty="0"/>
          </a:p>
        </p:txBody>
      </p:sp>
      <p:sp>
        <p:nvSpPr>
          <p:cNvPr id="29" name="Text 2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BUILDATHON DOCUMENTATION</a:t>
            </a:r>
            <a:endParaRPr lang="en-US" sz="900" dirty="0"/>
          </a:p>
        </p:txBody>
      </p:sp>
      <p:sp>
        <p:nvSpPr>
          <p:cNvPr id="30" name="Text 2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31" name="Text 2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Abstract</a:t>
            </a:r>
            <a:endParaRPr lang="en-US" sz="3000" dirty="0"/>
          </a:p>
        </p:txBody>
      </p:sp>
      <p:sp>
        <p:nvSpPr>
          <p:cNvPr id="4" name="Text 2"/>
          <p:cNvSpPr/>
          <p:nvPr/>
        </p:nvSpPr>
        <p:spPr>
          <a:xfrm>
            <a:off x="502920" y="1417320"/>
            <a:ext cx="6766560" cy="1554480"/>
          </a:xfrm>
          <a:prstGeom prst="rect">
            <a:avLst/>
          </a:prstGeom>
          <a:noFill/>
          <a:ln/>
        </p:spPr>
        <p:txBody>
          <a:bodyPr wrap="square" rtlCol="0" anchor="ctr"/>
          <a:lstStyle/>
          <a:p>
            <a:pPr indent="0" marL="0">
              <a:lnSpc>
                <a:spcPct val="130000"/>
              </a:lnSpc>
              <a:buNone/>
            </a:pPr>
            <a:r>
              <a:rPr lang="en-US" sz="1350" dirty="0">
                <a:solidFill>
                  <a:srgbClr val="16234A"/>
                </a:solidFill>
                <a:latin typeface="Calibri" pitchFamily="34" charset="0"/>
                <a:ea typeface="Calibri" pitchFamily="34" charset="-122"/>
                <a:cs typeface="Calibri" pitchFamily="34" charset="-120"/>
              </a:rPr>
              <a:t>Digital payment platforms face increasingly sophisticated fraud attacks. Traditional systems evaluate customers or transactions individually, making it difficult to identify coordinated fraud networks where accounts are connected through shared devices, payment instruments, identities, or behavioral patterns.</a:t>
            </a:r>
            <a:endParaRPr lang="en-US" sz="1350" dirty="0"/>
          </a:p>
        </p:txBody>
      </p:sp>
      <p:sp>
        <p:nvSpPr>
          <p:cNvPr id="5" name="Text 3"/>
          <p:cNvSpPr/>
          <p:nvPr/>
        </p:nvSpPr>
        <p:spPr>
          <a:xfrm>
            <a:off x="502920" y="3063240"/>
            <a:ext cx="6766560" cy="1554480"/>
          </a:xfrm>
          <a:prstGeom prst="rect">
            <a:avLst/>
          </a:prstGeom>
          <a:noFill/>
          <a:ln/>
        </p:spPr>
        <p:txBody>
          <a:bodyPr wrap="square" rtlCol="0" anchor="ctr"/>
          <a:lstStyle/>
          <a:p>
            <a:pPr indent="0" marL="0">
              <a:lnSpc>
                <a:spcPct val="130000"/>
              </a:lnSpc>
              <a:buNone/>
            </a:pPr>
            <a:r>
              <a:rPr lang="en-US" sz="1350" dirty="0">
                <a:solidFill>
                  <a:srgbClr val="16234A"/>
                </a:solidFill>
                <a:latin typeface="Calibri" pitchFamily="34" charset="0"/>
                <a:ea typeface="Calibri" pitchFamily="34" charset="-122"/>
                <a:cs typeface="Calibri" pitchFamily="34" charset="-120"/>
              </a:rPr>
              <a:t>RISKNET AI combines rule-based analysis, machine learning, graph-based network analysis, and fraud-ring classification into one explainable customer risk assessment — merging tabular ML with relationship-based graph intelligence for stronger detection than isolated analysis allows.</a:t>
            </a:r>
            <a:endParaRPr lang="en-US" sz="1350" dirty="0"/>
          </a:p>
        </p:txBody>
      </p:sp>
      <p:sp>
        <p:nvSpPr>
          <p:cNvPr id="6" name="Shape 4"/>
          <p:cNvSpPr/>
          <p:nvPr/>
        </p:nvSpPr>
        <p:spPr>
          <a:xfrm>
            <a:off x="7635240" y="1417320"/>
            <a:ext cx="4069080" cy="4846320"/>
          </a:xfrm>
          <a:prstGeom prst="roundRect">
            <a:avLst>
              <a:gd name="adj" fmla="val 1798"/>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7" name="Text 5"/>
          <p:cNvSpPr/>
          <p:nvPr/>
        </p:nvSpPr>
        <p:spPr>
          <a:xfrm>
            <a:off x="7909560" y="1645920"/>
            <a:ext cx="3566160" cy="274320"/>
          </a:xfrm>
          <a:prstGeom prst="rect">
            <a:avLst/>
          </a:prstGeom>
          <a:noFill/>
          <a:ln/>
        </p:spPr>
        <p:txBody>
          <a:bodyPr wrap="square" rtlCol="0" anchor="ctr"/>
          <a:lstStyle/>
          <a:p>
            <a:pPr indent="0" marL="0">
              <a:buNone/>
            </a:pPr>
            <a:r>
              <a:rPr lang="en-US" sz="1100" b="1" spc="150" kern="0" dirty="0">
                <a:solidFill>
                  <a:srgbClr val="F0A23A"/>
                </a:solidFill>
                <a:latin typeface="Calibri" pitchFamily="34" charset="0"/>
                <a:ea typeface="Calibri" pitchFamily="34" charset="-122"/>
                <a:cs typeface="Calibri" pitchFamily="34" charset="-120"/>
              </a:rPr>
              <a:t>PLATFORM AT A GLANCE</a:t>
            </a:r>
            <a:endParaRPr lang="en-US" sz="1100" dirty="0"/>
          </a:p>
        </p:txBody>
      </p:sp>
      <p:sp>
        <p:nvSpPr>
          <p:cNvPr id="8" name="Text 6"/>
          <p:cNvSpPr/>
          <p:nvPr/>
        </p:nvSpPr>
        <p:spPr>
          <a:xfrm>
            <a:off x="7909560" y="2103120"/>
            <a:ext cx="1005840" cy="822960"/>
          </a:xfrm>
          <a:prstGeom prst="rect">
            <a:avLst/>
          </a:prstGeom>
          <a:noFill/>
          <a:ln/>
        </p:spPr>
        <p:txBody>
          <a:bodyPr wrap="square" rtlCol="0" anchor="ctr"/>
          <a:lstStyle/>
          <a:p>
            <a:pPr indent="0" marL="0">
              <a:buNone/>
            </a:pPr>
            <a:r>
              <a:rPr lang="en-US" sz="4000" b="1" dirty="0">
                <a:solidFill>
                  <a:srgbClr val="F0A23A"/>
                </a:solidFill>
                <a:latin typeface="Cambria" pitchFamily="34" charset="0"/>
                <a:ea typeface="Cambria" pitchFamily="34" charset="-122"/>
                <a:cs typeface="Cambria" pitchFamily="34" charset="-120"/>
              </a:rPr>
              <a:t>4</a:t>
            </a:r>
            <a:endParaRPr lang="en-US" sz="4000" dirty="0"/>
          </a:p>
        </p:txBody>
      </p:sp>
      <p:sp>
        <p:nvSpPr>
          <p:cNvPr id="9" name="Text 7"/>
          <p:cNvSpPr/>
          <p:nvPr/>
        </p:nvSpPr>
        <p:spPr>
          <a:xfrm>
            <a:off x="8915400" y="2103120"/>
            <a:ext cx="2743200" cy="822960"/>
          </a:xfrm>
          <a:prstGeom prst="rect">
            <a:avLst/>
          </a:prstGeom>
          <a:noFill/>
          <a:ln/>
        </p:spPr>
        <p:txBody>
          <a:bodyPr wrap="square" rtlCol="0" anchor="ctr"/>
          <a:lstStyle/>
          <a:p>
            <a:pPr indent="0" marL="0">
              <a:lnSpc>
                <a:spcPct val="115000"/>
              </a:lnSpc>
              <a:buNone/>
            </a:pPr>
            <a:r>
              <a:rPr lang="en-US" sz="1200" dirty="0">
                <a:solidFill>
                  <a:srgbClr val="D8E3F5"/>
                </a:solidFill>
                <a:latin typeface="Calibri" pitchFamily="34" charset="0"/>
                <a:ea typeface="Calibri" pitchFamily="34" charset="-122"/>
                <a:cs typeface="Calibri" pitchFamily="34" charset="-120"/>
              </a:rPr>
              <a:t>Intelligence layers fused: Rules, ML, Graph, Ring</a:t>
            </a:r>
            <a:endParaRPr lang="en-US" sz="1200" dirty="0"/>
          </a:p>
        </p:txBody>
      </p:sp>
      <p:sp>
        <p:nvSpPr>
          <p:cNvPr id="10" name="Text 8"/>
          <p:cNvSpPr/>
          <p:nvPr/>
        </p:nvSpPr>
        <p:spPr>
          <a:xfrm>
            <a:off x="7909560" y="3108960"/>
            <a:ext cx="1005840" cy="822960"/>
          </a:xfrm>
          <a:prstGeom prst="rect">
            <a:avLst/>
          </a:prstGeom>
          <a:noFill/>
          <a:ln/>
        </p:spPr>
        <p:txBody>
          <a:bodyPr wrap="square" rtlCol="0" anchor="ctr"/>
          <a:lstStyle/>
          <a:p>
            <a:pPr indent="0" marL="0">
              <a:buNone/>
            </a:pPr>
            <a:r>
              <a:rPr lang="en-US" sz="4000" b="1" dirty="0">
                <a:solidFill>
                  <a:srgbClr val="F0A23A"/>
                </a:solidFill>
                <a:latin typeface="Cambria" pitchFamily="34" charset="0"/>
                <a:ea typeface="Cambria" pitchFamily="34" charset="-122"/>
                <a:cs typeface="Cambria" pitchFamily="34" charset="-120"/>
              </a:rPr>
              <a:t>3</a:t>
            </a:r>
            <a:endParaRPr lang="en-US" sz="4000" dirty="0"/>
          </a:p>
        </p:txBody>
      </p:sp>
      <p:sp>
        <p:nvSpPr>
          <p:cNvPr id="11" name="Text 9"/>
          <p:cNvSpPr/>
          <p:nvPr/>
        </p:nvSpPr>
        <p:spPr>
          <a:xfrm>
            <a:off x="8915400" y="3108960"/>
            <a:ext cx="2743200" cy="822960"/>
          </a:xfrm>
          <a:prstGeom prst="rect">
            <a:avLst/>
          </a:prstGeom>
          <a:noFill/>
          <a:ln/>
        </p:spPr>
        <p:txBody>
          <a:bodyPr wrap="square" rtlCol="0" anchor="ctr"/>
          <a:lstStyle/>
          <a:p>
            <a:pPr indent="0" marL="0">
              <a:lnSpc>
                <a:spcPct val="115000"/>
              </a:lnSpc>
              <a:buNone/>
            </a:pPr>
            <a:r>
              <a:rPr lang="en-US" sz="1200" dirty="0">
                <a:solidFill>
                  <a:srgbClr val="D8E3F5"/>
                </a:solidFill>
                <a:latin typeface="Calibri" pitchFamily="34" charset="0"/>
                <a:ea typeface="Calibri" pitchFamily="34" charset="-122"/>
                <a:cs typeface="Calibri" pitchFamily="34" charset="-120"/>
              </a:rPr>
              <a:t>Fraud ring patterns classified</a:t>
            </a:r>
            <a:endParaRPr lang="en-US" sz="1200" dirty="0"/>
          </a:p>
        </p:txBody>
      </p:sp>
      <p:sp>
        <p:nvSpPr>
          <p:cNvPr id="12" name="Text 10"/>
          <p:cNvSpPr/>
          <p:nvPr/>
        </p:nvSpPr>
        <p:spPr>
          <a:xfrm>
            <a:off x="7909560" y="4114800"/>
            <a:ext cx="1005840" cy="822960"/>
          </a:xfrm>
          <a:prstGeom prst="rect">
            <a:avLst/>
          </a:prstGeom>
          <a:noFill/>
          <a:ln/>
        </p:spPr>
        <p:txBody>
          <a:bodyPr wrap="square" rtlCol="0" anchor="ctr"/>
          <a:lstStyle/>
          <a:p>
            <a:pPr indent="0" marL="0">
              <a:buNone/>
            </a:pPr>
            <a:r>
              <a:rPr lang="en-US" sz="4000" b="1" dirty="0">
                <a:solidFill>
                  <a:srgbClr val="F0A23A"/>
                </a:solidFill>
                <a:latin typeface="Cambria" pitchFamily="34" charset="0"/>
                <a:ea typeface="Cambria" pitchFamily="34" charset="-122"/>
                <a:cs typeface="Cambria" pitchFamily="34" charset="-120"/>
              </a:rPr>
              <a:t>3</a:t>
            </a:r>
            <a:endParaRPr lang="en-US" sz="4000" dirty="0"/>
          </a:p>
        </p:txBody>
      </p:sp>
      <p:sp>
        <p:nvSpPr>
          <p:cNvPr id="13" name="Text 11"/>
          <p:cNvSpPr/>
          <p:nvPr/>
        </p:nvSpPr>
        <p:spPr>
          <a:xfrm>
            <a:off x="8915400" y="4114800"/>
            <a:ext cx="2743200" cy="822960"/>
          </a:xfrm>
          <a:prstGeom prst="rect">
            <a:avLst/>
          </a:prstGeom>
          <a:noFill/>
          <a:ln/>
        </p:spPr>
        <p:txBody>
          <a:bodyPr wrap="square" rtlCol="0" anchor="ctr"/>
          <a:lstStyle/>
          <a:p>
            <a:pPr indent="0" marL="0">
              <a:lnSpc>
                <a:spcPct val="115000"/>
              </a:lnSpc>
              <a:buNone/>
            </a:pPr>
            <a:r>
              <a:rPr lang="en-US" sz="1200" dirty="0">
                <a:solidFill>
                  <a:srgbClr val="D8E3F5"/>
                </a:solidFill>
                <a:latin typeface="Calibri" pitchFamily="34" charset="0"/>
                <a:ea typeface="Calibri" pitchFamily="34" charset="-122"/>
                <a:cs typeface="Calibri" pitchFamily="34" charset="-120"/>
              </a:rPr>
              <a:t>Final risk levels: Low / Medium / High</a:t>
            </a:r>
            <a:endParaRPr lang="en-US" sz="1200" dirty="0"/>
          </a:p>
        </p:txBody>
      </p:sp>
      <p:sp>
        <p:nvSpPr>
          <p:cNvPr id="14" name="Text 12"/>
          <p:cNvSpPr/>
          <p:nvPr/>
        </p:nvSpPr>
        <p:spPr>
          <a:xfrm>
            <a:off x="7909560" y="5120640"/>
            <a:ext cx="1005840" cy="822960"/>
          </a:xfrm>
          <a:prstGeom prst="rect">
            <a:avLst/>
          </a:prstGeom>
          <a:noFill/>
          <a:ln/>
        </p:spPr>
        <p:txBody>
          <a:bodyPr wrap="square" rtlCol="0" anchor="ctr"/>
          <a:lstStyle/>
          <a:p>
            <a:pPr indent="0" marL="0">
              <a:buNone/>
            </a:pPr>
            <a:r>
              <a:rPr lang="en-US" sz="4000" b="1" dirty="0">
                <a:solidFill>
                  <a:srgbClr val="F0A23A"/>
                </a:solidFill>
                <a:latin typeface="Cambria" pitchFamily="34" charset="0"/>
                <a:ea typeface="Cambria" pitchFamily="34" charset="-122"/>
                <a:cs typeface="Cambria" pitchFamily="34" charset="-120"/>
              </a:rPr>
              <a:t>2</a:t>
            </a:r>
            <a:endParaRPr lang="en-US" sz="4000" dirty="0"/>
          </a:p>
        </p:txBody>
      </p:sp>
      <p:sp>
        <p:nvSpPr>
          <p:cNvPr id="15" name="Text 13"/>
          <p:cNvSpPr/>
          <p:nvPr/>
        </p:nvSpPr>
        <p:spPr>
          <a:xfrm>
            <a:off x="8915400" y="5120640"/>
            <a:ext cx="2743200" cy="822960"/>
          </a:xfrm>
          <a:prstGeom prst="rect">
            <a:avLst/>
          </a:prstGeom>
          <a:noFill/>
          <a:ln/>
        </p:spPr>
        <p:txBody>
          <a:bodyPr wrap="square" rtlCol="0" anchor="ctr"/>
          <a:lstStyle/>
          <a:p>
            <a:pPr indent="0" marL="0">
              <a:lnSpc>
                <a:spcPct val="115000"/>
              </a:lnSpc>
              <a:buNone/>
            </a:pPr>
            <a:r>
              <a:rPr lang="en-US" sz="1200" dirty="0">
                <a:solidFill>
                  <a:srgbClr val="D8E3F5"/>
                </a:solidFill>
                <a:latin typeface="Calibri" pitchFamily="34" charset="0"/>
                <a:ea typeface="Calibri" pitchFamily="34" charset="-122"/>
                <a:cs typeface="Calibri" pitchFamily="34" charset="-120"/>
              </a:rPr>
              <a:t>Interfaces: REST API + Streamlit dashboard</a:t>
            </a:r>
            <a:endParaRPr lang="en-US" sz="1200" dirty="0"/>
          </a:p>
        </p:txBody>
      </p:sp>
      <p:sp>
        <p:nvSpPr>
          <p:cNvPr id="16" name="Text 14"/>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 · ABSTRACT</a:t>
            </a:r>
            <a:endParaRPr lang="en-US" sz="900" dirty="0"/>
          </a:p>
        </p:txBody>
      </p:sp>
      <p:sp>
        <p:nvSpPr>
          <p:cNvPr id="17" name="Text 15"/>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18" name="Text 16"/>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Introduction</a:t>
            </a:r>
            <a:endParaRPr lang="en-US" sz="3000" dirty="0"/>
          </a:p>
        </p:txBody>
      </p:sp>
      <p:sp>
        <p:nvSpPr>
          <p:cNvPr id="4" name="Text 2"/>
          <p:cNvSpPr/>
          <p:nvPr/>
        </p:nvSpPr>
        <p:spPr>
          <a:xfrm>
            <a:off x="502920" y="1371600"/>
            <a:ext cx="11155680" cy="640080"/>
          </a:xfrm>
          <a:prstGeom prst="rect">
            <a:avLst/>
          </a:prstGeom>
          <a:noFill/>
          <a:ln/>
        </p:spPr>
        <p:txBody>
          <a:bodyPr wrap="square" rtlCol="0" anchor="ctr"/>
          <a:lstStyle/>
          <a:p>
            <a:pPr indent="0" marL="0">
              <a:lnSpc>
                <a:spcPct val="125000"/>
              </a:lnSpc>
              <a:buNone/>
            </a:pPr>
            <a:r>
              <a:rPr lang="en-US" sz="1400" dirty="0">
                <a:solidFill>
                  <a:srgbClr val="16234A"/>
                </a:solidFill>
                <a:latin typeface="Calibri" pitchFamily="34" charset="0"/>
                <a:ea typeface="Calibri" pitchFamily="34" charset="-122"/>
                <a:cs typeface="Calibri" pitchFamily="34" charset="-120"/>
              </a:rPr>
              <a:t>The growth of digital payments, e-commerce, and fintech has created new opportunities for financial fraud. Fraudsters increasingly operate through coordinated networks instead of isolated accounts.</a:t>
            </a:r>
            <a:endParaRPr lang="en-US" sz="1400" dirty="0"/>
          </a:p>
        </p:txBody>
      </p:sp>
      <p:sp>
        <p:nvSpPr>
          <p:cNvPr id="5" name="Shape 3"/>
          <p:cNvSpPr/>
          <p:nvPr/>
        </p:nvSpPr>
        <p:spPr>
          <a:xfrm>
            <a:off x="502920" y="2286000"/>
            <a:ext cx="5394960" cy="868680"/>
          </a:xfrm>
          <a:prstGeom prst="roundRect">
            <a:avLst>
              <a:gd name="adj" fmla="val 842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6" name="Shape 4"/>
          <p:cNvSpPr/>
          <p:nvPr/>
        </p:nvSpPr>
        <p:spPr>
          <a:xfrm>
            <a:off x="731520" y="2491740"/>
            <a:ext cx="457200" cy="457200"/>
          </a:xfrm>
          <a:prstGeom prst="ellipse">
            <a:avLst/>
          </a:prstGeom>
          <a:solidFill>
            <a:srgbClr val="3A6FF0"/>
          </a:solidFill>
          <a:ln/>
        </p:spPr>
      </p:sp>
      <p:sp>
        <p:nvSpPr>
          <p:cNvPr id="7" name="Text 5"/>
          <p:cNvSpPr/>
          <p:nvPr/>
        </p:nvSpPr>
        <p:spPr>
          <a:xfrm>
            <a:off x="731520" y="249174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325880" y="2286000"/>
            <a:ext cx="4434840" cy="868680"/>
          </a:xfrm>
          <a:prstGeom prst="rect">
            <a:avLst/>
          </a:prstGeom>
          <a:noFill/>
          <a:ln/>
        </p:spPr>
        <p:txBody>
          <a:bodyPr wrap="square" rtlCol="0" anchor="ctr"/>
          <a:lstStyle/>
          <a:p>
            <a:pPr indent="0" marL="0">
              <a:lnSpc>
                <a:spcPct val="110000"/>
              </a:lnSpc>
              <a:buNone/>
            </a:pPr>
            <a:r>
              <a:rPr lang="en-US" sz="1250" dirty="0">
                <a:solidFill>
                  <a:srgbClr val="16234A"/>
                </a:solidFill>
                <a:latin typeface="Calibri" pitchFamily="34" charset="0"/>
                <a:ea typeface="Calibri" pitchFamily="34" charset="-122"/>
                <a:cs typeface="Calibri" pitchFamily="34" charset="-120"/>
              </a:rPr>
              <a:t>Multiple accounts share one device</a:t>
            </a:r>
            <a:endParaRPr lang="en-US" sz="1250" dirty="0"/>
          </a:p>
        </p:txBody>
      </p:sp>
      <p:sp>
        <p:nvSpPr>
          <p:cNvPr id="9" name="Shape 7"/>
          <p:cNvSpPr/>
          <p:nvPr/>
        </p:nvSpPr>
        <p:spPr>
          <a:xfrm>
            <a:off x="6172200" y="2286000"/>
            <a:ext cx="5394960" cy="868680"/>
          </a:xfrm>
          <a:prstGeom prst="roundRect">
            <a:avLst>
              <a:gd name="adj" fmla="val 842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0" name="Shape 8"/>
          <p:cNvSpPr/>
          <p:nvPr/>
        </p:nvSpPr>
        <p:spPr>
          <a:xfrm>
            <a:off x="6400800" y="2491740"/>
            <a:ext cx="457200" cy="457200"/>
          </a:xfrm>
          <a:prstGeom prst="ellipse">
            <a:avLst/>
          </a:prstGeom>
          <a:solidFill>
            <a:srgbClr val="3A6FF0"/>
          </a:solidFill>
          <a:ln/>
        </p:spPr>
      </p:sp>
      <p:sp>
        <p:nvSpPr>
          <p:cNvPr id="11" name="Text 9"/>
          <p:cNvSpPr/>
          <p:nvPr/>
        </p:nvSpPr>
        <p:spPr>
          <a:xfrm>
            <a:off x="6400800" y="249174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6995160" y="2286000"/>
            <a:ext cx="4434840" cy="868680"/>
          </a:xfrm>
          <a:prstGeom prst="rect">
            <a:avLst/>
          </a:prstGeom>
          <a:noFill/>
          <a:ln/>
        </p:spPr>
        <p:txBody>
          <a:bodyPr wrap="square" rtlCol="0" anchor="ctr"/>
          <a:lstStyle/>
          <a:p>
            <a:pPr indent="0" marL="0">
              <a:lnSpc>
                <a:spcPct val="110000"/>
              </a:lnSpc>
              <a:buNone/>
            </a:pPr>
            <a:r>
              <a:rPr lang="en-US" sz="1250" dirty="0">
                <a:solidFill>
                  <a:srgbClr val="16234A"/>
                </a:solidFill>
                <a:latin typeface="Calibri" pitchFamily="34" charset="0"/>
                <a:ea typeface="Calibri" pitchFamily="34" charset="-122"/>
                <a:cs typeface="Calibri" pitchFamily="34" charset="-120"/>
              </a:rPr>
              <a:t>Multiple customers use the same payment instrument</a:t>
            </a:r>
            <a:endParaRPr lang="en-US" sz="1250" dirty="0"/>
          </a:p>
        </p:txBody>
      </p:sp>
      <p:sp>
        <p:nvSpPr>
          <p:cNvPr id="13" name="Shape 11"/>
          <p:cNvSpPr/>
          <p:nvPr/>
        </p:nvSpPr>
        <p:spPr>
          <a:xfrm>
            <a:off x="502920" y="3337560"/>
            <a:ext cx="5394960" cy="868680"/>
          </a:xfrm>
          <a:prstGeom prst="roundRect">
            <a:avLst>
              <a:gd name="adj" fmla="val 842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4" name="Shape 12"/>
          <p:cNvSpPr/>
          <p:nvPr/>
        </p:nvSpPr>
        <p:spPr>
          <a:xfrm>
            <a:off x="731520" y="3543300"/>
            <a:ext cx="457200" cy="457200"/>
          </a:xfrm>
          <a:prstGeom prst="ellipse">
            <a:avLst/>
          </a:prstGeom>
          <a:solidFill>
            <a:srgbClr val="3A6FF0"/>
          </a:solidFill>
          <a:ln/>
        </p:spPr>
      </p:sp>
      <p:sp>
        <p:nvSpPr>
          <p:cNvPr id="15" name="Text 13"/>
          <p:cNvSpPr/>
          <p:nvPr/>
        </p:nvSpPr>
        <p:spPr>
          <a:xfrm>
            <a:off x="731520" y="354330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1325880" y="3337560"/>
            <a:ext cx="4434840" cy="868680"/>
          </a:xfrm>
          <a:prstGeom prst="rect">
            <a:avLst/>
          </a:prstGeom>
          <a:noFill/>
          <a:ln/>
        </p:spPr>
        <p:txBody>
          <a:bodyPr wrap="square" rtlCol="0" anchor="ctr"/>
          <a:lstStyle/>
          <a:p>
            <a:pPr indent="0" marL="0">
              <a:lnSpc>
                <a:spcPct val="110000"/>
              </a:lnSpc>
              <a:buNone/>
            </a:pPr>
            <a:r>
              <a:rPr lang="en-US" sz="1250" dirty="0">
                <a:solidFill>
                  <a:srgbClr val="16234A"/>
                </a:solidFill>
                <a:latin typeface="Calibri" pitchFamily="34" charset="0"/>
                <a:ea typeface="Calibri" pitchFamily="34" charset="-122"/>
                <a:cs typeface="Calibri" pitchFamily="34" charset="-120"/>
              </a:rPr>
              <a:t>Fraudsters create synthetic identities</a:t>
            </a:r>
            <a:endParaRPr lang="en-US" sz="1250" dirty="0"/>
          </a:p>
        </p:txBody>
      </p:sp>
      <p:sp>
        <p:nvSpPr>
          <p:cNvPr id="17" name="Shape 15"/>
          <p:cNvSpPr/>
          <p:nvPr/>
        </p:nvSpPr>
        <p:spPr>
          <a:xfrm>
            <a:off x="6172200" y="3337560"/>
            <a:ext cx="5394960" cy="868680"/>
          </a:xfrm>
          <a:prstGeom prst="roundRect">
            <a:avLst>
              <a:gd name="adj" fmla="val 842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8" name="Shape 16"/>
          <p:cNvSpPr/>
          <p:nvPr/>
        </p:nvSpPr>
        <p:spPr>
          <a:xfrm>
            <a:off x="6400800" y="3543300"/>
            <a:ext cx="457200" cy="457200"/>
          </a:xfrm>
          <a:prstGeom prst="ellipse">
            <a:avLst/>
          </a:prstGeom>
          <a:solidFill>
            <a:srgbClr val="3A6FF0"/>
          </a:solidFill>
          <a:ln/>
        </p:spPr>
      </p:sp>
      <p:sp>
        <p:nvSpPr>
          <p:cNvPr id="19" name="Text 17"/>
          <p:cNvSpPr/>
          <p:nvPr/>
        </p:nvSpPr>
        <p:spPr>
          <a:xfrm>
            <a:off x="6400800" y="354330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6995160" y="3337560"/>
            <a:ext cx="4434840" cy="868680"/>
          </a:xfrm>
          <a:prstGeom prst="rect">
            <a:avLst/>
          </a:prstGeom>
          <a:noFill/>
          <a:ln/>
        </p:spPr>
        <p:txBody>
          <a:bodyPr wrap="square" rtlCol="0" anchor="ctr"/>
          <a:lstStyle/>
          <a:p>
            <a:pPr indent="0" marL="0">
              <a:lnSpc>
                <a:spcPct val="110000"/>
              </a:lnSpc>
              <a:buNone/>
            </a:pPr>
            <a:r>
              <a:rPr lang="en-US" sz="1250" dirty="0">
                <a:solidFill>
                  <a:srgbClr val="16234A"/>
                </a:solidFill>
                <a:latin typeface="Calibri" pitchFamily="34" charset="0"/>
                <a:ea typeface="Calibri" pitchFamily="34" charset="-122"/>
                <a:cs typeface="Calibri" pitchFamily="34" charset="-120"/>
              </a:rPr>
              <a:t>Groups exploit promotional offers</a:t>
            </a:r>
            <a:endParaRPr lang="en-US" sz="1250" dirty="0"/>
          </a:p>
        </p:txBody>
      </p:sp>
      <p:sp>
        <p:nvSpPr>
          <p:cNvPr id="21" name="Shape 19"/>
          <p:cNvSpPr/>
          <p:nvPr/>
        </p:nvSpPr>
        <p:spPr>
          <a:xfrm>
            <a:off x="502920" y="4389120"/>
            <a:ext cx="5394960" cy="868680"/>
          </a:xfrm>
          <a:prstGeom prst="roundRect">
            <a:avLst>
              <a:gd name="adj" fmla="val 842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2" name="Shape 20"/>
          <p:cNvSpPr/>
          <p:nvPr/>
        </p:nvSpPr>
        <p:spPr>
          <a:xfrm>
            <a:off x="731520" y="4594860"/>
            <a:ext cx="457200" cy="457200"/>
          </a:xfrm>
          <a:prstGeom prst="ellipse">
            <a:avLst/>
          </a:prstGeom>
          <a:solidFill>
            <a:srgbClr val="3A6FF0"/>
          </a:solidFill>
          <a:ln/>
        </p:spPr>
      </p:sp>
      <p:sp>
        <p:nvSpPr>
          <p:cNvPr id="23" name="Text 21"/>
          <p:cNvSpPr/>
          <p:nvPr/>
        </p:nvSpPr>
        <p:spPr>
          <a:xfrm>
            <a:off x="731520" y="459486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1325880" y="4389120"/>
            <a:ext cx="4434840" cy="868680"/>
          </a:xfrm>
          <a:prstGeom prst="rect">
            <a:avLst/>
          </a:prstGeom>
          <a:noFill/>
          <a:ln/>
        </p:spPr>
        <p:txBody>
          <a:bodyPr wrap="square" rtlCol="0" anchor="ctr"/>
          <a:lstStyle/>
          <a:p>
            <a:pPr indent="0" marL="0">
              <a:lnSpc>
                <a:spcPct val="110000"/>
              </a:lnSpc>
              <a:buNone/>
            </a:pPr>
            <a:r>
              <a:rPr lang="en-US" sz="1250" dirty="0">
                <a:solidFill>
                  <a:srgbClr val="16234A"/>
                </a:solidFill>
                <a:latin typeface="Calibri" pitchFamily="34" charset="0"/>
                <a:ea typeface="Calibri" pitchFamily="34" charset="-122"/>
                <a:cs typeface="Calibri" pitchFamily="34" charset="-120"/>
              </a:rPr>
              <a:t>Stolen cards are tested via repeated failed transactions</a:t>
            </a:r>
            <a:endParaRPr lang="en-US" sz="1250" dirty="0"/>
          </a:p>
        </p:txBody>
      </p:sp>
      <p:sp>
        <p:nvSpPr>
          <p:cNvPr id="25" name="Shape 23"/>
          <p:cNvSpPr/>
          <p:nvPr/>
        </p:nvSpPr>
        <p:spPr>
          <a:xfrm>
            <a:off x="6172200" y="4389120"/>
            <a:ext cx="5394960" cy="868680"/>
          </a:xfrm>
          <a:prstGeom prst="roundRect">
            <a:avLst>
              <a:gd name="adj" fmla="val 842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6" name="Shape 24"/>
          <p:cNvSpPr/>
          <p:nvPr/>
        </p:nvSpPr>
        <p:spPr>
          <a:xfrm>
            <a:off x="6400800" y="4594860"/>
            <a:ext cx="457200" cy="457200"/>
          </a:xfrm>
          <a:prstGeom prst="ellipse">
            <a:avLst/>
          </a:prstGeom>
          <a:solidFill>
            <a:srgbClr val="3A6FF0"/>
          </a:solidFill>
          <a:ln/>
        </p:spPr>
      </p:sp>
      <p:sp>
        <p:nvSpPr>
          <p:cNvPr id="27" name="Text 25"/>
          <p:cNvSpPr/>
          <p:nvPr/>
        </p:nvSpPr>
        <p:spPr>
          <a:xfrm>
            <a:off x="6400800" y="459486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6995160" y="4389120"/>
            <a:ext cx="4434840" cy="868680"/>
          </a:xfrm>
          <a:prstGeom prst="rect">
            <a:avLst/>
          </a:prstGeom>
          <a:noFill/>
          <a:ln/>
        </p:spPr>
        <p:txBody>
          <a:bodyPr wrap="square" rtlCol="0" anchor="ctr"/>
          <a:lstStyle/>
          <a:p>
            <a:pPr indent="0" marL="0">
              <a:lnSpc>
                <a:spcPct val="110000"/>
              </a:lnSpc>
              <a:buNone/>
            </a:pPr>
            <a:r>
              <a:rPr lang="en-US" sz="1250" dirty="0">
                <a:solidFill>
                  <a:srgbClr val="16234A"/>
                </a:solidFill>
                <a:latin typeface="Calibri" pitchFamily="34" charset="0"/>
                <a:ea typeface="Calibri" pitchFamily="34" charset="-122"/>
                <a:cs typeface="Calibri" pitchFamily="34" charset="-120"/>
              </a:rPr>
              <a:t>Coordinated accounts generate excessive chargebacks</a:t>
            </a:r>
            <a:endParaRPr lang="en-US" sz="1250" dirty="0"/>
          </a:p>
        </p:txBody>
      </p:sp>
      <p:sp>
        <p:nvSpPr>
          <p:cNvPr id="29" name="Shape 27"/>
          <p:cNvSpPr/>
          <p:nvPr/>
        </p:nvSpPr>
        <p:spPr>
          <a:xfrm>
            <a:off x="502920" y="5486400"/>
            <a:ext cx="11155680" cy="777240"/>
          </a:xfrm>
          <a:prstGeom prst="roundRect">
            <a:avLst>
              <a:gd name="adj" fmla="val 9412"/>
            </a:avLst>
          </a:prstGeom>
          <a:solidFill>
            <a:srgbClr val="101F3C"/>
          </a:solidFill>
          <a:ln/>
          <a:effectLst>
            <a:outerShdw sx="100000" sy="100000" kx="0" ky="0" algn="bl" rotWithShape="0" blurRad="101600" dist="25400" dir="5400000">
              <a:srgbClr val="1B2E58">
                <a:alpha val="12000"/>
              </a:srgbClr>
            </a:outerShdw>
          </a:effectLst>
        </p:spPr>
      </p:sp>
      <p:sp>
        <p:nvSpPr>
          <p:cNvPr id="30" name="Text 28"/>
          <p:cNvSpPr/>
          <p:nvPr/>
        </p:nvSpPr>
        <p:spPr>
          <a:xfrm>
            <a:off x="777240" y="5486400"/>
            <a:ext cx="10607040" cy="7772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Key limitation: a customer may appear normal individually but become highly suspicious when relationships with other customers are analyzed.</a:t>
            </a:r>
            <a:endParaRPr lang="en-US" sz="1300" dirty="0"/>
          </a:p>
        </p:txBody>
      </p:sp>
      <p:sp>
        <p:nvSpPr>
          <p:cNvPr id="31" name="Text 29"/>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2 · INTRODUCTION</a:t>
            </a:r>
            <a:endParaRPr lang="en-US" sz="900" dirty="0"/>
          </a:p>
        </p:txBody>
      </p:sp>
      <p:sp>
        <p:nvSpPr>
          <p:cNvPr id="32" name="Text 30"/>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3" name="Text 31"/>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3</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Problem Statement</a:t>
            </a:r>
            <a:endParaRPr lang="en-US" sz="3000" dirty="0"/>
          </a:p>
        </p:txBody>
      </p:sp>
      <p:sp>
        <p:nvSpPr>
          <p:cNvPr id="4" name="Text 2"/>
          <p:cNvSpPr/>
          <p:nvPr/>
        </p:nvSpPr>
        <p:spPr>
          <a:xfrm>
            <a:off x="502920" y="1371600"/>
            <a:ext cx="11155680" cy="502920"/>
          </a:xfrm>
          <a:prstGeom prst="rect">
            <a:avLst/>
          </a:prstGeom>
          <a:noFill/>
          <a:ln/>
        </p:spPr>
        <p:txBody>
          <a:bodyPr wrap="square" rtlCol="0" anchor="ctr"/>
          <a:lstStyle/>
          <a:p>
            <a:pPr indent="0" marL="0">
              <a:buNone/>
            </a:pPr>
            <a:r>
              <a:rPr lang="en-US" sz="1400" dirty="0">
                <a:solidFill>
                  <a:srgbClr val="16234A"/>
                </a:solidFill>
                <a:latin typeface="Calibri" pitchFamily="34" charset="0"/>
                <a:ea typeface="Calibri" pitchFamily="34" charset="-122"/>
                <a:cs typeface="Calibri" pitchFamily="34" charset="-120"/>
              </a:rPr>
              <a:t>Modern financial fraud is increasingly organized and network-based. Traditional fraud detection systems have several limitations:</a:t>
            </a:r>
            <a:endParaRPr lang="en-US" sz="1400" dirty="0"/>
          </a:p>
        </p:txBody>
      </p:sp>
      <p:sp>
        <p:nvSpPr>
          <p:cNvPr id="5" name="Shape 3"/>
          <p:cNvSpPr/>
          <p:nvPr/>
        </p:nvSpPr>
        <p:spPr>
          <a:xfrm>
            <a:off x="548640" y="2130552"/>
            <a:ext cx="146304" cy="146304"/>
          </a:xfrm>
          <a:prstGeom prst="ellipse">
            <a:avLst/>
          </a:prstGeom>
          <a:solidFill>
            <a:srgbClr val="D14343"/>
          </a:solidFill>
          <a:ln/>
        </p:spPr>
      </p:sp>
      <p:sp>
        <p:nvSpPr>
          <p:cNvPr id="6" name="Text 4"/>
          <p:cNvSpPr/>
          <p:nvPr/>
        </p:nvSpPr>
        <p:spPr>
          <a:xfrm>
            <a:off x="868680" y="2011680"/>
            <a:ext cx="6309360" cy="457200"/>
          </a:xfrm>
          <a:prstGeom prst="rect">
            <a:avLst/>
          </a:prstGeom>
          <a:noFill/>
          <a:ln/>
        </p:spPr>
        <p:txBody>
          <a:bodyPr wrap="square" rtlCol="0" anchor="ctr"/>
          <a:lstStyle/>
          <a:p>
            <a:pPr indent="0" marL="0">
              <a:buNone/>
            </a:pPr>
            <a:r>
              <a:rPr lang="en-US" sz="1300" dirty="0">
                <a:solidFill>
                  <a:srgbClr val="16234A"/>
                </a:solidFill>
                <a:latin typeface="Calibri" pitchFamily="34" charset="0"/>
                <a:ea typeface="Calibri" pitchFamily="34" charset="-122"/>
                <a:cs typeface="Calibri" pitchFamily="34" charset="-120"/>
              </a:rPr>
              <a:t>Analyze customers independently</a:t>
            </a:r>
            <a:endParaRPr lang="en-US" sz="1300" dirty="0"/>
          </a:p>
        </p:txBody>
      </p:sp>
      <p:sp>
        <p:nvSpPr>
          <p:cNvPr id="7" name="Shape 5"/>
          <p:cNvSpPr/>
          <p:nvPr/>
        </p:nvSpPr>
        <p:spPr>
          <a:xfrm>
            <a:off x="548640" y="2633472"/>
            <a:ext cx="146304" cy="146304"/>
          </a:xfrm>
          <a:prstGeom prst="ellipse">
            <a:avLst/>
          </a:prstGeom>
          <a:solidFill>
            <a:srgbClr val="D14343"/>
          </a:solidFill>
          <a:ln/>
        </p:spPr>
      </p:sp>
      <p:sp>
        <p:nvSpPr>
          <p:cNvPr id="8" name="Text 6"/>
          <p:cNvSpPr/>
          <p:nvPr/>
        </p:nvSpPr>
        <p:spPr>
          <a:xfrm>
            <a:off x="868680" y="2514600"/>
            <a:ext cx="6309360" cy="457200"/>
          </a:xfrm>
          <a:prstGeom prst="rect">
            <a:avLst/>
          </a:prstGeom>
          <a:noFill/>
          <a:ln/>
        </p:spPr>
        <p:txBody>
          <a:bodyPr wrap="square" rtlCol="0" anchor="ctr"/>
          <a:lstStyle/>
          <a:p>
            <a:pPr indent="0" marL="0">
              <a:buNone/>
            </a:pPr>
            <a:r>
              <a:rPr lang="en-US" sz="1300" dirty="0">
                <a:solidFill>
                  <a:srgbClr val="16234A"/>
                </a:solidFill>
                <a:latin typeface="Calibri" pitchFamily="34" charset="0"/>
                <a:ea typeface="Calibri" pitchFamily="34" charset="-122"/>
                <a:cs typeface="Calibri" pitchFamily="34" charset="-120"/>
              </a:rPr>
              <a:t>May miss shared devices and payment instruments</a:t>
            </a:r>
            <a:endParaRPr lang="en-US" sz="1300" dirty="0"/>
          </a:p>
        </p:txBody>
      </p:sp>
      <p:sp>
        <p:nvSpPr>
          <p:cNvPr id="9" name="Shape 7"/>
          <p:cNvSpPr/>
          <p:nvPr/>
        </p:nvSpPr>
        <p:spPr>
          <a:xfrm>
            <a:off x="548640" y="3136392"/>
            <a:ext cx="146304" cy="146304"/>
          </a:xfrm>
          <a:prstGeom prst="ellipse">
            <a:avLst/>
          </a:prstGeom>
          <a:solidFill>
            <a:srgbClr val="D14343"/>
          </a:solidFill>
          <a:ln/>
        </p:spPr>
      </p:sp>
      <p:sp>
        <p:nvSpPr>
          <p:cNvPr id="10" name="Text 8"/>
          <p:cNvSpPr/>
          <p:nvPr/>
        </p:nvSpPr>
        <p:spPr>
          <a:xfrm>
            <a:off x="868680" y="3017520"/>
            <a:ext cx="6309360" cy="457200"/>
          </a:xfrm>
          <a:prstGeom prst="rect">
            <a:avLst/>
          </a:prstGeom>
          <a:noFill/>
          <a:ln/>
        </p:spPr>
        <p:txBody>
          <a:bodyPr wrap="square" rtlCol="0" anchor="ctr"/>
          <a:lstStyle/>
          <a:p>
            <a:pPr indent="0" marL="0">
              <a:buNone/>
            </a:pPr>
            <a:r>
              <a:rPr lang="en-US" sz="1300" dirty="0">
                <a:solidFill>
                  <a:srgbClr val="16234A"/>
                </a:solidFill>
                <a:latin typeface="Calibri" pitchFamily="34" charset="0"/>
                <a:ea typeface="Calibri" pitchFamily="34" charset="-122"/>
                <a:cs typeface="Calibri" pitchFamily="34" charset="-120"/>
              </a:rPr>
              <a:t>May not detect coordinated fraud groups</a:t>
            </a:r>
            <a:endParaRPr lang="en-US" sz="1300" dirty="0"/>
          </a:p>
        </p:txBody>
      </p:sp>
      <p:sp>
        <p:nvSpPr>
          <p:cNvPr id="11" name="Shape 9"/>
          <p:cNvSpPr/>
          <p:nvPr/>
        </p:nvSpPr>
        <p:spPr>
          <a:xfrm>
            <a:off x="548640" y="3639312"/>
            <a:ext cx="146304" cy="146304"/>
          </a:xfrm>
          <a:prstGeom prst="ellipse">
            <a:avLst/>
          </a:prstGeom>
          <a:solidFill>
            <a:srgbClr val="D14343"/>
          </a:solidFill>
          <a:ln/>
        </p:spPr>
      </p:sp>
      <p:sp>
        <p:nvSpPr>
          <p:cNvPr id="12" name="Text 10"/>
          <p:cNvSpPr/>
          <p:nvPr/>
        </p:nvSpPr>
        <p:spPr>
          <a:xfrm>
            <a:off x="868680" y="3520440"/>
            <a:ext cx="6309360" cy="457200"/>
          </a:xfrm>
          <a:prstGeom prst="rect">
            <a:avLst/>
          </a:prstGeom>
          <a:noFill/>
          <a:ln/>
        </p:spPr>
        <p:txBody>
          <a:bodyPr wrap="square" rtlCol="0" anchor="ctr"/>
          <a:lstStyle/>
          <a:p>
            <a:pPr indent="0" marL="0">
              <a:buNone/>
            </a:pPr>
            <a:r>
              <a:rPr lang="en-US" sz="1300" dirty="0">
                <a:solidFill>
                  <a:srgbClr val="16234A"/>
                </a:solidFill>
                <a:latin typeface="Calibri" pitchFamily="34" charset="0"/>
                <a:ea typeface="Calibri" pitchFamily="34" charset="-122"/>
                <a:cs typeface="Calibri" pitchFamily="34" charset="-120"/>
              </a:rPr>
              <a:t>Generate isolated risk scores without network context</a:t>
            </a:r>
            <a:endParaRPr lang="en-US" sz="1300" dirty="0"/>
          </a:p>
        </p:txBody>
      </p:sp>
      <p:sp>
        <p:nvSpPr>
          <p:cNvPr id="13" name="Shape 11"/>
          <p:cNvSpPr/>
          <p:nvPr/>
        </p:nvSpPr>
        <p:spPr>
          <a:xfrm>
            <a:off x="548640" y="4142232"/>
            <a:ext cx="146304" cy="146304"/>
          </a:xfrm>
          <a:prstGeom prst="ellipse">
            <a:avLst/>
          </a:prstGeom>
          <a:solidFill>
            <a:srgbClr val="D14343"/>
          </a:solidFill>
          <a:ln/>
        </p:spPr>
      </p:sp>
      <p:sp>
        <p:nvSpPr>
          <p:cNvPr id="14" name="Text 12"/>
          <p:cNvSpPr/>
          <p:nvPr/>
        </p:nvSpPr>
        <p:spPr>
          <a:xfrm>
            <a:off x="868680" y="4023360"/>
            <a:ext cx="6309360" cy="457200"/>
          </a:xfrm>
          <a:prstGeom prst="rect">
            <a:avLst/>
          </a:prstGeom>
          <a:noFill/>
          <a:ln/>
        </p:spPr>
        <p:txBody>
          <a:bodyPr wrap="square" rtlCol="0" anchor="ctr"/>
          <a:lstStyle/>
          <a:p>
            <a:pPr indent="0" marL="0">
              <a:buNone/>
            </a:pPr>
            <a:r>
              <a:rPr lang="en-US" sz="1300" dirty="0">
                <a:solidFill>
                  <a:srgbClr val="16234A"/>
                </a:solidFill>
                <a:latin typeface="Calibri" pitchFamily="34" charset="0"/>
                <a:ea typeface="Calibri" pitchFamily="34" charset="-122"/>
                <a:cs typeface="Calibri" pitchFamily="34" charset="-120"/>
              </a:rPr>
              <a:t>Struggle to explain why a customer is considered risky</a:t>
            </a:r>
            <a:endParaRPr lang="en-US" sz="1300" dirty="0"/>
          </a:p>
        </p:txBody>
      </p:sp>
      <p:sp>
        <p:nvSpPr>
          <p:cNvPr id="15" name="Shape 13"/>
          <p:cNvSpPr/>
          <p:nvPr/>
        </p:nvSpPr>
        <p:spPr>
          <a:xfrm>
            <a:off x="7452360" y="1965960"/>
            <a:ext cx="4251960" cy="3931920"/>
          </a:xfrm>
          <a:prstGeom prst="roundRect">
            <a:avLst>
              <a:gd name="adj" fmla="val 1860"/>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6" name="Text 14"/>
          <p:cNvSpPr/>
          <p:nvPr/>
        </p:nvSpPr>
        <p:spPr>
          <a:xfrm>
            <a:off x="7726680" y="2194560"/>
            <a:ext cx="3749040" cy="320040"/>
          </a:xfrm>
          <a:prstGeom prst="rect">
            <a:avLst/>
          </a:prstGeom>
          <a:noFill/>
          <a:ln/>
        </p:spPr>
        <p:txBody>
          <a:bodyPr wrap="square" rtlCol="0" anchor="ctr"/>
          <a:lstStyle/>
          <a:p>
            <a:pPr indent="0" marL="0">
              <a:buNone/>
            </a:pPr>
            <a:r>
              <a:rPr lang="en-US" sz="1150" b="1" spc="100" kern="0" dirty="0">
                <a:solidFill>
                  <a:srgbClr val="3A6FF0"/>
                </a:solidFill>
                <a:latin typeface="Calibri" pitchFamily="34" charset="0"/>
                <a:ea typeface="Calibri" pitchFamily="34" charset="-122"/>
                <a:cs typeface="Calibri" pitchFamily="34" charset="-120"/>
              </a:rPr>
              <a:t>NEEDS AN INTELLIGENT SYSTEM TO:</a:t>
            </a:r>
            <a:endParaRPr lang="en-US" sz="1150" dirty="0"/>
          </a:p>
        </p:txBody>
      </p:sp>
      <p:sp>
        <p:nvSpPr>
          <p:cNvPr id="17" name="Shape 15"/>
          <p:cNvSpPr/>
          <p:nvPr/>
        </p:nvSpPr>
        <p:spPr>
          <a:xfrm>
            <a:off x="7772400" y="2651760"/>
            <a:ext cx="365760" cy="365760"/>
          </a:xfrm>
          <a:prstGeom prst="ellipse">
            <a:avLst/>
          </a:prstGeom>
          <a:solidFill>
            <a:srgbClr val="101F3C"/>
          </a:solidFill>
          <a:ln/>
        </p:spPr>
      </p:sp>
      <p:sp>
        <p:nvSpPr>
          <p:cNvPr id="18" name="Text 16"/>
          <p:cNvSpPr/>
          <p:nvPr/>
        </p:nvSpPr>
        <p:spPr>
          <a:xfrm>
            <a:off x="7772400" y="265176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1</a:t>
            </a:r>
            <a:endParaRPr lang="en-US" sz="1040" dirty="0"/>
          </a:p>
        </p:txBody>
      </p:sp>
      <p:sp>
        <p:nvSpPr>
          <p:cNvPr id="19" name="Text 17"/>
          <p:cNvSpPr/>
          <p:nvPr/>
        </p:nvSpPr>
        <p:spPr>
          <a:xfrm>
            <a:off x="8275320" y="2606040"/>
            <a:ext cx="3291840" cy="50292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Detect risky customers</a:t>
            </a:r>
            <a:endParaRPr lang="en-US" sz="1250" dirty="0"/>
          </a:p>
        </p:txBody>
      </p:sp>
      <p:sp>
        <p:nvSpPr>
          <p:cNvPr id="20" name="Shape 18"/>
          <p:cNvSpPr/>
          <p:nvPr/>
        </p:nvSpPr>
        <p:spPr>
          <a:xfrm>
            <a:off x="7772400" y="3246120"/>
            <a:ext cx="365760" cy="365760"/>
          </a:xfrm>
          <a:prstGeom prst="ellipse">
            <a:avLst/>
          </a:prstGeom>
          <a:solidFill>
            <a:srgbClr val="101F3C"/>
          </a:solidFill>
          <a:ln/>
        </p:spPr>
      </p:sp>
      <p:sp>
        <p:nvSpPr>
          <p:cNvPr id="21" name="Text 19"/>
          <p:cNvSpPr/>
          <p:nvPr/>
        </p:nvSpPr>
        <p:spPr>
          <a:xfrm>
            <a:off x="7772400" y="324612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2</a:t>
            </a:r>
            <a:endParaRPr lang="en-US" sz="1040" dirty="0"/>
          </a:p>
        </p:txBody>
      </p:sp>
      <p:sp>
        <p:nvSpPr>
          <p:cNvPr id="22" name="Text 20"/>
          <p:cNvSpPr/>
          <p:nvPr/>
        </p:nvSpPr>
        <p:spPr>
          <a:xfrm>
            <a:off x="8275320" y="3200400"/>
            <a:ext cx="3291840" cy="50292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Identify hidden relationships</a:t>
            </a:r>
            <a:endParaRPr lang="en-US" sz="1250" dirty="0"/>
          </a:p>
        </p:txBody>
      </p:sp>
      <p:sp>
        <p:nvSpPr>
          <p:cNvPr id="23" name="Shape 21"/>
          <p:cNvSpPr/>
          <p:nvPr/>
        </p:nvSpPr>
        <p:spPr>
          <a:xfrm>
            <a:off x="7772400" y="3840480"/>
            <a:ext cx="365760" cy="365760"/>
          </a:xfrm>
          <a:prstGeom prst="ellipse">
            <a:avLst/>
          </a:prstGeom>
          <a:solidFill>
            <a:srgbClr val="101F3C"/>
          </a:solidFill>
          <a:ln/>
        </p:spPr>
      </p:sp>
      <p:sp>
        <p:nvSpPr>
          <p:cNvPr id="24" name="Text 22"/>
          <p:cNvSpPr/>
          <p:nvPr/>
        </p:nvSpPr>
        <p:spPr>
          <a:xfrm>
            <a:off x="7772400" y="384048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3</a:t>
            </a:r>
            <a:endParaRPr lang="en-US" sz="1040" dirty="0"/>
          </a:p>
        </p:txBody>
      </p:sp>
      <p:sp>
        <p:nvSpPr>
          <p:cNvPr id="25" name="Text 23"/>
          <p:cNvSpPr/>
          <p:nvPr/>
        </p:nvSpPr>
        <p:spPr>
          <a:xfrm>
            <a:off x="8275320" y="3794760"/>
            <a:ext cx="3291840" cy="50292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Discover connected fraud networks</a:t>
            </a:r>
            <a:endParaRPr lang="en-US" sz="1250" dirty="0"/>
          </a:p>
        </p:txBody>
      </p:sp>
      <p:sp>
        <p:nvSpPr>
          <p:cNvPr id="26" name="Shape 24"/>
          <p:cNvSpPr/>
          <p:nvPr/>
        </p:nvSpPr>
        <p:spPr>
          <a:xfrm>
            <a:off x="7772400" y="4434840"/>
            <a:ext cx="365760" cy="365760"/>
          </a:xfrm>
          <a:prstGeom prst="ellipse">
            <a:avLst/>
          </a:prstGeom>
          <a:solidFill>
            <a:srgbClr val="101F3C"/>
          </a:solidFill>
          <a:ln/>
        </p:spPr>
      </p:sp>
      <p:sp>
        <p:nvSpPr>
          <p:cNvPr id="27" name="Text 25"/>
          <p:cNvSpPr/>
          <p:nvPr/>
        </p:nvSpPr>
        <p:spPr>
          <a:xfrm>
            <a:off x="7772400" y="443484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4</a:t>
            </a:r>
            <a:endParaRPr lang="en-US" sz="1040" dirty="0"/>
          </a:p>
        </p:txBody>
      </p:sp>
      <p:sp>
        <p:nvSpPr>
          <p:cNvPr id="28" name="Text 26"/>
          <p:cNvSpPr/>
          <p:nvPr/>
        </p:nvSpPr>
        <p:spPr>
          <a:xfrm>
            <a:off x="8275320" y="4389120"/>
            <a:ext cx="3291840" cy="50292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Classify fraud ring patterns</a:t>
            </a:r>
            <a:endParaRPr lang="en-US" sz="1250" dirty="0"/>
          </a:p>
        </p:txBody>
      </p:sp>
      <p:sp>
        <p:nvSpPr>
          <p:cNvPr id="29" name="Shape 27"/>
          <p:cNvSpPr/>
          <p:nvPr/>
        </p:nvSpPr>
        <p:spPr>
          <a:xfrm>
            <a:off x="7772400" y="5029200"/>
            <a:ext cx="365760" cy="365760"/>
          </a:xfrm>
          <a:prstGeom prst="ellipse">
            <a:avLst/>
          </a:prstGeom>
          <a:solidFill>
            <a:srgbClr val="101F3C"/>
          </a:solidFill>
          <a:ln/>
        </p:spPr>
      </p:sp>
      <p:sp>
        <p:nvSpPr>
          <p:cNvPr id="30" name="Text 28"/>
          <p:cNvSpPr/>
          <p:nvPr/>
        </p:nvSpPr>
        <p:spPr>
          <a:xfrm>
            <a:off x="7772400" y="502920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5</a:t>
            </a:r>
            <a:endParaRPr lang="en-US" sz="1040" dirty="0"/>
          </a:p>
        </p:txBody>
      </p:sp>
      <p:sp>
        <p:nvSpPr>
          <p:cNvPr id="31" name="Text 29"/>
          <p:cNvSpPr/>
          <p:nvPr/>
        </p:nvSpPr>
        <p:spPr>
          <a:xfrm>
            <a:off x="8275320" y="4983480"/>
            <a:ext cx="3291840" cy="50292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Generate an explainable final risk score</a:t>
            </a:r>
            <a:endParaRPr lang="en-US" sz="1250" dirty="0"/>
          </a:p>
        </p:txBody>
      </p:sp>
      <p:sp>
        <p:nvSpPr>
          <p:cNvPr id="32" name="Text 30"/>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3 · PROBLEM STATEMENT</a:t>
            </a:r>
            <a:endParaRPr lang="en-US" sz="900" dirty="0"/>
          </a:p>
        </p:txBody>
      </p:sp>
      <p:sp>
        <p:nvSpPr>
          <p:cNvPr id="33" name="Text 31"/>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4" name="Text 32"/>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F3C"/>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F0A23A"/>
                </a:solidFill>
                <a:latin typeface="Calibri" pitchFamily="34" charset="0"/>
                <a:ea typeface="Calibri" pitchFamily="34" charset="-122"/>
                <a:cs typeface="Calibri" pitchFamily="34" charset="-120"/>
              </a:rPr>
              <a:t>SECTION 4</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Proposed Solution</a:t>
            </a:r>
            <a:endParaRPr lang="en-US" sz="3000" dirty="0"/>
          </a:p>
        </p:txBody>
      </p:sp>
      <p:sp>
        <p:nvSpPr>
          <p:cNvPr id="4" name="Text 2"/>
          <p:cNvSpPr/>
          <p:nvPr/>
        </p:nvSpPr>
        <p:spPr>
          <a:xfrm>
            <a:off x="502920" y="1371600"/>
            <a:ext cx="11155680" cy="502920"/>
          </a:xfrm>
          <a:prstGeom prst="rect">
            <a:avLst/>
          </a:prstGeom>
          <a:noFill/>
          <a:ln/>
        </p:spPr>
        <p:txBody>
          <a:bodyPr wrap="square" rtlCol="0" anchor="ctr"/>
          <a:lstStyle/>
          <a:p>
            <a:pPr indent="0" marL="0">
              <a:buNone/>
            </a:pPr>
            <a:r>
              <a:rPr lang="en-US" sz="1350" dirty="0">
                <a:solidFill>
                  <a:srgbClr val="D8E3F5"/>
                </a:solidFill>
                <a:latin typeface="Calibri" pitchFamily="34" charset="0"/>
                <a:ea typeface="Calibri" pitchFamily="34" charset="-122"/>
                <a:cs typeface="Calibri" pitchFamily="34" charset="-120"/>
              </a:rPr>
              <a:t>RISKNET AI is a multi-layer fraud intelligence platform — customer data flows through several intelligence engines before reaching a final, explainable risk score.</a:t>
            </a:r>
            <a:endParaRPr lang="en-US" sz="1350" dirty="0"/>
          </a:p>
        </p:txBody>
      </p:sp>
      <p:sp>
        <p:nvSpPr>
          <p:cNvPr id="5" name="Shape 3"/>
          <p:cNvSpPr/>
          <p:nvPr/>
        </p:nvSpPr>
        <p:spPr>
          <a:xfrm>
            <a:off x="640080" y="2148840"/>
            <a:ext cx="3383280" cy="777240"/>
          </a:xfrm>
          <a:prstGeom prst="roundRect">
            <a:avLst>
              <a:gd name="adj" fmla="val 9412"/>
            </a:avLst>
          </a:prstGeom>
          <a:solidFill>
            <a:srgbClr val="1B2E58"/>
          </a:solidFill>
          <a:ln/>
        </p:spPr>
      </p:sp>
      <p:sp>
        <p:nvSpPr>
          <p:cNvPr id="6" name="Text 4"/>
          <p:cNvSpPr/>
          <p:nvPr/>
        </p:nvSpPr>
        <p:spPr>
          <a:xfrm>
            <a:off x="640080" y="2148840"/>
            <a:ext cx="3383280" cy="7772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Raw Customer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p:txBody>
      </p:sp>
      <p:sp>
        <p:nvSpPr>
          <p:cNvPr id="7" name="Shape 5"/>
          <p:cNvSpPr/>
          <p:nvPr/>
        </p:nvSpPr>
        <p:spPr>
          <a:xfrm>
            <a:off x="4069080" y="2395728"/>
            <a:ext cx="365760" cy="274320"/>
          </a:xfrm>
          <a:prstGeom prst="rightArrow">
            <a:avLst/>
          </a:prstGeom>
          <a:solidFill>
            <a:srgbClr val="F0A23A"/>
          </a:solidFill>
          <a:ln/>
        </p:spPr>
      </p:sp>
      <p:sp>
        <p:nvSpPr>
          <p:cNvPr id="8" name="Shape 6"/>
          <p:cNvSpPr/>
          <p:nvPr/>
        </p:nvSpPr>
        <p:spPr>
          <a:xfrm>
            <a:off x="4480560" y="2148840"/>
            <a:ext cx="3383280" cy="777240"/>
          </a:xfrm>
          <a:prstGeom prst="roundRect">
            <a:avLst>
              <a:gd name="adj" fmla="val 9412"/>
            </a:avLst>
          </a:prstGeom>
          <a:solidFill>
            <a:srgbClr val="1B2E58"/>
          </a:solidFill>
          <a:ln/>
        </p:spPr>
      </p:sp>
      <p:sp>
        <p:nvSpPr>
          <p:cNvPr id="9" name="Text 7"/>
          <p:cNvSpPr/>
          <p:nvPr/>
        </p:nvSpPr>
        <p:spPr>
          <a:xfrm>
            <a:off x="4480560" y="2148840"/>
            <a:ext cx="3383280" cy="7772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Processing</a:t>
            </a:r>
            <a:endParaRPr lang="en-US" sz="1300" dirty="0"/>
          </a:p>
        </p:txBody>
      </p:sp>
      <p:sp>
        <p:nvSpPr>
          <p:cNvPr id="10" name="Shape 8"/>
          <p:cNvSpPr/>
          <p:nvPr/>
        </p:nvSpPr>
        <p:spPr>
          <a:xfrm>
            <a:off x="7909560" y="2395728"/>
            <a:ext cx="365760" cy="274320"/>
          </a:xfrm>
          <a:prstGeom prst="rightArrow">
            <a:avLst/>
          </a:prstGeom>
          <a:solidFill>
            <a:srgbClr val="F0A23A"/>
          </a:solidFill>
          <a:ln/>
        </p:spPr>
      </p:sp>
      <p:sp>
        <p:nvSpPr>
          <p:cNvPr id="11" name="Shape 9"/>
          <p:cNvSpPr/>
          <p:nvPr/>
        </p:nvSpPr>
        <p:spPr>
          <a:xfrm>
            <a:off x="8321040" y="2148840"/>
            <a:ext cx="3383280" cy="777240"/>
          </a:xfrm>
          <a:prstGeom prst="roundRect">
            <a:avLst>
              <a:gd name="adj" fmla="val 9412"/>
            </a:avLst>
          </a:prstGeom>
          <a:solidFill>
            <a:srgbClr val="1B2E58"/>
          </a:solidFill>
          <a:ln/>
        </p:spPr>
      </p:sp>
      <p:sp>
        <p:nvSpPr>
          <p:cNvPr id="12" name="Text 10"/>
          <p:cNvSpPr/>
          <p:nvPr/>
        </p:nvSpPr>
        <p:spPr>
          <a:xfrm>
            <a:off x="8321040" y="2148840"/>
            <a:ext cx="3383280" cy="7772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13" name="Shape 11"/>
          <p:cNvSpPr/>
          <p:nvPr/>
        </p:nvSpPr>
        <p:spPr>
          <a:xfrm>
            <a:off x="5554980" y="3063240"/>
            <a:ext cx="320040" cy="224028"/>
          </a:xfrm>
          <a:prstGeom prst="downArrow">
            <a:avLst/>
          </a:prstGeom>
          <a:solidFill>
            <a:srgbClr val="F0A23A"/>
          </a:solidFill>
          <a:ln/>
        </p:spPr>
      </p:sp>
      <p:sp>
        <p:nvSpPr>
          <p:cNvPr id="14" name="Shape 12"/>
          <p:cNvSpPr/>
          <p:nvPr/>
        </p:nvSpPr>
        <p:spPr>
          <a:xfrm>
            <a:off x="640080" y="3474720"/>
            <a:ext cx="3383280" cy="685800"/>
          </a:xfrm>
          <a:prstGeom prst="roundRect">
            <a:avLst>
              <a:gd name="adj" fmla="val 10667"/>
            </a:avLst>
          </a:prstGeom>
          <a:solidFill>
            <a:srgbClr val="3A6FF0"/>
          </a:solidFill>
          <a:ln/>
        </p:spPr>
      </p:sp>
      <p:sp>
        <p:nvSpPr>
          <p:cNvPr id="15" name="Text 13"/>
          <p:cNvSpPr/>
          <p:nvPr/>
        </p:nvSpPr>
        <p:spPr>
          <a:xfrm>
            <a:off x="640080" y="3474720"/>
            <a:ext cx="3383280" cy="6858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RULE ENGINE</a:t>
            </a:r>
            <a:endParaRPr lang="en-US" sz="1300" dirty="0"/>
          </a:p>
        </p:txBody>
      </p:sp>
      <p:sp>
        <p:nvSpPr>
          <p:cNvPr id="16" name="Shape 14"/>
          <p:cNvSpPr/>
          <p:nvPr/>
        </p:nvSpPr>
        <p:spPr>
          <a:xfrm>
            <a:off x="4480560" y="3474720"/>
            <a:ext cx="3383280" cy="685800"/>
          </a:xfrm>
          <a:prstGeom prst="roundRect">
            <a:avLst>
              <a:gd name="adj" fmla="val 10667"/>
            </a:avLst>
          </a:prstGeom>
          <a:solidFill>
            <a:srgbClr val="2E9E62"/>
          </a:solidFill>
          <a:ln/>
        </p:spPr>
      </p:sp>
      <p:sp>
        <p:nvSpPr>
          <p:cNvPr id="17" name="Text 15"/>
          <p:cNvSpPr/>
          <p:nvPr/>
        </p:nvSpPr>
        <p:spPr>
          <a:xfrm>
            <a:off x="4480560" y="3474720"/>
            <a:ext cx="3383280" cy="6858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ML MODEL</a:t>
            </a:r>
            <a:endParaRPr lang="en-US" sz="1300" dirty="0"/>
          </a:p>
        </p:txBody>
      </p:sp>
      <p:sp>
        <p:nvSpPr>
          <p:cNvPr id="18" name="Shape 16"/>
          <p:cNvSpPr/>
          <p:nvPr/>
        </p:nvSpPr>
        <p:spPr>
          <a:xfrm>
            <a:off x="8321040" y="3474720"/>
            <a:ext cx="3383280" cy="685800"/>
          </a:xfrm>
          <a:prstGeom prst="roundRect">
            <a:avLst>
              <a:gd name="adj" fmla="val 10667"/>
            </a:avLst>
          </a:prstGeom>
          <a:solidFill>
            <a:srgbClr val="F0A23A"/>
          </a:solidFill>
          <a:ln/>
        </p:spPr>
      </p:sp>
      <p:sp>
        <p:nvSpPr>
          <p:cNvPr id="19" name="Text 17"/>
          <p:cNvSpPr/>
          <p:nvPr/>
        </p:nvSpPr>
        <p:spPr>
          <a:xfrm>
            <a:off x="8321040" y="3474720"/>
            <a:ext cx="3383280" cy="6858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GRAPH ENGINE</a:t>
            </a:r>
            <a:endParaRPr lang="en-US" sz="1300" dirty="0"/>
          </a:p>
        </p:txBody>
      </p:sp>
      <p:sp>
        <p:nvSpPr>
          <p:cNvPr id="20" name="Shape 18"/>
          <p:cNvSpPr/>
          <p:nvPr/>
        </p:nvSpPr>
        <p:spPr>
          <a:xfrm>
            <a:off x="5920740" y="4315968"/>
            <a:ext cx="320040" cy="224028"/>
          </a:xfrm>
          <a:prstGeom prst="downArrow">
            <a:avLst/>
          </a:prstGeom>
          <a:solidFill>
            <a:srgbClr val="F0A23A"/>
          </a:solidFill>
          <a:ln/>
        </p:spPr>
      </p:sp>
      <p:sp>
        <p:nvSpPr>
          <p:cNvPr id="21" name="Shape 19"/>
          <p:cNvSpPr/>
          <p:nvPr/>
        </p:nvSpPr>
        <p:spPr>
          <a:xfrm>
            <a:off x="3108960" y="4800600"/>
            <a:ext cx="5943600" cy="457200"/>
          </a:xfrm>
          <a:prstGeom prst="roundRect">
            <a:avLst>
              <a:gd name="adj" fmla="val 16000"/>
            </a:avLst>
          </a:prstGeom>
          <a:solidFill>
            <a:srgbClr val="24396B"/>
          </a:solidFill>
          <a:ln/>
        </p:spPr>
      </p:sp>
      <p:sp>
        <p:nvSpPr>
          <p:cNvPr id="22" name="Text 20"/>
          <p:cNvSpPr/>
          <p:nvPr/>
        </p:nvSpPr>
        <p:spPr>
          <a:xfrm>
            <a:off x="3108960" y="4800600"/>
            <a:ext cx="594360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FRAUD RING DETECTION</a:t>
            </a:r>
            <a:endParaRPr lang="en-US" sz="1250" dirty="0"/>
          </a:p>
        </p:txBody>
      </p:sp>
      <p:sp>
        <p:nvSpPr>
          <p:cNvPr id="23" name="Shape 21"/>
          <p:cNvSpPr/>
          <p:nvPr/>
        </p:nvSpPr>
        <p:spPr>
          <a:xfrm>
            <a:off x="3108960" y="5367528"/>
            <a:ext cx="5943600" cy="457200"/>
          </a:xfrm>
          <a:prstGeom prst="roundRect">
            <a:avLst>
              <a:gd name="adj" fmla="val 16000"/>
            </a:avLst>
          </a:prstGeom>
          <a:solidFill>
            <a:srgbClr val="24396B"/>
          </a:solidFill>
          <a:ln/>
        </p:spPr>
      </p:sp>
      <p:sp>
        <p:nvSpPr>
          <p:cNvPr id="24" name="Text 22"/>
          <p:cNvSpPr/>
          <p:nvPr/>
        </p:nvSpPr>
        <p:spPr>
          <a:xfrm>
            <a:off x="3108960" y="5367528"/>
            <a:ext cx="594360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FRAUD RING CLASSIFICATION</a:t>
            </a:r>
            <a:endParaRPr lang="en-US" sz="1250" dirty="0"/>
          </a:p>
        </p:txBody>
      </p:sp>
      <p:sp>
        <p:nvSpPr>
          <p:cNvPr id="25" name="Shape 23"/>
          <p:cNvSpPr/>
          <p:nvPr/>
        </p:nvSpPr>
        <p:spPr>
          <a:xfrm>
            <a:off x="3108960" y="5934456"/>
            <a:ext cx="5943600" cy="457200"/>
          </a:xfrm>
          <a:prstGeom prst="roundRect">
            <a:avLst>
              <a:gd name="adj" fmla="val 16000"/>
            </a:avLst>
          </a:prstGeom>
          <a:solidFill>
            <a:srgbClr val="24396B"/>
          </a:solidFill>
          <a:ln/>
        </p:spPr>
      </p:sp>
      <p:sp>
        <p:nvSpPr>
          <p:cNvPr id="26" name="Text 24"/>
          <p:cNvSpPr/>
          <p:nvPr/>
        </p:nvSpPr>
        <p:spPr>
          <a:xfrm>
            <a:off x="3108960" y="5934456"/>
            <a:ext cx="594360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FINAL RISK ENGINE</a:t>
            </a:r>
            <a:endParaRPr lang="en-US" sz="1250" dirty="0"/>
          </a:p>
        </p:txBody>
      </p:sp>
      <p:sp>
        <p:nvSpPr>
          <p:cNvPr id="27" name="Text 25"/>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SECTION 4 · PROPOSED SOLUTION</a:t>
            </a:r>
            <a:endParaRPr lang="en-US" sz="900" dirty="0"/>
          </a:p>
        </p:txBody>
      </p:sp>
      <p:sp>
        <p:nvSpPr>
          <p:cNvPr id="28" name="Text 26"/>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29" name="Text 2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5</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02920" y="14630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Shape 3"/>
          <p:cNvSpPr/>
          <p:nvPr/>
        </p:nvSpPr>
        <p:spPr>
          <a:xfrm>
            <a:off x="685800" y="1645920"/>
            <a:ext cx="548640" cy="548640"/>
          </a:xfrm>
          <a:prstGeom prst="ellipse">
            <a:avLst/>
          </a:prstGeom>
          <a:solidFill>
            <a:srgbClr val="101F3C"/>
          </a:solidFill>
          <a:ln/>
        </p:spPr>
      </p:sp>
      <p:sp>
        <p:nvSpPr>
          <p:cNvPr id="6" name="Text 4"/>
          <p:cNvSpPr/>
          <p:nvPr/>
        </p:nvSpPr>
        <p:spPr>
          <a:xfrm>
            <a:off x="685800" y="16459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1</a:t>
            </a:r>
            <a:endParaRPr lang="en-US" sz="1560" dirty="0"/>
          </a:p>
        </p:txBody>
      </p:sp>
      <p:sp>
        <p:nvSpPr>
          <p:cNvPr id="7" name="Text 5"/>
          <p:cNvSpPr/>
          <p:nvPr/>
        </p:nvSpPr>
        <p:spPr>
          <a:xfrm>
            <a:off x="731520" y="22402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Identify risky customers using behavioral &amp; financial features</a:t>
            </a:r>
            <a:endParaRPr lang="en-US" sz="1150" dirty="0"/>
          </a:p>
        </p:txBody>
      </p:sp>
      <p:sp>
        <p:nvSpPr>
          <p:cNvPr id="8" name="Shape 6"/>
          <p:cNvSpPr/>
          <p:nvPr/>
        </p:nvSpPr>
        <p:spPr>
          <a:xfrm>
            <a:off x="4279392" y="14630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9" name="Shape 7"/>
          <p:cNvSpPr/>
          <p:nvPr/>
        </p:nvSpPr>
        <p:spPr>
          <a:xfrm>
            <a:off x="4462272" y="1645920"/>
            <a:ext cx="548640" cy="548640"/>
          </a:xfrm>
          <a:prstGeom prst="ellipse">
            <a:avLst/>
          </a:prstGeom>
          <a:solidFill>
            <a:srgbClr val="101F3C"/>
          </a:solidFill>
          <a:ln/>
        </p:spPr>
      </p:sp>
      <p:sp>
        <p:nvSpPr>
          <p:cNvPr id="10" name="Text 8"/>
          <p:cNvSpPr/>
          <p:nvPr/>
        </p:nvSpPr>
        <p:spPr>
          <a:xfrm>
            <a:off x="4462272" y="16459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2</a:t>
            </a:r>
            <a:endParaRPr lang="en-US" sz="1560" dirty="0"/>
          </a:p>
        </p:txBody>
      </p:sp>
      <p:sp>
        <p:nvSpPr>
          <p:cNvPr id="11" name="Text 9"/>
          <p:cNvSpPr/>
          <p:nvPr/>
        </p:nvSpPr>
        <p:spPr>
          <a:xfrm>
            <a:off x="4507992" y="22402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Use Machine Learning to predict customer risk</a:t>
            </a:r>
            <a:endParaRPr lang="en-US" sz="1150" dirty="0"/>
          </a:p>
        </p:txBody>
      </p:sp>
      <p:sp>
        <p:nvSpPr>
          <p:cNvPr id="12" name="Shape 10"/>
          <p:cNvSpPr/>
          <p:nvPr/>
        </p:nvSpPr>
        <p:spPr>
          <a:xfrm>
            <a:off x="8055864" y="14630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3" name="Shape 11"/>
          <p:cNvSpPr/>
          <p:nvPr/>
        </p:nvSpPr>
        <p:spPr>
          <a:xfrm>
            <a:off x="8238744" y="1645920"/>
            <a:ext cx="548640" cy="548640"/>
          </a:xfrm>
          <a:prstGeom prst="ellipse">
            <a:avLst/>
          </a:prstGeom>
          <a:solidFill>
            <a:srgbClr val="101F3C"/>
          </a:solidFill>
          <a:ln/>
        </p:spPr>
      </p:sp>
      <p:sp>
        <p:nvSpPr>
          <p:cNvPr id="14" name="Text 12"/>
          <p:cNvSpPr/>
          <p:nvPr/>
        </p:nvSpPr>
        <p:spPr>
          <a:xfrm>
            <a:off x="8238744" y="16459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3</a:t>
            </a:r>
            <a:endParaRPr lang="en-US" sz="1560" dirty="0"/>
          </a:p>
        </p:txBody>
      </p:sp>
      <p:sp>
        <p:nvSpPr>
          <p:cNvPr id="15" name="Text 13"/>
          <p:cNvSpPr/>
          <p:nvPr/>
        </p:nvSpPr>
        <p:spPr>
          <a:xfrm>
            <a:off x="8284464" y="22402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Build a fraud relationship graph (customers, devices, instruments)</a:t>
            </a:r>
            <a:endParaRPr lang="en-US" sz="1150" dirty="0"/>
          </a:p>
        </p:txBody>
      </p:sp>
      <p:sp>
        <p:nvSpPr>
          <p:cNvPr id="16" name="Shape 14"/>
          <p:cNvSpPr/>
          <p:nvPr/>
        </p:nvSpPr>
        <p:spPr>
          <a:xfrm>
            <a:off x="502920" y="30632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7" name="Shape 15"/>
          <p:cNvSpPr/>
          <p:nvPr/>
        </p:nvSpPr>
        <p:spPr>
          <a:xfrm>
            <a:off x="685800" y="3246120"/>
            <a:ext cx="548640" cy="548640"/>
          </a:xfrm>
          <a:prstGeom prst="ellipse">
            <a:avLst/>
          </a:prstGeom>
          <a:solidFill>
            <a:srgbClr val="101F3C"/>
          </a:solidFill>
          <a:ln/>
        </p:spPr>
      </p:sp>
      <p:sp>
        <p:nvSpPr>
          <p:cNvPr id="18" name="Text 16"/>
          <p:cNvSpPr/>
          <p:nvPr/>
        </p:nvSpPr>
        <p:spPr>
          <a:xfrm>
            <a:off x="685800" y="32461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4</a:t>
            </a:r>
            <a:endParaRPr lang="en-US" sz="1560" dirty="0"/>
          </a:p>
        </p:txBody>
      </p:sp>
      <p:sp>
        <p:nvSpPr>
          <p:cNvPr id="19" name="Text 17"/>
          <p:cNvSpPr/>
          <p:nvPr/>
        </p:nvSpPr>
        <p:spPr>
          <a:xfrm>
            <a:off x="731520" y="38404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Detect connected fraud networks</a:t>
            </a:r>
            <a:endParaRPr lang="en-US" sz="1150" dirty="0"/>
          </a:p>
        </p:txBody>
      </p:sp>
      <p:sp>
        <p:nvSpPr>
          <p:cNvPr id="20" name="Shape 18"/>
          <p:cNvSpPr/>
          <p:nvPr/>
        </p:nvSpPr>
        <p:spPr>
          <a:xfrm>
            <a:off x="4279392" y="30632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1" name="Shape 19"/>
          <p:cNvSpPr/>
          <p:nvPr/>
        </p:nvSpPr>
        <p:spPr>
          <a:xfrm>
            <a:off x="4462272" y="3246120"/>
            <a:ext cx="548640" cy="548640"/>
          </a:xfrm>
          <a:prstGeom prst="ellipse">
            <a:avLst/>
          </a:prstGeom>
          <a:solidFill>
            <a:srgbClr val="101F3C"/>
          </a:solidFill>
          <a:ln/>
        </p:spPr>
      </p:sp>
      <p:sp>
        <p:nvSpPr>
          <p:cNvPr id="22" name="Text 20"/>
          <p:cNvSpPr/>
          <p:nvPr/>
        </p:nvSpPr>
        <p:spPr>
          <a:xfrm>
            <a:off x="4462272" y="32461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5</a:t>
            </a:r>
            <a:endParaRPr lang="en-US" sz="1560" dirty="0"/>
          </a:p>
        </p:txBody>
      </p:sp>
      <p:sp>
        <p:nvSpPr>
          <p:cNvPr id="23" name="Text 21"/>
          <p:cNvSpPr/>
          <p:nvPr/>
        </p:nvSpPr>
        <p:spPr>
          <a:xfrm>
            <a:off x="4507992" y="38404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Classify fraud rings into distinct fraud patterns</a:t>
            </a:r>
            <a:endParaRPr lang="en-US" sz="1150" dirty="0"/>
          </a:p>
        </p:txBody>
      </p:sp>
      <p:sp>
        <p:nvSpPr>
          <p:cNvPr id="24" name="Shape 22"/>
          <p:cNvSpPr/>
          <p:nvPr/>
        </p:nvSpPr>
        <p:spPr>
          <a:xfrm>
            <a:off x="8055864" y="30632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5" name="Shape 23"/>
          <p:cNvSpPr/>
          <p:nvPr/>
        </p:nvSpPr>
        <p:spPr>
          <a:xfrm>
            <a:off x="8238744" y="3246120"/>
            <a:ext cx="548640" cy="548640"/>
          </a:xfrm>
          <a:prstGeom prst="ellipse">
            <a:avLst/>
          </a:prstGeom>
          <a:solidFill>
            <a:srgbClr val="101F3C"/>
          </a:solidFill>
          <a:ln/>
        </p:spPr>
      </p:sp>
      <p:sp>
        <p:nvSpPr>
          <p:cNvPr id="26" name="Text 24"/>
          <p:cNvSpPr/>
          <p:nvPr/>
        </p:nvSpPr>
        <p:spPr>
          <a:xfrm>
            <a:off x="8238744" y="32461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6</a:t>
            </a:r>
            <a:endParaRPr lang="en-US" sz="1560" dirty="0"/>
          </a:p>
        </p:txBody>
      </p:sp>
      <p:sp>
        <p:nvSpPr>
          <p:cNvPr id="27" name="Text 25"/>
          <p:cNvSpPr/>
          <p:nvPr/>
        </p:nvSpPr>
        <p:spPr>
          <a:xfrm>
            <a:off x="8284464" y="38404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Generate a combined, explainable final risk score</a:t>
            </a:r>
            <a:endParaRPr lang="en-US" sz="1150" dirty="0"/>
          </a:p>
        </p:txBody>
      </p:sp>
      <p:sp>
        <p:nvSpPr>
          <p:cNvPr id="28" name="Shape 26"/>
          <p:cNvSpPr/>
          <p:nvPr/>
        </p:nvSpPr>
        <p:spPr>
          <a:xfrm>
            <a:off x="502920" y="46634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9" name="Shape 27"/>
          <p:cNvSpPr/>
          <p:nvPr/>
        </p:nvSpPr>
        <p:spPr>
          <a:xfrm>
            <a:off x="685800" y="4846320"/>
            <a:ext cx="548640" cy="548640"/>
          </a:xfrm>
          <a:prstGeom prst="ellipse">
            <a:avLst/>
          </a:prstGeom>
          <a:solidFill>
            <a:srgbClr val="101F3C"/>
          </a:solidFill>
          <a:ln/>
        </p:spPr>
      </p:sp>
      <p:sp>
        <p:nvSpPr>
          <p:cNvPr id="30" name="Text 28"/>
          <p:cNvSpPr/>
          <p:nvPr/>
        </p:nvSpPr>
        <p:spPr>
          <a:xfrm>
            <a:off x="685800" y="48463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7</a:t>
            </a:r>
            <a:endParaRPr lang="en-US" sz="1560" dirty="0"/>
          </a:p>
        </p:txBody>
      </p:sp>
      <p:sp>
        <p:nvSpPr>
          <p:cNvPr id="31" name="Text 29"/>
          <p:cNvSpPr/>
          <p:nvPr/>
        </p:nvSpPr>
        <p:spPr>
          <a:xfrm>
            <a:off x="731520" y="54406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Provide an interactive dashboard for investigation</a:t>
            </a:r>
            <a:endParaRPr lang="en-US" sz="1150" dirty="0"/>
          </a:p>
        </p:txBody>
      </p:sp>
      <p:sp>
        <p:nvSpPr>
          <p:cNvPr id="32" name="Shape 30"/>
          <p:cNvSpPr/>
          <p:nvPr/>
        </p:nvSpPr>
        <p:spPr>
          <a:xfrm>
            <a:off x="4279392" y="46634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3" name="Shape 31"/>
          <p:cNvSpPr/>
          <p:nvPr/>
        </p:nvSpPr>
        <p:spPr>
          <a:xfrm>
            <a:off x="4462272" y="4846320"/>
            <a:ext cx="548640" cy="548640"/>
          </a:xfrm>
          <a:prstGeom prst="ellipse">
            <a:avLst/>
          </a:prstGeom>
          <a:solidFill>
            <a:srgbClr val="101F3C"/>
          </a:solidFill>
          <a:ln/>
        </p:spPr>
      </p:sp>
      <p:sp>
        <p:nvSpPr>
          <p:cNvPr id="34" name="Text 32"/>
          <p:cNvSpPr/>
          <p:nvPr/>
        </p:nvSpPr>
        <p:spPr>
          <a:xfrm>
            <a:off x="4462272" y="48463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8</a:t>
            </a:r>
            <a:endParaRPr lang="en-US" sz="1560" dirty="0"/>
          </a:p>
        </p:txBody>
      </p:sp>
      <p:sp>
        <p:nvSpPr>
          <p:cNvPr id="35" name="Text 33"/>
          <p:cNvSpPr/>
          <p:nvPr/>
        </p:nvSpPr>
        <p:spPr>
          <a:xfrm>
            <a:off x="4507992" y="54406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Expose fraud intelligence through REST APIs</a:t>
            </a:r>
            <a:endParaRPr lang="en-US" sz="1150" dirty="0"/>
          </a:p>
        </p:txBody>
      </p:sp>
      <p:sp>
        <p:nvSpPr>
          <p:cNvPr id="36" name="Shape 34"/>
          <p:cNvSpPr/>
          <p:nvPr/>
        </p:nvSpPr>
        <p:spPr>
          <a:xfrm>
            <a:off x="8055864" y="4663440"/>
            <a:ext cx="3593592"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7" name="Shape 35"/>
          <p:cNvSpPr/>
          <p:nvPr/>
        </p:nvSpPr>
        <p:spPr>
          <a:xfrm>
            <a:off x="8238744" y="4846320"/>
            <a:ext cx="548640" cy="548640"/>
          </a:xfrm>
          <a:prstGeom prst="ellipse">
            <a:avLst/>
          </a:prstGeom>
          <a:solidFill>
            <a:srgbClr val="101F3C"/>
          </a:solidFill>
          <a:ln/>
        </p:spPr>
      </p:sp>
      <p:sp>
        <p:nvSpPr>
          <p:cNvPr id="38" name="Text 36"/>
          <p:cNvSpPr/>
          <p:nvPr/>
        </p:nvSpPr>
        <p:spPr>
          <a:xfrm>
            <a:off x="8238744" y="484632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9</a:t>
            </a:r>
            <a:endParaRPr lang="en-US" sz="1560" dirty="0"/>
          </a:p>
        </p:txBody>
      </p:sp>
      <p:sp>
        <p:nvSpPr>
          <p:cNvPr id="39" name="Text 37"/>
          <p:cNvSpPr/>
          <p:nvPr/>
        </p:nvSpPr>
        <p:spPr>
          <a:xfrm>
            <a:off x="8284464" y="5440680"/>
            <a:ext cx="3200400" cy="548640"/>
          </a:xfrm>
          <a:prstGeom prst="rect">
            <a:avLst/>
          </a:prstGeom>
          <a:noFill/>
          <a:ln/>
        </p:spPr>
        <p:txBody>
          <a:bodyPr wrap="square"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Containerize the application using Docker</a:t>
            </a:r>
            <a:endParaRPr lang="en-US" sz="1150" dirty="0"/>
          </a:p>
        </p:txBody>
      </p:sp>
      <p:sp>
        <p:nvSpPr>
          <p:cNvPr id="40" name="Text 38"/>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5 · OBJECTIVES</a:t>
            </a:r>
            <a:endParaRPr lang="en-US" sz="900" dirty="0"/>
          </a:p>
        </p:txBody>
      </p:sp>
      <p:sp>
        <p:nvSpPr>
          <p:cNvPr id="41" name="Text 39"/>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42" name="Text 40"/>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6</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Research Gap</a:t>
            </a:r>
            <a:endParaRPr lang="en-US" sz="3000" dirty="0"/>
          </a:p>
        </p:txBody>
      </p:sp>
      <p:sp>
        <p:nvSpPr>
          <p:cNvPr id="4" name="Text 2"/>
          <p:cNvSpPr/>
          <p:nvPr/>
        </p:nvSpPr>
        <p:spPr>
          <a:xfrm>
            <a:off x="502920" y="1371600"/>
            <a:ext cx="11155680" cy="822960"/>
          </a:xfrm>
          <a:prstGeom prst="rect">
            <a:avLst/>
          </a:prstGeom>
          <a:noFill/>
          <a:ln/>
        </p:spPr>
        <p:txBody>
          <a:bodyPr wrap="square" rtlCol="0" anchor="ctr"/>
          <a:lstStyle/>
          <a:p>
            <a:pPr indent="0" marL="0">
              <a:lnSpc>
                <a:spcPct val="125000"/>
              </a:lnSpc>
              <a:buNone/>
            </a:pPr>
            <a:r>
              <a:rPr lang="en-US" sz="1250" dirty="0">
                <a:solidFill>
                  <a:srgbClr val="16234A"/>
                </a:solidFill>
                <a:latin typeface="Calibri" pitchFamily="34" charset="0"/>
                <a:ea typeface="Calibri" pitchFamily="34" charset="-122"/>
                <a:cs typeface="Calibri" pitchFamily="34" charset="-120"/>
              </a:rPr>
              <a:t>Traditional systems focus mainly on tabular data (Customer → Transaction Features → ML Model → Fraud Prediction) and may ignore relationships between entities. Graph-based research emphasizes modeling entities and relationships, since shared identifiers and multi-hop connections can reveal coordinated fraud that flat records miss.</a:t>
            </a:r>
            <a:endParaRPr lang="en-US" sz="1250" dirty="0"/>
          </a:p>
        </p:txBody>
      </p:sp>
      <p:sp>
        <p:nvSpPr>
          <p:cNvPr id="5" name="Shape 3"/>
          <p:cNvSpPr/>
          <p:nvPr/>
        </p:nvSpPr>
        <p:spPr>
          <a:xfrm>
            <a:off x="502920" y="2331720"/>
            <a:ext cx="5440680" cy="502920"/>
          </a:xfrm>
          <a:prstGeom prst="roundRect">
            <a:avLst>
              <a:gd name="adj" fmla="val 14545"/>
            </a:avLst>
          </a:prstGeom>
          <a:solidFill>
            <a:srgbClr val="24396B"/>
          </a:solidFill>
          <a:ln/>
        </p:spPr>
      </p:sp>
      <p:sp>
        <p:nvSpPr>
          <p:cNvPr id="6" name="Text 4"/>
          <p:cNvSpPr/>
          <p:nvPr/>
        </p:nvSpPr>
        <p:spPr>
          <a:xfrm>
            <a:off x="685800" y="2331720"/>
            <a:ext cx="512064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TRADITIONAL APPROACH</a:t>
            </a:r>
            <a:endParaRPr lang="en-US" sz="1250" dirty="0"/>
          </a:p>
        </p:txBody>
      </p:sp>
      <p:sp>
        <p:nvSpPr>
          <p:cNvPr id="7" name="Shape 5"/>
          <p:cNvSpPr/>
          <p:nvPr/>
        </p:nvSpPr>
        <p:spPr>
          <a:xfrm>
            <a:off x="6217920" y="2331720"/>
            <a:ext cx="5440680" cy="502920"/>
          </a:xfrm>
          <a:prstGeom prst="roundRect">
            <a:avLst>
              <a:gd name="adj" fmla="val 14545"/>
            </a:avLst>
          </a:prstGeom>
          <a:solidFill>
            <a:srgbClr val="3A6FF0"/>
          </a:solidFill>
          <a:ln/>
        </p:spPr>
      </p:sp>
      <p:sp>
        <p:nvSpPr>
          <p:cNvPr id="8" name="Text 6"/>
          <p:cNvSpPr/>
          <p:nvPr/>
        </p:nvSpPr>
        <p:spPr>
          <a:xfrm>
            <a:off x="6400800" y="2331720"/>
            <a:ext cx="512064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RISKNET AI APPROACH</a:t>
            </a:r>
            <a:endParaRPr lang="en-US" sz="1250" dirty="0"/>
          </a:p>
        </p:txBody>
      </p:sp>
      <p:sp>
        <p:nvSpPr>
          <p:cNvPr id="9" name="Shape 7"/>
          <p:cNvSpPr/>
          <p:nvPr/>
        </p:nvSpPr>
        <p:spPr>
          <a:xfrm>
            <a:off x="502920" y="2834640"/>
            <a:ext cx="5440680" cy="475488"/>
          </a:xfrm>
          <a:prstGeom prst="rect">
            <a:avLst/>
          </a:prstGeom>
          <a:solidFill>
            <a:srgbClr val="FFFFFF"/>
          </a:solidFill>
          <a:ln w="9525">
            <a:solidFill>
              <a:srgbClr val="E2E7F1"/>
            </a:solidFill>
            <a:prstDash val="solid"/>
          </a:ln>
        </p:spPr>
      </p:sp>
      <p:sp>
        <p:nvSpPr>
          <p:cNvPr id="10" name="Shape 8"/>
          <p:cNvSpPr/>
          <p:nvPr/>
        </p:nvSpPr>
        <p:spPr>
          <a:xfrm>
            <a:off x="6217920" y="2834640"/>
            <a:ext cx="5440680" cy="475488"/>
          </a:xfrm>
          <a:prstGeom prst="rect">
            <a:avLst/>
          </a:prstGeom>
          <a:solidFill>
            <a:srgbClr val="FFFFFF"/>
          </a:solidFill>
          <a:ln w="9525">
            <a:solidFill>
              <a:srgbClr val="E2E7F1"/>
            </a:solidFill>
            <a:prstDash val="solid"/>
          </a:ln>
        </p:spPr>
      </p:sp>
      <p:sp>
        <p:nvSpPr>
          <p:cNvPr id="11" name="Text 9"/>
          <p:cNvSpPr/>
          <p:nvPr/>
        </p:nvSpPr>
        <p:spPr>
          <a:xfrm>
            <a:off x="685800" y="2834640"/>
            <a:ext cx="5120640" cy="475488"/>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Individual customer analysis</a:t>
            </a:r>
            <a:endParaRPr lang="en-US" sz="1150" dirty="0"/>
          </a:p>
        </p:txBody>
      </p:sp>
      <p:sp>
        <p:nvSpPr>
          <p:cNvPr id="12" name="Text 10"/>
          <p:cNvSpPr/>
          <p:nvPr/>
        </p:nvSpPr>
        <p:spPr>
          <a:xfrm>
            <a:off x="6400800" y="2834640"/>
            <a:ext cx="5120640" cy="475488"/>
          </a:xfrm>
          <a:prstGeom prst="rect">
            <a:avLst/>
          </a:prstGeom>
          <a:noFill/>
          <a:ln/>
        </p:spPr>
        <p:txBody>
          <a:bodyPr wrap="square" rtlCol="0" anchor="ctr"/>
          <a:lstStyle/>
          <a:p>
            <a:pPr indent="0" marL="0">
              <a:buNone/>
            </a:pPr>
            <a:r>
              <a:rPr lang="en-US" sz="1150" b="1" dirty="0">
                <a:solidFill>
                  <a:srgbClr val="16234A"/>
                </a:solidFill>
                <a:latin typeface="Calibri" pitchFamily="34" charset="0"/>
                <a:ea typeface="Calibri" pitchFamily="34" charset="-122"/>
                <a:cs typeface="Calibri" pitchFamily="34" charset="-120"/>
              </a:rPr>
              <a:t>Individual + network analysis</a:t>
            </a:r>
            <a:endParaRPr lang="en-US" sz="1150" dirty="0"/>
          </a:p>
        </p:txBody>
      </p:sp>
      <p:sp>
        <p:nvSpPr>
          <p:cNvPr id="13" name="Shape 11"/>
          <p:cNvSpPr/>
          <p:nvPr/>
        </p:nvSpPr>
        <p:spPr>
          <a:xfrm>
            <a:off x="502920" y="3310128"/>
            <a:ext cx="5440680" cy="475488"/>
          </a:xfrm>
          <a:prstGeom prst="rect">
            <a:avLst/>
          </a:prstGeom>
          <a:solidFill>
            <a:srgbClr val="EDF1FA"/>
          </a:solidFill>
          <a:ln w="9525">
            <a:solidFill>
              <a:srgbClr val="E2E7F1"/>
            </a:solidFill>
            <a:prstDash val="solid"/>
          </a:ln>
        </p:spPr>
      </p:sp>
      <p:sp>
        <p:nvSpPr>
          <p:cNvPr id="14" name="Shape 12"/>
          <p:cNvSpPr/>
          <p:nvPr/>
        </p:nvSpPr>
        <p:spPr>
          <a:xfrm>
            <a:off x="6217920" y="3310128"/>
            <a:ext cx="5440680" cy="475488"/>
          </a:xfrm>
          <a:prstGeom prst="rect">
            <a:avLst/>
          </a:prstGeom>
          <a:solidFill>
            <a:srgbClr val="EDF1FA"/>
          </a:solidFill>
          <a:ln w="9525">
            <a:solidFill>
              <a:srgbClr val="E2E7F1"/>
            </a:solidFill>
            <a:prstDash val="solid"/>
          </a:ln>
        </p:spPr>
      </p:sp>
      <p:sp>
        <p:nvSpPr>
          <p:cNvPr id="15" name="Text 13"/>
          <p:cNvSpPr/>
          <p:nvPr/>
        </p:nvSpPr>
        <p:spPr>
          <a:xfrm>
            <a:off x="685800" y="3310128"/>
            <a:ext cx="5120640" cy="475488"/>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Only ML prediction</a:t>
            </a:r>
            <a:endParaRPr lang="en-US" sz="1150" dirty="0"/>
          </a:p>
        </p:txBody>
      </p:sp>
      <p:sp>
        <p:nvSpPr>
          <p:cNvPr id="16" name="Text 14"/>
          <p:cNvSpPr/>
          <p:nvPr/>
        </p:nvSpPr>
        <p:spPr>
          <a:xfrm>
            <a:off x="6400800" y="3310128"/>
            <a:ext cx="5120640" cy="475488"/>
          </a:xfrm>
          <a:prstGeom prst="rect">
            <a:avLst/>
          </a:prstGeom>
          <a:noFill/>
          <a:ln/>
        </p:spPr>
        <p:txBody>
          <a:bodyPr wrap="square" rtlCol="0" anchor="ctr"/>
          <a:lstStyle/>
          <a:p>
            <a:pPr indent="0" marL="0">
              <a:buNone/>
            </a:pPr>
            <a:r>
              <a:rPr lang="en-US" sz="1150" b="1" dirty="0">
                <a:solidFill>
                  <a:srgbClr val="16234A"/>
                </a:solidFill>
                <a:latin typeface="Calibri" pitchFamily="34" charset="0"/>
                <a:ea typeface="Calibri" pitchFamily="34" charset="-122"/>
                <a:cs typeface="Calibri" pitchFamily="34" charset="-120"/>
              </a:rPr>
              <a:t>ML + rules + graph intelligence</a:t>
            </a:r>
            <a:endParaRPr lang="en-US" sz="1150" dirty="0"/>
          </a:p>
        </p:txBody>
      </p:sp>
      <p:sp>
        <p:nvSpPr>
          <p:cNvPr id="17" name="Shape 15"/>
          <p:cNvSpPr/>
          <p:nvPr/>
        </p:nvSpPr>
        <p:spPr>
          <a:xfrm>
            <a:off x="502920" y="3785616"/>
            <a:ext cx="5440680" cy="475488"/>
          </a:xfrm>
          <a:prstGeom prst="rect">
            <a:avLst/>
          </a:prstGeom>
          <a:solidFill>
            <a:srgbClr val="FFFFFF"/>
          </a:solidFill>
          <a:ln w="9525">
            <a:solidFill>
              <a:srgbClr val="E2E7F1"/>
            </a:solidFill>
            <a:prstDash val="solid"/>
          </a:ln>
        </p:spPr>
      </p:sp>
      <p:sp>
        <p:nvSpPr>
          <p:cNvPr id="18" name="Shape 16"/>
          <p:cNvSpPr/>
          <p:nvPr/>
        </p:nvSpPr>
        <p:spPr>
          <a:xfrm>
            <a:off x="6217920" y="3785616"/>
            <a:ext cx="5440680" cy="475488"/>
          </a:xfrm>
          <a:prstGeom prst="rect">
            <a:avLst/>
          </a:prstGeom>
          <a:solidFill>
            <a:srgbClr val="FFFFFF"/>
          </a:solidFill>
          <a:ln w="9525">
            <a:solidFill>
              <a:srgbClr val="E2E7F1"/>
            </a:solidFill>
            <a:prstDash val="solid"/>
          </a:ln>
        </p:spPr>
      </p:sp>
      <p:sp>
        <p:nvSpPr>
          <p:cNvPr id="19" name="Text 17"/>
          <p:cNvSpPr/>
          <p:nvPr/>
        </p:nvSpPr>
        <p:spPr>
          <a:xfrm>
            <a:off x="685800" y="3785616"/>
            <a:ext cx="5120640" cy="475488"/>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No fraud network detection</a:t>
            </a:r>
            <a:endParaRPr lang="en-US" sz="1150" dirty="0"/>
          </a:p>
        </p:txBody>
      </p:sp>
      <p:sp>
        <p:nvSpPr>
          <p:cNvPr id="20" name="Text 18"/>
          <p:cNvSpPr/>
          <p:nvPr/>
        </p:nvSpPr>
        <p:spPr>
          <a:xfrm>
            <a:off x="6400800" y="3785616"/>
            <a:ext cx="5120640" cy="475488"/>
          </a:xfrm>
          <a:prstGeom prst="rect">
            <a:avLst/>
          </a:prstGeom>
          <a:noFill/>
          <a:ln/>
        </p:spPr>
        <p:txBody>
          <a:bodyPr wrap="square" rtlCol="0" anchor="ctr"/>
          <a:lstStyle/>
          <a:p>
            <a:pPr indent="0" marL="0">
              <a:buNone/>
            </a:pPr>
            <a:r>
              <a:rPr lang="en-US" sz="1150" b="1" dirty="0">
                <a:solidFill>
                  <a:srgbClr val="16234A"/>
                </a:solidFill>
                <a:latin typeface="Calibri" pitchFamily="34" charset="0"/>
                <a:ea typeface="Calibri" pitchFamily="34" charset="-122"/>
                <a:cs typeface="Calibri" pitchFamily="34" charset="-120"/>
              </a:rPr>
              <a:t>Connected component detection</a:t>
            </a:r>
            <a:endParaRPr lang="en-US" sz="1150" dirty="0"/>
          </a:p>
        </p:txBody>
      </p:sp>
      <p:sp>
        <p:nvSpPr>
          <p:cNvPr id="21" name="Shape 19"/>
          <p:cNvSpPr/>
          <p:nvPr/>
        </p:nvSpPr>
        <p:spPr>
          <a:xfrm>
            <a:off x="502920" y="4261104"/>
            <a:ext cx="5440680" cy="475488"/>
          </a:xfrm>
          <a:prstGeom prst="rect">
            <a:avLst/>
          </a:prstGeom>
          <a:solidFill>
            <a:srgbClr val="EDF1FA"/>
          </a:solidFill>
          <a:ln w="9525">
            <a:solidFill>
              <a:srgbClr val="E2E7F1"/>
            </a:solidFill>
            <a:prstDash val="solid"/>
          </a:ln>
        </p:spPr>
      </p:sp>
      <p:sp>
        <p:nvSpPr>
          <p:cNvPr id="22" name="Shape 20"/>
          <p:cNvSpPr/>
          <p:nvPr/>
        </p:nvSpPr>
        <p:spPr>
          <a:xfrm>
            <a:off x="6217920" y="4261104"/>
            <a:ext cx="5440680" cy="475488"/>
          </a:xfrm>
          <a:prstGeom prst="rect">
            <a:avLst/>
          </a:prstGeom>
          <a:solidFill>
            <a:srgbClr val="EDF1FA"/>
          </a:solidFill>
          <a:ln w="9525">
            <a:solidFill>
              <a:srgbClr val="E2E7F1"/>
            </a:solidFill>
            <a:prstDash val="solid"/>
          </a:ln>
        </p:spPr>
      </p:sp>
      <p:sp>
        <p:nvSpPr>
          <p:cNvPr id="23" name="Text 21"/>
          <p:cNvSpPr/>
          <p:nvPr/>
        </p:nvSpPr>
        <p:spPr>
          <a:xfrm>
            <a:off x="685800" y="4261104"/>
            <a:ext cx="5120640" cy="475488"/>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Limited explainability</a:t>
            </a:r>
            <a:endParaRPr lang="en-US" sz="1150" dirty="0"/>
          </a:p>
        </p:txBody>
      </p:sp>
      <p:sp>
        <p:nvSpPr>
          <p:cNvPr id="24" name="Text 22"/>
          <p:cNvSpPr/>
          <p:nvPr/>
        </p:nvSpPr>
        <p:spPr>
          <a:xfrm>
            <a:off x="6400800" y="4261104"/>
            <a:ext cx="5120640" cy="475488"/>
          </a:xfrm>
          <a:prstGeom prst="rect">
            <a:avLst/>
          </a:prstGeom>
          <a:noFill/>
          <a:ln/>
        </p:spPr>
        <p:txBody>
          <a:bodyPr wrap="square" rtlCol="0" anchor="ctr"/>
          <a:lstStyle/>
          <a:p>
            <a:pPr indent="0" marL="0">
              <a:buNone/>
            </a:pPr>
            <a:r>
              <a:rPr lang="en-US" sz="1150" b="1" dirty="0">
                <a:solidFill>
                  <a:srgbClr val="16234A"/>
                </a:solidFill>
                <a:latin typeface="Calibri" pitchFamily="34" charset="0"/>
                <a:ea typeface="Calibri" pitchFamily="34" charset="-122"/>
                <a:cs typeface="Calibri" pitchFamily="34" charset="-120"/>
              </a:rPr>
              <a:t>Risk reason generation</a:t>
            </a:r>
            <a:endParaRPr lang="en-US" sz="1150" dirty="0"/>
          </a:p>
        </p:txBody>
      </p:sp>
      <p:sp>
        <p:nvSpPr>
          <p:cNvPr id="25" name="Shape 23"/>
          <p:cNvSpPr/>
          <p:nvPr/>
        </p:nvSpPr>
        <p:spPr>
          <a:xfrm>
            <a:off x="502920" y="4736592"/>
            <a:ext cx="5440680" cy="475488"/>
          </a:xfrm>
          <a:prstGeom prst="rect">
            <a:avLst/>
          </a:prstGeom>
          <a:solidFill>
            <a:srgbClr val="FFFFFF"/>
          </a:solidFill>
          <a:ln w="9525">
            <a:solidFill>
              <a:srgbClr val="E2E7F1"/>
            </a:solidFill>
            <a:prstDash val="solid"/>
          </a:ln>
        </p:spPr>
      </p:sp>
      <p:sp>
        <p:nvSpPr>
          <p:cNvPr id="26" name="Shape 24"/>
          <p:cNvSpPr/>
          <p:nvPr/>
        </p:nvSpPr>
        <p:spPr>
          <a:xfrm>
            <a:off x="6217920" y="4736592"/>
            <a:ext cx="5440680" cy="475488"/>
          </a:xfrm>
          <a:prstGeom prst="rect">
            <a:avLst/>
          </a:prstGeom>
          <a:solidFill>
            <a:srgbClr val="FFFFFF"/>
          </a:solidFill>
          <a:ln w="9525">
            <a:solidFill>
              <a:srgbClr val="E2E7F1"/>
            </a:solidFill>
            <a:prstDash val="solid"/>
          </a:ln>
        </p:spPr>
      </p:sp>
      <p:sp>
        <p:nvSpPr>
          <p:cNvPr id="27" name="Text 25"/>
          <p:cNvSpPr/>
          <p:nvPr/>
        </p:nvSpPr>
        <p:spPr>
          <a:xfrm>
            <a:off x="685800" y="4736592"/>
            <a:ext cx="5120640" cy="475488"/>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Isolated risk scores</a:t>
            </a:r>
            <a:endParaRPr lang="en-US" sz="1150" dirty="0"/>
          </a:p>
        </p:txBody>
      </p:sp>
      <p:sp>
        <p:nvSpPr>
          <p:cNvPr id="28" name="Text 26"/>
          <p:cNvSpPr/>
          <p:nvPr/>
        </p:nvSpPr>
        <p:spPr>
          <a:xfrm>
            <a:off x="6400800" y="4736592"/>
            <a:ext cx="5120640" cy="475488"/>
          </a:xfrm>
          <a:prstGeom prst="rect">
            <a:avLst/>
          </a:prstGeom>
          <a:noFill/>
          <a:ln/>
        </p:spPr>
        <p:txBody>
          <a:bodyPr wrap="square" rtlCol="0" anchor="ctr"/>
          <a:lstStyle/>
          <a:p>
            <a:pPr indent="0" marL="0">
              <a:buNone/>
            </a:pPr>
            <a:r>
              <a:rPr lang="en-US" sz="1150" b="1" dirty="0">
                <a:solidFill>
                  <a:srgbClr val="16234A"/>
                </a:solidFill>
                <a:latin typeface="Calibri" pitchFamily="34" charset="0"/>
                <a:ea typeface="Calibri" pitchFamily="34" charset="-122"/>
                <a:cs typeface="Calibri" pitchFamily="34" charset="-120"/>
              </a:rPr>
              <a:t>Combined final risk score</a:t>
            </a:r>
            <a:endParaRPr lang="en-US" sz="1150" dirty="0"/>
          </a:p>
        </p:txBody>
      </p:sp>
      <p:sp>
        <p:nvSpPr>
          <p:cNvPr id="29" name="Shape 27"/>
          <p:cNvSpPr/>
          <p:nvPr/>
        </p:nvSpPr>
        <p:spPr>
          <a:xfrm>
            <a:off x="502920" y="5212080"/>
            <a:ext cx="5440680" cy="475488"/>
          </a:xfrm>
          <a:prstGeom prst="rect">
            <a:avLst/>
          </a:prstGeom>
          <a:solidFill>
            <a:srgbClr val="EDF1FA"/>
          </a:solidFill>
          <a:ln w="9525">
            <a:solidFill>
              <a:srgbClr val="E2E7F1"/>
            </a:solidFill>
            <a:prstDash val="solid"/>
          </a:ln>
        </p:spPr>
      </p:sp>
      <p:sp>
        <p:nvSpPr>
          <p:cNvPr id="30" name="Shape 28"/>
          <p:cNvSpPr/>
          <p:nvPr/>
        </p:nvSpPr>
        <p:spPr>
          <a:xfrm>
            <a:off x="6217920" y="5212080"/>
            <a:ext cx="5440680" cy="475488"/>
          </a:xfrm>
          <a:prstGeom prst="rect">
            <a:avLst/>
          </a:prstGeom>
          <a:solidFill>
            <a:srgbClr val="EDF1FA"/>
          </a:solidFill>
          <a:ln w="9525">
            <a:solidFill>
              <a:srgbClr val="E2E7F1"/>
            </a:solidFill>
            <a:prstDash val="solid"/>
          </a:ln>
        </p:spPr>
      </p:sp>
      <p:sp>
        <p:nvSpPr>
          <p:cNvPr id="31" name="Text 29"/>
          <p:cNvSpPr/>
          <p:nvPr/>
        </p:nvSpPr>
        <p:spPr>
          <a:xfrm>
            <a:off x="685800" y="5212080"/>
            <a:ext cx="5120640" cy="475488"/>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No fraud type analysis</a:t>
            </a:r>
            <a:endParaRPr lang="en-US" sz="1150" dirty="0"/>
          </a:p>
        </p:txBody>
      </p:sp>
      <p:sp>
        <p:nvSpPr>
          <p:cNvPr id="32" name="Text 30"/>
          <p:cNvSpPr/>
          <p:nvPr/>
        </p:nvSpPr>
        <p:spPr>
          <a:xfrm>
            <a:off x="6400800" y="5212080"/>
            <a:ext cx="5120640" cy="475488"/>
          </a:xfrm>
          <a:prstGeom prst="rect">
            <a:avLst/>
          </a:prstGeom>
          <a:noFill/>
          <a:ln/>
        </p:spPr>
        <p:txBody>
          <a:bodyPr wrap="square" rtlCol="0" anchor="ctr"/>
          <a:lstStyle/>
          <a:p>
            <a:pPr indent="0" marL="0">
              <a:buNone/>
            </a:pPr>
            <a:r>
              <a:rPr lang="en-US" sz="1150" b="1" dirty="0">
                <a:solidFill>
                  <a:srgbClr val="16234A"/>
                </a:solidFill>
                <a:latin typeface="Calibri" pitchFamily="34" charset="0"/>
                <a:ea typeface="Calibri" pitchFamily="34" charset="-122"/>
                <a:cs typeface="Calibri" pitchFamily="34" charset="-120"/>
              </a:rPr>
              <a:t>Fraud ring classification</a:t>
            </a:r>
            <a:endParaRPr lang="en-US" sz="1150" dirty="0"/>
          </a:p>
        </p:txBody>
      </p:sp>
      <p:sp>
        <p:nvSpPr>
          <p:cNvPr id="33" name="Text 31"/>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6 · RESEARCH GAP</a:t>
            </a:r>
            <a:endParaRPr lang="en-US" sz="900" dirty="0"/>
          </a:p>
        </p:txBody>
      </p:sp>
      <p:sp>
        <p:nvSpPr>
          <p:cNvPr id="34" name="Text 32"/>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5" name="Text 33"/>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7</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Existing System &amp; Its Limitations</a:t>
            </a:r>
            <a:endParaRPr lang="en-US" sz="3000" dirty="0"/>
          </a:p>
        </p:txBody>
      </p:sp>
      <p:sp>
        <p:nvSpPr>
          <p:cNvPr id="4" name="Text 2"/>
          <p:cNvSpPr/>
          <p:nvPr/>
        </p:nvSpPr>
        <p:spPr>
          <a:xfrm>
            <a:off x="502920" y="1371600"/>
            <a:ext cx="6309360" cy="777240"/>
          </a:xfrm>
          <a:prstGeom prst="rect">
            <a:avLst/>
          </a:prstGeom>
          <a:noFill/>
          <a:ln/>
        </p:spPr>
        <p:txBody>
          <a:bodyPr wrap="square" rtlCol="0" anchor="ctr"/>
          <a:lstStyle/>
          <a:p>
            <a:pPr indent="0" marL="0">
              <a:lnSpc>
                <a:spcPct val="125000"/>
              </a:lnSpc>
              <a:buNone/>
            </a:pPr>
            <a:r>
              <a:rPr lang="en-US" sz="1350" dirty="0">
                <a:solidFill>
                  <a:srgbClr val="16234A"/>
                </a:solidFill>
                <a:latin typeface="Calibri" pitchFamily="34" charset="0"/>
                <a:ea typeface="Calibri" pitchFamily="34" charset="-122"/>
                <a:cs typeface="Calibri" pitchFamily="34" charset="-120"/>
              </a:rPr>
              <a:t>Traditional fraud detection systems commonly use rule-based systems, ML models, transaction monitoring, and threshold-based alerts.</a:t>
            </a:r>
            <a:endParaRPr lang="en-US" sz="1350" dirty="0"/>
          </a:p>
        </p:txBody>
      </p:sp>
      <p:sp>
        <p:nvSpPr>
          <p:cNvPr id="5" name="Shape 3"/>
          <p:cNvSpPr/>
          <p:nvPr/>
        </p:nvSpPr>
        <p:spPr>
          <a:xfrm>
            <a:off x="502920" y="2286000"/>
            <a:ext cx="6309360" cy="1371600"/>
          </a:xfrm>
          <a:prstGeom prst="roundRect">
            <a:avLst>
              <a:gd name="adj" fmla="val 5333"/>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6" name="Text 4"/>
          <p:cNvSpPr/>
          <p:nvPr/>
        </p:nvSpPr>
        <p:spPr>
          <a:xfrm>
            <a:off x="777240" y="2450592"/>
            <a:ext cx="5486400" cy="274320"/>
          </a:xfrm>
          <a:prstGeom prst="rect">
            <a:avLst/>
          </a:prstGeom>
          <a:noFill/>
          <a:ln/>
        </p:spPr>
        <p:txBody>
          <a:bodyPr wrap="square" rtlCol="0" anchor="ctr"/>
          <a:lstStyle/>
          <a:p>
            <a:pPr indent="0" marL="0">
              <a:buNone/>
            </a:pPr>
            <a:r>
              <a:rPr lang="en-US" sz="1100" b="1" spc="100" kern="0" dirty="0">
                <a:solidFill>
                  <a:srgbClr val="F0A23A"/>
                </a:solidFill>
                <a:latin typeface="Calibri" pitchFamily="34" charset="0"/>
                <a:ea typeface="Calibri" pitchFamily="34" charset="-122"/>
                <a:cs typeface="Calibri" pitchFamily="34" charset="-120"/>
              </a:rPr>
              <a:t>EXAMPLE RULE</a:t>
            </a:r>
            <a:endParaRPr lang="en-US" sz="1100" dirty="0"/>
          </a:p>
        </p:txBody>
      </p:sp>
      <p:sp>
        <p:nvSpPr>
          <p:cNvPr id="7" name="Text 5"/>
          <p:cNvSpPr/>
          <p:nvPr/>
        </p:nvSpPr>
        <p:spPr>
          <a:xfrm>
            <a:off x="777240" y="2743200"/>
            <a:ext cx="5760720" cy="777240"/>
          </a:xfrm>
          <a:prstGeom prst="rect">
            <a:avLst/>
          </a:prstGeom>
          <a:noFill/>
          <a:ln/>
        </p:spPr>
        <p:txBody>
          <a:bodyPr wrap="square"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IF chargeback_count &gt; threshold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THEN customer = HIGH RISK</a:t>
            </a:r>
            <a:endParaRPr lang="en-US" sz="1400" dirty="0"/>
          </a:p>
        </p:txBody>
      </p:sp>
      <p:sp>
        <p:nvSpPr>
          <p:cNvPr id="8" name="Text 6"/>
          <p:cNvSpPr/>
          <p:nvPr/>
        </p:nvSpPr>
        <p:spPr>
          <a:xfrm>
            <a:off x="502920" y="3886200"/>
            <a:ext cx="5486400" cy="320040"/>
          </a:xfrm>
          <a:prstGeom prst="rect">
            <a:avLst/>
          </a:prstGeom>
          <a:noFill/>
          <a:ln/>
        </p:spPr>
        <p:txBody>
          <a:bodyPr wrap="square" rtlCol="0" anchor="ctr"/>
          <a:lstStyle/>
          <a:p>
            <a:pPr indent="0" marL="0">
              <a:buNone/>
            </a:pPr>
            <a:r>
              <a:rPr lang="en-US" sz="1250" b="1" spc="100" kern="0" dirty="0">
                <a:solidFill>
                  <a:srgbClr val="D14343"/>
                </a:solidFill>
                <a:latin typeface="Calibri" pitchFamily="34" charset="0"/>
                <a:ea typeface="Calibri" pitchFamily="34" charset="-122"/>
                <a:cs typeface="Calibri" pitchFamily="34" charset="-120"/>
              </a:rPr>
              <a:t>LIMITATIONS</a:t>
            </a:r>
            <a:endParaRPr lang="en-US" sz="1250" dirty="0"/>
          </a:p>
        </p:txBody>
      </p:sp>
      <p:sp>
        <p:nvSpPr>
          <p:cNvPr id="9" name="Shape 7"/>
          <p:cNvSpPr/>
          <p:nvPr/>
        </p:nvSpPr>
        <p:spPr>
          <a:xfrm>
            <a:off x="548640" y="4306824"/>
            <a:ext cx="128016" cy="128016"/>
          </a:xfrm>
          <a:prstGeom prst="ellipse">
            <a:avLst/>
          </a:prstGeom>
          <a:solidFill>
            <a:srgbClr val="D14343"/>
          </a:solidFill>
          <a:ln/>
        </p:spPr>
      </p:sp>
      <p:sp>
        <p:nvSpPr>
          <p:cNvPr id="10" name="Text 8"/>
          <p:cNvSpPr/>
          <p:nvPr/>
        </p:nvSpPr>
        <p:spPr>
          <a:xfrm>
            <a:off x="822960" y="4197096"/>
            <a:ext cx="5852160" cy="365760"/>
          </a:xfrm>
          <a:prstGeom prst="rect">
            <a:avLst/>
          </a:prstGeom>
          <a:noFill/>
          <a:ln/>
        </p:spPr>
        <p:txBody>
          <a:bodyPr wrap="square" rtlCol="0" anchor="ctr"/>
          <a:lstStyle/>
          <a:p>
            <a:pPr indent="0" marL="0">
              <a:buNone/>
            </a:pPr>
            <a:r>
              <a:rPr lang="en-US" sz="1200" dirty="0">
                <a:solidFill>
                  <a:srgbClr val="16234A"/>
                </a:solidFill>
                <a:latin typeface="Calibri" pitchFamily="34" charset="0"/>
                <a:ea typeface="Calibri" pitchFamily="34" charset="-122"/>
                <a:cs typeface="Calibri" pitchFamily="34" charset="-120"/>
              </a:rPr>
              <a:t>Static rules can be bypassed</a:t>
            </a:r>
            <a:endParaRPr lang="en-US" sz="1200" dirty="0"/>
          </a:p>
        </p:txBody>
      </p:sp>
      <p:sp>
        <p:nvSpPr>
          <p:cNvPr id="11" name="Shape 9"/>
          <p:cNvSpPr/>
          <p:nvPr/>
        </p:nvSpPr>
        <p:spPr>
          <a:xfrm>
            <a:off x="548640" y="4718304"/>
            <a:ext cx="128016" cy="128016"/>
          </a:xfrm>
          <a:prstGeom prst="ellipse">
            <a:avLst/>
          </a:prstGeom>
          <a:solidFill>
            <a:srgbClr val="D14343"/>
          </a:solidFill>
          <a:ln/>
        </p:spPr>
      </p:sp>
      <p:sp>
        <p:nvSpPr>
          <p:cNvPr id="12" name="Text 10"/>
          <p:cNvSpPr/>
          <p:nvPr/>
        </p:nvSpPr>
        <p:spPr>
          <a:xfrm>
            <a:off x="822960" y="4608576"/>
            <a:ext cx="5852160" cy="365760"/>
          </a:xfrm>
          <a:prstGeom prst="rect">
            <a:avLst/>
          </a:prstGeom>
          <a:noFill/>
          <a:ln/>
        </p:spPr>
        <p:txBody>
          <a:bodyPr wrap="square" rtlCol="0" anchor="ctr"/>
          <a:lstStyle/>
          <a:p>
            <a:pPr indent="0" marL="0">
              <a:buNone/>
            </a:pPr>
            <a:r>
              <a:rPr lang="en-US" sz="1200" dirty="0">
                <a:solidFill>
                  <a:srgbClr val="16234A"/>
                </a:solidFill>
                <a:latin typeface="Calibri" pitchFamily="34" charset="0"/>
                <a:ea typeface="Calibri" pitchFamily="34" charset="-122"/>
                <a:cs typeface="Calibri" pitchFamily="34" charset="-120"/>
              </a:rPr>
              <a:t>ML models may not capture relationships</a:t>
            </a:r>
            <a:endParaRPr lang="en-US" sz="1200" dirty="0"/>
          </a:p>
        </p:txBody>
      </p:sp>
      <p:sp>
        <p:nvSpPr>
          <p:cNvPr id="13" name="Shape 11"/>
          <p:cNvSpPr/>
          <p:nvPr/>
        </p:nvSpPr>
        <p:spPr>
          <a:xfrm>
            <a:off x="548640" y="5129784"/>
            <a:ext cx="128016" cy="128016"/>
          </a:xfrm>
          <a:prstGeom prst="ellipse">
            <a:avLst/>
          </a:prstGeom>
          <a:solidFill>
            <a:srgbClr val="D14343"/>
          </a:solidFill>
          <a:ln/>
        </p:spPr>
      </p:sp>
      <p:sp>
        <p:nvSpPr>
          <p:cNvPr id="14" name="Text 12"/>
          <p:cNvSpPr/>
          <p:nvPr/>
        </p:nvSpPr>
        <p:spPr>
          <a:xfrm>
            <a:off x="822960" y="5020056"/>
            <a:ext cx="5852160" cy="365760"/>
          </a:xfrm>
          <a:prstGeom prst="rect">
            <a:avLst/>
          </a:prstGeom>
          <a:noFill/>
          <a:ln/>
        </p:spPr>
        <p:txBody>
          <a:bodyPr wrap="square" rtlCol="0" anchor="ctr"/>
          <a:lstStyle/>
          <a:p>
            <a:pPr indent="0" marL="0">
              <a:buNone/>
            </a:pPr>
            <a:r>
              <a:rPr lang="en-US" sz="1200" dirty="0">
                <a:solidFill>
                  <a:srgbClr val="16234A"/>
                </a:solidFill>
                <a:latin typeface="Calibri" pitchFamily="34" charset="0"/>
                <a:ea typeface="Calibri" pitchFamily="34" charset="-122"/>
                <a:cs typeface="Calibri" pitchFamily="34" charset="-120"/>
              </a:rPr>
              <a:t>Individual analysis may miss fraud rings</a:t>
            </a:r>
            <a:endParaRPr lang="en-US" sz="1200" dirty="0"/>
          </a:p>
        </p:txBody>
      </p:sp>
      <p:sp>
        <p:nvSpPr>
          <p:cNvPr id="15" name="Shape 13"/>
          <p:cNvSpPr/>
          <p:nvPr/>
        </p:nvSpPr>
        <p:spPr>
          <a:xfrm>
            <a:off x="548640" y="5541264"/>
            <a:ext cx="128016" cy="128016"/>
          </a:xfrm>
          <a:prstGeom prst="ellipse">
            <a:avLst/>
          </a:prstGeom>
          <a:solidFill>
            <a:srgbClr val="D14343"/>
          </a:solidFill>
          <a:ln/>
        </p:spPr>
      </p:sp>
      <p:sp>
        <p:nvSpPr>
          <p:cNvPr id="16" name="Text 14"/>
          <p:cNvSpPr/>
          <p:nvPr/>
        </p:nvSpPr>
        <p:spPr>
          <a:xfrm>
            <a:off x="822960" y="5431536"/>
            <a:ext cx="5852160" cy="365760"/>
          </a:xfrm>
          <a:prstGeom prst="rect">
            <a:avLst/>
          </a:prstGeom>
          <a:noFill/>
          <a:ln/>
        </p:spPr>
        <p:txBody>
          <a:bodyPr wrap="square" rtlCol="0" anchor="ctr"/>
          <a:lstStyle/>
          <a:p>
            <a:pPr indent="0" marL="0">
              <a:buNone/>
            </a:pPr>
            <a:r>
              <a:rPr lang="en-US" sz="1200" dirty="0">
                <a:solidFill>
                  <a:srgbClr val="16234A"/>
                </a:solidFill>
                <a:latin typeface="Calibri" pitchFamily="34" charset="0"/>
                <a:ea typeface="Calibri" pitchFamily="34" charset="-122"/>
                <a:cs typeface="Calibri" pitchFamily="34" charset="-120"/>
              </a:rPr>
              <a:t>Multiple suspicious accounts may not be connected</a:t>
            </a:r>
            <a:endParaRPr lang="en-US" sz="1200" dirty="0"/>
          </a:p>
        </p:txBody>
      </p:sp>
      <p:sp>
        <p:nvSpPr>
          <p:cNvPr id="17" name="Shape 15"/>
          <p:cNvSpPr/>
          <p:nvPr/>
        </p:nvSpPr>
        <p:spPr>
          <a:xfrm>
            <a:off x="548640" y="5952744"/>
            <a:ext cx="128016" cy="128016"/>
          </a:xfrm>
          <a:prstGeom prst="ellipse">
            <a:avLst/>
          </a:prstGeom>
          <a:solidFill>
            <a:srgbClr val="D14343"/>
          </a:solidFill>
          <a:ln/>
        </p:spPr>
      </p:sp>
      <p:sp>
        <p:nvSpPr>
          <p:cNvPr id="18" name="Text 16"/>
          <p:cNvSpPr/>
          <p:nvPr/>
        </p:nvSpPr>
        <p:spPr>
          <a:xfrm>
            <a:off x="822960" y="5843016"/>
            <a:ext cx="5852160" cy="365760"/>
          </a:xfrm>
          <a:prstGeom prst="rect">
            <a:avLst/>
          </a:prstGeom>
          <a:noFill/>
          <a:ln/>
        </p:spPr>
        <p:txBody>
          <a:bodyPr wrap="square" rtlCol="0" anchor="ctr"/>
          <a:lstStyle/>
          <a:p>
            <a:pPr indent="0" marL="0">
              <a:buNone/>
            </a:pPr>
            <a:r>
              <a:rPr lang="en-US" sz="1200" dirty="0">
                <a:solidFill>
                  <a:srgbClr val="16234A"/>
                </a:solidFill>
                <a:latin typeface="Calibri" pitchFamily="34" charset="0"/>
                <a:ea typeface="Calibri" pitchFamily="34" charset="-122"/>
                <a:cs typeface="Calibri" pitchFamily="34" charset="-120"/>
              </a:rPr>
              <a:t>Investigators may lack network context</a:t>
            </a:r>
            <a:endParaRPr lang="en-US" sz="1200" dirty="0"/>
          </a:p>
        </p:txBody>
      </p:sp>
      <p:sp>
        <p:nvSpPr>
          <p:cNvPr id="19" name="Shape 17"/>
          <p:cNvSpPr/>
          <p:nvPr/>
        </p:nvSpPr>
        <p:spPr>
          <a:xfrm>
            <a:off x="7178040" y="1371600"/>
            <a:ext cx="4526280" cy="4663440"/>
          </a:xfrm>
          <a:prstGeom prst="roundRect">
            <a:avLst>
              <a:gd name="adj" fmla="val 1616"/>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0" name="Text 18"/>
          <p:cNvSpPr/>
          <p:nvPr/>
        </p:nvSpPr>
        <p:spPr>
          <a:xfrm>
            <a:off x="7452360" y="1600200"/>
            <a:ext cx="3931920" cy="320040"/>
          </a:xfrm>
          <a:prstGeom prst="rect">
            <a:avLst/>
          </a:prstGeom>
          <a:noFill/>
          <a:ln/>
        </p:spPr>
        <p:txBody>
          <a:bodyPr wrap="square" rtlCol="0" anchor="ctr"/>
          <a:lstStyle/>
          <a:p>
            <a:pPr indent="0" marL="0">
              <a:buNone/>
            </a:pPr>
            <a:r>
              <a:rPr lang="en-US" sz="1250" b="1" spc="100" kern="0" dirty="0">
                <a:solidFill>
                  <a:srgbClr val="3A6FF0"/>
                </a:solidFill>
                <a:latin typeface="Calibri" pitchFamily="34" charset="0"/>
                <a:ea typeface="Calibri" pitchFamily="34" charset="-122"/>
                <a:cs typeface="Calibri" pitchFamily="34" charset="-120"/>
              </a:rPr>
              <a:t>WHY IT FALLS SHORT</a:t>
            </a:r>
            <a:endParaRPr lang="en-US" sz="1250" dirty="0"/>
          </a:p>
        </p:txBody>
      </p:sp>
      <p:sp>
        <p:nvSpPr>
          <p:cNvPr id="21" name="Text 19"/>
          <p:cNvSpPr/>
          <p:nvPr/>
        </p:nvSpPr>
        <p:spPr>
          <a:xfrm>
            <a:off x="7452360" y="2011680"/>
            <a:ext cx="3977640" cy="1463040"/>
          </a:xfrm>
          <a:prstGeom prst="rect">
            <a:avLst/>
          </a:prstGeom>
          <a:noFill/>
          <a:ln/>
        </p:spPr>
        <p:txBody>
          <a:bodyPr wrap="square" rtlCol="0" anchor="ctr"/>
          <a:lstStyle/>
          <a:p>
            <a:pPr indent="0" marL="0">
              <a:lnSpc>
                <a:spcPct val="130000"/>
              </a:lnSpc>
              <a:buNone/>
            </a:pPr>
            <a:r>
              <a:rPr lang="en-US" sz="1300" i="1" dirty="0">
                <a:solidFill>
                  <a:srgbClr val="16234A"/>
                </a:solidFill>
                <a:latin typeface="Calibri" pitchFamily="34" charset="0"/>
                <a:ea typeface="Calibri" pitchFamily="34" charset="-122"/>
                <a:cs typeface="Calibri" pitchFamily="34" charset="-120"/>
              </a:rPr>
              <a:t>A fraud ring can be invisible to any one of these controls in isolation — each account may individually pass every rule and score safely on its own, while the network it belongs to tells a very different story.</a:t>
            </a:r>
            <a:endParaRPr lang="en-US" sz="1300" dirty="0"/>
          </a:p>
        </p:txBody>
      </p:sp>
      <p:sp>
        <p:nvSpPr>
          <p:cNvPr id="22" name="Shape 20"/>
          <p:cNvSpPr/>
          <p:nvPr/>
        </p:nvSpPr>
        <p:spPr>
          <a:xfrm>
            <a:off x="7452360" y="3657600"/>
            <a:ext cx="3977640" cy="0"/>
          </a:xfrm>
          <a:prstGeom prst="line">
            <a:avLst/>
          </a:prstGeom>
          <a:noFill/>
          <a:ln w="12700">
            <a:solidFill>
              <a:srgbClr val="E2E7F1"/>
            </a:solidFill>
            <a:prstDash val="solid"/>
          </a:ln>
        </p:spPr>
      </p:sp>
      <p:sp>
        <p:nvSpPr>
          <p:cNvPr id="23" name="Text 21"/>
          <p:cNvSpPr/>
          <p:nvPr/>
        </p:nvSpPr>
        <p:spPr>
          <a:xfrm>
            <a:off x="7452360" y="3840480"/>
            <a:ext cx="3977640" cy="1097280"/>
          </a:xfrm>
          <a:prstGeom prst="rect">
            <a:avLst/>
          </a:prstGeom>
          <a:noFill/>
          <a:ln/>
        </p:spPr>
        <p:txBody>
          <a:bodyPr wrap="square" rtlCol="0" anchor="ctr"/>
          <a:lstStyle/>
          <a:p>
            <a:pPr indent="0" marL="0">
              <a:lnSpc>
                <a:spcPct val="130000"/>
              </a:lnSpc>
              <a:buNone/>
            </a:pPr>
            <a:r>
              <a:rPr lang="en-US" sz="1300" b="1" dirty="0">
                <a:solidFill>
                  <a:srgbClr val="16234A"/>
                </a:solidFill>
                <a:latin typeface="Calibri" pitchFamily="34" charset="0"/>
                <a:ea typeface="Calibri" pitchFamily="34" charset="-122"/>
                <a:cs typeface="Calibri" pitchFamily="34" charset="-120"/>
              </a:rPr>
              <a:t>RISKNET AI's answer: layer relationship intelligence on top of the same behavioral and ML signals.</a:t>
            </a:r>
            <a:endParaRPr lang="en-US" sz="1300" dirty="0"/>
          </a:p>
        </p:txBody>
      </p:sp>
      <p:sp>
        <p:nvSpPr>
          <p:cNvPr id="24" name="Text 22"/>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7 · EXISTING SYSTEM</a:t>
            </a:r>
            <a:endParaRPr lang="en-US" sz="900" dirty="0"/>
          </a:p>
        </p:txBody>
      </p:sp>
      <p:sp>
        <p:nvSpPr>
          <p:cNvPr id="25" name="Text 23"/>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26" name="Text 24"/>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8</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Proposed System — Hybrid Intelligence Architecture</a:t>
            </a:r>
            <a:endParaRPr lang="en-US" sz="3000" dirty="0"/>
          </a:p>
        </p:txBody>
      </p:sp>
      <p:sp>
        <p:nvSpPr>
          <p:cNvPr id="4" name="Shape 2"/>
          <p:cNvSpPr/>
          <p:nvPr/>
        </p:nvSpPr>
        <p:spPr>
          <a:xfrm>
            <a:off x="502920" y="1417320"/>
            <a:ext cx="11155680" cy="658368"/>
          </a:xfrm>
          <a:prstGeom prst="roundRect">
            <a:avLst>
              <a:gd name="adj" fmla="val 1111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Shape 3"/>
          <p:cNvSpPr/>
          <p:nvPr/>
        </p:nvSpPr>
        <p:spPr>
          <a:xfrm>
            <a:off x="800100" y="1495044"/>
            <a:ext cx="502920" cy="502920"/>
          </a:xfrm>
          <a:prstGeom prst="ellipse">
            <a:avLst/>
          </a:prstGeom>
          <a:solidFill>
            <a:srgbClr val="3A6FF0"/>
          </a:solidFill>
          <a:ln/>
        </p:spPr>
      </p:sp>
      <p:sp>
        <p:nvSpPr>
          <p:cNvPr id="6" name="Text 4"/>
          <p:cNvSpPr/>
          <p:nvPr/>
        </p:nvSpPr>
        <p:spPr>
          <a:xfrm>
            <a:off x="800100" y="1495044"/>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7" name="Text 5"/>
          <p:cNvSpPr/>
          <p:nvPr/>
        </p:nvSpPr>
        <p:spPr>
          <a:xfrm>
            <a:off x="1463040" y="1417320"/>
            <a:ext cx="3108960" cy="658368"/>
          </a:xfrm>
          <a:prstGeom prst="rect">
            <a:avLst/>
          </a:prstGeom>
          <a:noFill/>
          <a:ln/>
        </p:spPr>
        <p:txBody>
          <a:bodyPr wrap="square" rtlCol="0" anchor="ctr"/>
          <a:lstStyle/>
          <a:p>
            <a:pPr indent="0" marL="0">
              <a:buNone/>
            </a:pPr>
            <a:r>
              <a:rPr lang="en-US" sz="1400" b="1" dirty="0">
                <a:solidFill>
                  <a:srgbClr val="16234A"/>
                </a:solidFill>
                <a:latin typeface="Calibri" pitchFamily="34" charset="0"/>
                <a:ea typeface="Calibri" pitchFamily="34" charset="-122"/>
                <a:cs typeface="Calibri" pitchFamily="34" charset="-120"/>
              </a:rPr>
              <a:t>Behavioral Intelligence</a:t>
            </a:r>
            <a:endParaRPr lang="en-US" sz="1400" dirty="0"/>
          </a:p>
        </p:txBody>
      </p:sp>
      <p:sp>
        <p:nvSpPr>
          <p:cNvPr id="8" name="Text 6"/>
          <p:cNvSpPr/>
          <p:nvPr/>
        </p:nvSpPr>
        <p:spPr>
          <a:xfrm>
            <a:off x="4709160" y="1417320"/>
            <a:ext cx="6766560" cy="658368"/>
          </a:xfrm>
          <a:prstGeom prst="rect">
            <a:avLst/>
          </a:prstGeom>
          <a:noFill/>
          <a:ln/>
        </p:spPr>
        <p:txBody>
          <a:bodyPr wrap="square" rtlCol="0" anchor="ctr"/>
          <a:lstStyle/>
          <a:p>
            <a:pPr indent="0" marL="0">
              <a:buNone/>
            </a:pPr>
            <a:r>
              <a:rPr lang="en-US" sz="1250" dirty="0">
                <a:solidFill>
                  <a:srgbClr val="5B6B8C"/>
                </a:solidFill>
                <a:latin typeface="Calibri" pitchFamily="34" charset="0"/>
                <a:ea typeface="Calibri" pitchFamily="34" charset="-122"/>
                <a:cs typeface="Calibri" pitchFamily="34" charset="-120"/>
              </a:rPr>
              <a:t>Transactions, declines, chargebacks, promo usage, account age</a:t>
            </a:r>
            <a:endParaRPr lang="en-US" sz="1250" dirty="0"/>
          </a:p>
        </p:txBody>
      </p:sp>
      <p:sp>
        <p:nvSpPr>
          <p:cNvPr id="9" name="Shape 7"/>
          <p:cNvSpPr/>
          <p:nvPr/>
        </p:nvSpPr>
        <p:spPr>
          <a:xfrm>
            <a:off x="502920" y="2212848"/>
            <a:ext cx="11155680" cy="658368"/>
          </a:xfrm>
          <a:prstGeom prst="roundRect">
            <a:avLst>
              <a:gd name="adj" fmla="val 1111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0" name="Shape 8"/>
          <p:cNvSpPr/>
          <p:nvPr/>
        </p:nvSpPr>
        <p:spPr>
          <a:xfrm>
            <a:off x="800100" y="2290572"/>
            <a:ext cx="502920" cy="502920"/>
          </a:xfrm>
          <a:prstGeom prst="ellipse">
            <a:avLst/>
          </a:prstGeom>
          <a:solidFill>
            <a:srgbClr val="2E9E62"/>
          </a:solidFill>
          <a:ln/>
        </p:spPr>
      </p:sp>
      <p:sp>
        <p:nvSpPr>
          <p:cNvPr id="11" name="Text 9"/>
          <p:cNvSpPr/>
          <p:nvPr/>
        </p:nvSpPr>
        <p:spPr>
          <a:xfrm>
            <a:off x="800100" y="2290572"/>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2</a:t>
            </a:r>
            <a:endParaRPr lang="en-US" sz="1430" dirty="0"/>
          </a:p>
        </p:txBody>
      </p:sp>
      <p:sp>
        <p:nvSpPr>
          <p:cNvPr id="12" name="Text 10"/>
          <p:cNvSpPr/>
          <p:nvPr/>
        </p:nvSpPr>
        <p:spPr>
          <a:xfrm>
            <a:off x="1463040" y="2212848"/>
            <a:ext cx="3108960" cy="658368"/>
          </a:xfrm>
          <a:prstGeom prst="rect">
            <a:avLst/>
          </a:prstGeom>
          <a:noFill/>
          <a:ln/>
        </p:spPr>
        <p:txBody>
          <a:bodyPr wrap="square" rtlCol="0" anchor="ctr"/>
          <a:lstStyle/>
          <a:p>
            <a:pPr indent="0" marL="0">
              <a:buNone/>
            </a:pPr>
            <a:r>
              <a:rPr lang="en-US" sz="1400" b="1" dirty="0">
                <a:solidFill>
                  <a:srgbClr val="16234A"/>
                </a:solidFill>
                <a:latin typeface="Calibri" pitchFamily="34" charset="0"/>
                <a:ea typeface="Calibri" pitchFamily="34" charset="-122"/>
                <a:cs typeface="Calibri" pitchFamily="34" charset="-120"/>
              </a:rPr>
              <a:t>Machine Learning</a:t>
            </a:r>
            <a:endParaRPr lang="en-US" sz="1400" dirty="0"/>
          </a:p>
        </p:txBody>
      </p:sp>
      <p:sp>
        <p:nvSpPr>
          <p:cNvPr id="13" name="Text 11"/>
          <p:cNvSpPr/>
          <p:nvPr/>
        </p:nvSpPr>
        <p:spPr>
          <a:xfrm>
            <a:off x="4709160" y="2212848"/>
            <a:ext cx="6766560" cy="658368"/>
          </a:xfrm>
          <a:prstGeom prst="rect">
            <a:avLst/>
          </a:prstGeom>
          <a:noFill/>
          <a:ln/>
        </p:spPr>
        <p:txBody>
          <a:bodyPr wrap="square" rtlCol="0" anchor="ctr"/>
          <a:lstStyle/>
          <a:p>
            <a:pPr indent="0" marL="0">
              <a:buNone/>
            </a:pPr>
            <a:r>
              <a:rPr lang="en-US" sz="1250" dirty="0">
                <a:solidFill>
                  <a:srgbClr val="5B6B8C"/>
                </a:solidFill>
                <a:latin typeface="Calibri" pitchFamily="34" charset="0"/>
                <a:ea typeface="Calibri" pitchFamily="34" charset="-122"/>
                <a:cs typeface="Calibri" pitchFamily="34" charset="-120"/>
              </a:rPr>
              <a:t>Predicts customer risk using engineered features</a:t>
            </a:r>
            <a:endParaRPr lang="en-US" sz="1250" dirty="0"/>
          </a:p>
        </p:txBody>
      </p:sp>
      <p:sp>
        <p:nvSpPr>
          <p:cNvPr id="14" name="Shape 12"/>
          <p:cNvSpPr/>
          <p:nvPr/>
        </p:nvSpPr>
        <p:spPr>
          <a:xfrm>
            <a:off x="502920" y="3008376"/>
            <a:ext cx="11155680" cy="658368"/>
          </a:xfrm>
          <a:prstGeom prst="roundRect">
            <a:avLst>
              <a:gd name="adj" fmla="val 1111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5" name="Shape 13"/>
          <p:cNvSpPr/>
          <p:nvPr/>
        </p:nvSpPr>
        <p:spPr>
          <a:xfrm>
            <a:off x="800100" y="3086100"/>
            <a:ext cx="502920" cy="502920"/>
          </a:xfrm>
          <a:prstGeom prst="ellipse">
            <a:avLst/>
          </a:prstGeom>
          <a:solidFill>
            <a:srgbClr val="F0A23A"/>
          </a:solidFill>
          <a:ln/>
        </p:spPr>
      </p:sp>
      <p:sp>
        <p:nvSpPr>
          <p:cNvPr id="16" name="Text 14"/>
          <p:cNvSpPr/>
          <p:nvPr/>
        </p:nvSpPr>
        <p:spPr>
          <a:xfrm>
            <a:off x="800100" y="3086100"/>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3</a:t>
            </a:r>
            <a:endParaRPr lang="en-US" sz="1430" dirty="0"/>
          </a:p>
        </p:txBody>
      </p:sp>
      <p:sp>
        <p:nvSpPr>
          <p:cNvPr id="17" name="Text 15"/>
          <p:cNvSpPr/>
          <p:nvPr/>
        </p:nvSpPr>
        <p:spPr>
          <a:xfrm>
            <a:off x="1463040" y="3008376"/>
            <a:ext cx="3108960" cy="658368"/>
          </a:xfrm>
          <a:prstGeom prst="rect">
            <a:avLst/>
          </a:prstGeom>
          <a:noFill/>
          <a:ln/>
        </p:spPr>
        <p:txBody>
          <a:bodyPr wrap="square" rtlCol="0" anchor="ctr"/>
          <a:lstStyle/>
          <a:p>
            <a:pPr indent="0" marL="0">
              <a:buNone/>
            </a:pPr>
            <a:r>
              <a:rPr lang="en-US" sz="1400" b="1" dirty="0">
                <a:solidFill>
                  <a:srgbClr val="16234A"/>
                </a:solidFill>
                <a:latin typeface="Calibri" pitchFamily="34" charset="0"/>
                <a:ea typeface="Calibri" pitchFamily="34" charset="-122"/>
                <a:cs typeface="Calibri" pitchFamily="34" charset="-120"/>
              </a:rPr>
              <a:t>Graph Intelligence</a:t>
            </a:r>
            <a:endParaRPr lang="en-US" sz="1400" dirty="0"/>
          </a:p>
        </p:txBody>
      </p:sp>
      <p:sp>
        <p:nvSpPr>
          <p:cNvPr id="18" name="Text 16"/>
          <p:cNvSpPr/>
          <p:nvPr/>
        </p:nvSpPr>
        <p:spPr>
          <a:xfrm>
            <a:off x="4709160" y="3008376"/>
            <a:ext cx="6766560" cy="658368"/>
          </a:xfrm>
          <a:prstGeom prst="rect">
            <a:avLst/>
          </a:prstGeom>
          <a:noFill/>
          <a:ln/>
        </p:spPr>
        <p:txBody>
          <a:bodyPr wrap="square" rtlCol="0" anchor="ctr"/>
          <a:lstStyle/>
          <a:p>
            <a:pPr indent="0" marL="0">
              <a:buNone/>
            </a:pPr>
            <a:r>
              <a:rPr lang="en-US" sz="1250" dirty="0">
                <a:solidFill>
                  <a:srgbClr val="5B6B8C"/>
                </a:solidFill>
                <a:latin typeface="Calibri" pitchFamily="34" charset="0"/>
                <a:ea typeface="Calibri" pitchFamily="34" charset="-122"/>
                <a:cs typeface="Calibri" pitchFamily="34" charset="-120"/>
              </a:rPr>
              <a:t>Relationships between customers, devices, payment instruments</a:t>
            </a:r>
            <a:endParaRPr lang="en-US" sz="1250" dirty="0"/>
          </a:p>
        </p:txBody>
      </p:sp>
      <p:sp>
        <p:nvSpPr>
          <p:cNvPr id="19" name="Shape 17"/>
          <p:cNvSpPr/>
          <p:nvPr/>
        </p:nvSpPr>
        <p:spPr>
          <a:xfrm>
            <a:off x="502920" y="3803904"/>
            <a:ext cx="11155680" cy="658368"/>
          </a:xfrm>
          <a:prstGeom prst="roundRect">
            <a:avLst>
              <a:gd name="adj" fmla="val 1111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0" name="Shape 18"/>
          <p:cNvSpPr/>
          <p:nvPr/>
        </p:nvSpPr>
        <p:spPr>
          <a:xfrm>
            <a:off x="800100" y="3881628"/>
            <a:ext cx="502920" cy="502920"/>
          </a:xfrm>
          <a:prstGeom prst="ellipse">
            <a:avLst/>
          </a:prstGeom>
          <a:solidFill>
            <a:srgbClr val="8E5FD1"/>
          </a:solidFill>
          <a:ln/>
        </p:spPr>
      </p:sp>
      <p:sp>
        <p:nvSpPr>
          <p:cNvPr id="21" name="Text 19"/>
          <p:cNvSpPr/>
          <p:nvPr/>
        </p:nvSpPr>
        <p:spPr>
          <a:xfrm>
            <a:off x="800100" y="3881628"/>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4</a:t>
            </a:r>
            <a:endParaRPr lang="en-US" sz="1430" dirty="0"/>
          </a:p>
        </p:txBody>
      </p:sp>
      <p:sp>
        <p:nvSpPr>
          <p:cNvPr id="22" name="Text 20"/>
          <p:cNvSpPr/>
          <p:nvPr/>
        </p:nvSpPr>
        <p:spPr>
          <a:xfrm>
            <a:off x="1463040" y="3803904"/>
            <a:ext cx="3108960" cy="658368"/>
          </a:xfrm>
          <a:prstGeom prst="rect">
            <a:avLst/>
          </a:prstGeom>
          <a:noFill/>
          <a:ln/>
        </p:spPr>
        <p:txBody>
          <a:bodyPr wrap="square" rtlCol="0" anchor="ctr"/>
          <a:lstStyle/>
          <a:p>
            <a:pPr indent="0" marL="0">
              <a:buNone/>
            </a:pPr>
            <a:r>
              <a:rPr lang="en-US" sz="1400" b="1" dirty="0">
                <a:solidFill>
                  <a:srgbClr val="16234A"/>
                </a:solidFill>
                <a:latin typeface="Calibri" pitchFamily="34" charset="0"/>
                <a:ea typeface="Calibri" pitchFamily="34" charset="-122"/>
                <a:cs typeface="Calibri" pitchFamily="34" charset="-120"/>
              </a:rPr>
              <a:t>Fraud Ring Detection</a:t>
            </a:r>
            <a:endParaRPr lang="en-US" sz="1400" dirty="0"/>
          </a:p>
        </p:txBody>
      </p:sp>
      <p:sp>
        <p:nvSpPr>
          <p:cNvPr id="23" name="Text 21"/>
          <p:cNvSpPr/>
          <p:nvPr/>
        </p:nvSpPr>
        <p:spPr>
          <a:xfrm>
            <a:off x="4709160" y="3803904"/>
            <a:ext cx="6766560" cy="658368"/>
          </a:xfrm>
          <a:prstGeom prst="rect">
            <a:avLst/>
          </a:prstGeom>
          <a:noFill/>
          <a:ln/>
        </p:spPr>
        <p:txBody>
          <a:bodyPr wrap="square" rtlCol="0" anchor="ctr"/>
          <a:lstStyle/>
          <a:p>
            <a:pPr indent="0" marL="0">
              <a:buNone/>
            </a:pPr>
            <a:r>
              <a:rPr lang="en-US" sz="1250" dirty="0">
                <a:solidFill>
                  <a:srgbClr val="5B6B8C"/>
                </a:solidFill>
                <a:latin typeface="Calibri" pitchFamily="34" charset="0"/>
                <a:ea typeface="Calibri" pitchFamily="34" charset="-122"/>
                <a:cs typeface="Calibri" pitchFamily="34" charset="-120"/>
              </a:rPr>
              <a:t>Finds connected suspicious groups</a:t>
            </a:r>
            <a:endParaRPr lang="en-US" sz="1250" dirty="0"/>
          </a:p>
        </p:txBody>
      </p:sp>
      <p:sp>
        <p:nvSpPr>
          <p:cNvPr id="24" name="Shape 22"/>
          <p:cNvSpPr/>
          <p:nvPr/>
        </p:nvSpPr>
        <p:spPr>
          <a:xfrm>
            <a:off x="502920" y="4599432"/>
            <a:ext cx="11155680" cy="658368"/>
          </a:xfrm>
          <a:prstGeom prst="roundRect">
            <a:avLst>
              <a:gd name="adj" fmla="val 1111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5" name="Shape 23"/>
          <p:cNvSpPr/>
          <p:nvPr/>
        </p:nvSpPr>
        <p:spPr>
          <a:xfrm>
            <a:off x="800100" y="4677156"/>
            <a:ext cx="502920" cy="502920"/>
          </a:xfrm>
          <a:prstGeom prst="ellipse">
            <a:avLst/>
          </a:prstGeom>
          <a:solidFill>
            <a:srgbClr val="D1608E"/>
          </a:solidFill>
          <a:ln/>
        </p:spPr>
      </p:sp>
      <p:sp>
        <p:nvSpPr>
          <p:cNvPr id="26" name="Text 24"/>
          <p:cNvSpPr/>
          <p:nvPr/>
        </p:nvSpPr>
        <p:spPr>
          <a:xfrm>
            <a:off x="800100" y="4677156"/>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5</a:t>
            </a:r>
            <a:endParaRPr lang="en-US" sz="1430" dirty="0"/>
          </a:p>
        </p:txBody>
      </p:sp>
      <p:sp>
        <p:nvSpPr>
          <p:cNvPr id="27" name="Text 25"/>
          <p:cNvSpPr/>
          <p:nvPr/>
        </p:nvSpPr>
        <p:spPr>
          <a:xfrm>
            <a:off x="1463040" y="4599432"/>
            <a:ext cx="3108960" cy="658368"/>
          </a:xfrm>
          <a:prstGeom prst="rect">
            <a:avLst/>
          </a:prstGeom>
          <a:noFill/>
          <a:ln/>
        </p:spPr>
        <p:txBody>
          <a:bodyPr wrap="square" rtlCol="0" anchor="ctr"/>
          <a:lstStyle/>
          <a:p>
            <a:pPr indent="0" marL="0">
              <a:buNone/>
            </a:pPr>
            <a:r>
              <a:rPr lang="en-US" sz="1400" b="1" dirty="0">
                <a:solidFill>
                  <a:srgbClr val="16234A"/>
                </a:solidFill>
                <a:latin typeface="Calibri" pitchFamily="34" charset="0"/>
                <a:ea typeface="Calibri" pitchFamily="34" charset="-122"/>
                <a:cs typeface="Calibri" pitchFamily="34" charset="-120"/>
              </a:rPr>
              <a:t>Fraud Ring Classification</a:t>
            </a:r>
            <a:endParaRPr lang="en-US" sz="1400" dirty="0"/>
          </a:p>
        </p:txBody>
      </p:sp>
      <p:sp>
        <p:nvSpPr>
          <p:cNvPr id="28" name="Text 26"/>
          <p:cNvSpPr/>
          <p:nvPr/>
        </p:nvSpPr>
        <p:spPr>
          <a:xfrm>
            <a:off x="4709160" y="4599432"/>
            <a:ext cx="6766560" cy="658368"/>
          </a:xfrm>
          <a:prstGeom prst="rect">
            <a:avLst/>
          </a:prstGeom>
          <a:noFill/>
          <a:ln/>
        </p:spPr>
        <p:txBody>
          <a:bodyPr wrap="square" rtlCol="0" anchor="ctr"/>
          <a:lstStyle/>
          <a:p>
            <a:pPr indent="0" marL="0">
              <a:buNone/>
            </a:pPr>
            <a:r>
              <a:rPr lang="en-US" sz="1250" dirty="0">
                <a:solidFill>
                  <a:srgbClr val="5B6B8C"/>
                </a:solidFill>
                <a:latin typeface="Calibri" pitchFamily="34" charset="0"/>
                <a:ea typeface="Calibri" pitchFamily="34" charset="-122"/>
                <a:cs typeface="Calibri" pitchFamily="34" charset="-120"/>
              </a:rPr>
              <a:t>Classifies networks into fraud patterns</a:t>
            </a:r>
            <a:endParaRPr lang="en-US" sz="1250" dirty="0"/>
          </a:p>
        </p:txBody>
      </p:sp>
      <p:sp>
        <p:nvSpPr>
          <p:cNvPr id="29" name="Shape 27"/>
          <p:cNvSpPr/>
          <p:nvPr/>
        </p:nvSpPr>
        <p:spPr>
          <a:xfrm>
            <a:off x="502920" y="5394960"/>
            <a:ext cx="11155680" cy="658368"/>
          </a:xfrm>
          <a:prstGeom prst="roundRect">
            <a:avLst>
              <a:gd name="adj" fmla="val 1111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0" name="Shape 28"/>
          <p:cNvSpPr/>
          <p:nvPr/>
        </p:nvSpPr>
        <p:spPr>
          <a:xfrm>
            <a:off x="800100" y="5472684"/>
            <a:ext cx="502920" cy="502920"/>
          </a:xfrm>
          <a:prstGeom prst="ellipse">
            <a:avLst/>
          </a:prstGeom>
          <a:solidFill>
            <a:srgbClr val="101F3C"/>
          </a:solidFill>
          <a:ln/>
        </p:spPr>
      </p:sp>
      <p:sp>
        <p:nvSpPr>
          <p:cNvPr id="31" name="Text 29"/>
          <p:cNvSpPr/>
          <p:nvPr/>
        </p:nvSpPr>
        <p:spPr>
          <a:xfrm>
            <a:off x="800100" y="5472684"/>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6</a:t>
            </a:r>
            <a:endParaRPr lang="en-US" sz="1430" dirty="0"/>
          </a:p>
        </p:txBody>
      </p:sp>
      <p:sp>
        <p:nvSpPr>
          <p:cNvPr id="32" name="Text 30"/>
          <p:cNvSpPr/>
          <p:nvPr/>
        </p:nvSpPr>
        <p:spPr>
          <a:xfrm>
            <a:off x="1463040" y="5394960"/>
            <a:ext cx="3108960" cy="658368"/>
          </a:xfrm>
          <a:prstGeom prst="rect">
            <a:avLst/>
          </a:prstGeom>
          <a:noFill/>
          <a:ln/>
        </p:spPr>
        <p:txBody>
          <a:bodyPr wrap="square" rtlCol="0" anchor="ctr"/>
          <a:lstStyle/>
          <a:p>
            <a:pPr indent="0" marL="0">
              <a:buNone/>
            </a:pPr>
            <a:r>
              <a:rPr lang="en-US" sz="1400" b="1" dirty="0">
                <a:solidFill>
                  <a:srgbClr val="16234A"/>
                </a:solidFill>
                <a:latin typeface="Calibri" pitchFamily="34" charset="0"/>
                <a:ea typeface="Calibri" pitchFamily="34" charset="-122"/>
                <a:cs typeface="Calibri" pitchFamily="34" charset="-120"/>
              </a:rPr>
              <a:t>Final Risk Engine</a:t>
            </a:r>
            <a:endParaRPr lang="en-US" sz="1400" dirty="0"/>
          </a:p>
        </p:txBody>
      </p:sp>
      <p:sp>
        <p:nvSpPr>
          <p:cNvPr id="33" name="Text 31"/>
          <p:cNvSpPr/>
          <p:nvPr/>
        </p:nvSpPr>
        <p:spPr>
          <a:xfrm>
            <a:off x="4709160" y="5394960"/>
            <a:ext cx="6766560" cy="658368"/>
          </a:xfrm>
          <a:prstGeom prst="rect">
            <a:avLst/>
          </a:prstGeom>
          <a:noFill/>
          <a:ln/>
        </p:spPr>
        <p:txBody>
          <a:bodyPr wrap="square" rtlCol="0" anchor="ctr"/>
          <a:lstStyle/>
          <a:p>
            <a:pPr indent="0" marL="0">
              <a:buNone/>
            </a:pPr>
            <a:r>
              <a:rPr lang="en-US" sz="1250" dirty="0">
                <a:solidFill>
                  <a:srgbClr val="5B6B8C"/>
                </a:solidFill>
                <a:latin typeface="Calibri" pitchFamily="34" charset="0"/>
                <a:ea typeface="Calibri" pitchFamily="34" charset="-122"/>
                <a:cs typeface="Calibri" pitchFamily="34" charset="-120"/>
              </a:rPr>
              <a:t>Combines intelligence from all layers</a:t>
            </a:r>
            <a:endParaRPr lang="en-US" sz="1250" dirty="0"/>
          </a:p>
        </p:txBody>
      </p:sp>
      <p:sp>
        <p:nvSpPr>
          <p:cNvPr id="34" name="Text 32"/>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8 · PROPOSED SYSTEM</a:t>
            </a:r>
            <a:endParaRPr lang="en-US" sz="900" dirty="0"/>
          </a:p>
        </p:txBody>
      </p:sp>
      <p:sp>
        <p:nvSpPr>
          <p:cNvPr id="35" name="Text 33"/>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6" name="Text 34"/>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9</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Dataset</a:t>
            </a:r>
            <a:endParaRPr lang="en-US" sz="3000" dirty="0"/>
          </a:p>
        </p:txBody>
      </p:sp>
      <p:sp>
        <p:nvSpPr>
          <p:cNvPr id="4" name="Text 2"/>
          <p:cNvSpPr/>
          <p:nvPr/>
        </p:nvSpPr>
        <p:spPr>
          <a:xfrm>
            <a:off x="502920" y="1371600"/>
            <a:ext cx="11155680" cy="548640"/>
          </a:xfrm>
          <a:prstGeom prst="rect">
            <a:avLst/>
          </a:prstGeom>
          <a:noFill/>
          <a:ln/>
        </p:spPr>
        <p:txBody>
          <a:bodyPr wrap="square" rtlCol="0" anchor="ctr"/>
          <a:lstStyle/>
          <a:p>
            <a:pPr indent="0" marL="0">
              <a:buNone/>
            </a:pPr>
            <a:r>
              <a:rPr lang="en-US" sz="1350" dirty="0">
                <a:solidFill>
                  <a:srgbClr val="16234A"/>
                </a:solidFill>
                <a:latin typeface="Calibri" pitchFamily="34" charset="0"/>
                <a:ea typeface="Calibri" pitchFamily="34" charset="-122"/>
                <a:cs typeface="Calibri" pitchFamily="34" charset="-120"/>
              </a:rPr>
              <a:t>The project uses a synthetic financial / customer risk dataset, processed through the RISKNET AI pipeline into a fully-featured fraud ring classification table.</a:t>
            </a:r>
            <a:endParaRPr lang="en-US" sz="1350" dirty="0"/>
          </a:p>
        </p:txBody>
      </p:sp>
      <p:sp>
        <p:nvSpPr>
          <p:cNvPr id="5" name="Shape 3"/>
          <p:cNvSpPr/>
          <p:nvPr/>
        </p:nvSpPr>
        <p:spPr>
          <a:xfrm>
            <a:off x="502920" y="2103120"/>
            <a:ext cx="5440680" cy="3291840"/>
          </a:xfrm>
          <a:prstGeom prst="roundRect">
            <a:avLst>
              <a:gd name="adj" fmla="val 2222"/>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6" name="Text 4"/>
          <p:cNvSpPr/>
          <p:nvPr/>
        </p:nvSpPr>
        <p:spPr>
          <a:xfrm>
            <a:off x="777240" y="2331720"/>
            <a:ext cx="4846320" cy="274320"/>
          </a:xfrm>
          <a:prstGeom prst="rect">
            <a:avLst/>
          </a:prstGeom>
          <a:noFill/>
          <a:ln/>
        </p:spPr>
        <p:txBody>
          <a:bodyPr wrap="square" rtlCol="0" anchor="ctr"/>
          <a:lstStyle/>
          <a:p>
            <a:pPr indent="0" marL="0">
              <a:buNone/>
            </a:pPr>
            <a:r>
              <a:rPr lang="en-US" sz="1150" b="1" spc="100" kern="0" dirty="0">
                <a:solidFill>
                  <a:srgbClr val="F0A23A"/>
                </a:solidFill>
                <a:latin typeface="Calibri" pitchFamily="34" charset="0"/>
                <a:ea typeface="Calibri" pitchFamily="34" charset="-122"/>
                <a:cs typeface="Calibri" pitchFamily="34" charset="-120"/>
              </a:rPr>
              <a:t>RAW DATASET</a:t>
            </a:r>
            <a:endParaRPr lang="en-US" sz="1150" dirty="0"/>
          </a:p>
        </p:txBody>
      </p:sp>
      <p:sp>
        <p:nvSpPr>
          <p:cNvPr id="7" name="Text 5"/>
          <p:cNvSpPr/>
          <p:nvPr/>
        </p:nvSpPr>
        <p:spPr>
          <a:xfrm>
            <a:off x="777240" y="2743200"/>
            <a:ext cx="4846320" cy="914400"/>
          </a:xfrm>
          <a:prstGeom prst="rect">
            <a:avLst/>
          </a:prstGeom>
          <a:noFill/>
          <a:ln/>
        </p:spPr>
        <p:txBody>
          <a:bodyPr wrap="square"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AI_Risk_Manager_</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Synthetic_Dataset_v2.xlsx</a:t>
            </a:r>
            <a:endParaRPr lang="en-US" sz="1500" dirty="0"/>
          </a:p>
        </p:txBody>
      </p:sp>
      <p:sp>
        <p:nvSpPr>
          <p:cNvPr id="8" name="Text 6"/>
          <p:cNvSpPr/>
          <p:nvPr/>
        </p:nvSpPr>
        <p:spPr>
          <a:xfrm>
            <a:off x="777240" y="3794760"/>
            <a:ext cx="4846320" cy="1371600"/>
          </a:xfrm>
          <a:prstGeom prst="rect">
            <a:avLst/>
          </a:prstGeom>
          <a:noFill/>
          <a:ln/>
        </p:spPr>
        <p:txBody>
          <a:bodyPr wrap="square" rtlCol="0" anchor="ctr"/>
          <a:lstStyle/>
          <a:p>
            <a:pPr indent="0" marL="0">
              <a:lnSpc>
                <a:spcPct val="125000"/>
              </a:lnSpc>
              <a:buNone/>
            </a:pPr>
            <a:r>
              <a:rPr lang="en-US" sz="1200" dirty="0">
                <a:solidFill>
                  <a:srgbClr val="D8E3F5"/>
                </a:solidFill>
                <a:latin typeface="Calibri" pitchFamily="34" charset="0"/>
                <a:ea typeface="Calibri" pitchFamily="34" charset="-122"/>
                <a:cs typeface="Calibri" pitchFamily="34" charset="-120"/>
              </a:rPr>
              <a:t>Contains customer identity, financial behavior, transaction patterns, and raw source fields prior to feature engineering.</a:t>
            </a:r>
            <a:endParaRPr lang="en-US" sz="1200" dirty="0"/>
          </a:p>
        </p:txBody>
      </p:sp>
      <p:sp>
        <p:nvSpPr>
          <p:cNvPr id="9" name="Shape 7"/>
          <p:cNvSpPr/>
          <p:nvPr/>
        </p:nvSpPr>
        <p:spPr>
          <a:xfrm>
            <a:off x="6217920" y="2103120"/>
            <a:ext cx="5440680" cy="3291840"/>
          </a:xfrm>
          <a:prstGeom prst="roundRect">
            <a:avLst>
              <a:gd name="adj" fmla="val 2222"/>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0" name="Text 8"/>
          <p:cNvSpPr/>
          <p:nvPr/>
        </p:nvSpPr>
        <p:spPr>
          <a:xfrm>
            <a:off x="6492240" y="2331720"/>
            <a:ext cx="4846320" cy="274320"/>
          </a:xfrm>
          <a:prstGeom prst="rect">
            <a:avLst/>
          </a:prstGeom>
          <a:noFill/>
          <a:ln/>
        </p:spPr>
        <p:txBody>
          <a:bodyPr wrap="square" rtlCol="0" anchor="ctr"/>
          <a:lstStyle/>
          <a:p>
            <a:pPr indent="0" marL="0">
              <a:buNone/>
            </a:pPr>
            <a:r>
              <a:rPr lang="en-US" sz="1150" b="1" spc="100" kern="0" dirty="0">
                <a:solidFill>
                  <a:srgbClr val="3A6FF0"/>
                </a:solidFill>
                <a:latin typeface="Calibri" pitchFamily="34" charset="0"/>
                <a:ea typeface="Calibri" pitchFamily="34" charset="-122"/>
                <a:cs typeface="Calibri" pitchFamily="34" charset="-120"/>
              </a:rPr>
              <a:t>PROCESSED DATASET</a:t>
            </a:r>
            <a:endParaRPr lang="en-US" sz="1150" dirty="0"/>
          </a:p>
        </p:txBody>
      </p:sp>
      <p:sp>
        <p:nvSpPr>
          <p:cNvPr id="11" name="Text 9"/>
          <p:cNvSpPr/>
          <p:nvPr/>
        </p:nvSpPr>
        <p:spPr>
          <a:xfrm>
            <a:off x="6492240" y="2743200"/>
            <a:ext cx="4846320" cy="548640"/>
          </a:xfrm>
          <a:prstGeom prst="rect">
            <a:avLst/>
          </a:prstGeom>
          <a:noFill/>
          <a:ln/>
        </p:spPr>
        <p:txBody>
          <a:bodyPr wrap="square" rtlCol="0" anchor="ctr"/>
          <a:lstStyle/>
          <a:p>
            <a:pPr indent="0" marL="0">
              <a:buNone/>
            </a:pPr>
            <a:r>
              <a:rPr lang="en-US" sz="1500" dirty="0">
                <a:solidFill>
                  <a:srgbClr val="16234A"/>
                </a:solidFill>
                <a:latin typeface="Courier New" pitchFamily="34" charset="0"/>
                <a:ea typeface="Courier New" pitchFamily="34" charset="-122"/>
                <a:cs typeface="Courier New" pitchFamily="34" charset="-120"/>
              </a:rPr>
              <a:t>fraud_ring_classification.csv</a:t>
            </a:r>
            <a:endParaRPr lang="en-US" sz="1500" dirty="0"/>
          </a:p>
        </p:txBody>
      </p:sp>
      <p:sp>
        <p:nvSpPr>
          <p:cNvPr id="12" name="Text 10"/>
          <p:cNvSpPr/>
          <p:nvPr/>
        </p:nvSpPr>
        <p:spPr>
          <a:xfrm>
            <a:off x="6492240" y="3429000"/>
            <a:ext cx="4846320" cy="1737360"/>
          </a:xfrm>
          <a:prstGeom prst="rect">
            <a:avLst/>
          </a:prstGeom>
          <a:noFill/>
          <a:ln/>
        </p:spPr>
        <p:txBody>
          <a:bodyPr wrap="square" rtlCol="0" anchor="ctr"/>
          <a:lstStyle/>
          <a:p>
            <a:pPr indent="0" marL="0">
              <a:lnSpc>
                <a:spcPct val="125000"/>
              </a:lnSpc>
              <a:buNone/>
            </a:pPr>
            <a:r>
              <a:rPr lang="en-US" sz="1200" dirty="0">
                <a:solidFill>
                  <a:srgbClr val="5B6B8C"/>
                </a:solidFill>
                <a:latin typeface="Calibri" pitchFamily="34" charset="0"/>
                <a:ea typeface="Calibri" pitchFamily="34" charset="-122"/>
                <a:cs typeface="Calibri" pitchFamily="34" charset="-120"/>
              </a:rPr>
              <a:t>Contains customer identity, financial behavior, transaction patterns, risk features, and graph intelligence results — ready for ML, graph, and dashboard consumption.</a:t>
            </a:r>
            <a:endParaRPr lang="en-US" sz="1200" dirty="0"/>
          </a:p>
        </p:txBody>
      </p:sp>
      <p:sp>
        <p:nvSpPr>
          <p:cNvPr id="13" name="Text 11"/>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9 · DATASET</a:t>
            </a:r>
            <a:endParaRPr lang="en-US" sz="900" dirty="0"/>
          </a:p>
        </p:txBody>
      </p:sp>
      <p:sp>
        <p:nvSpPr>
          <p:cNvPr id="14" name="Text 12"/>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15" name="Text 13"/>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10</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Dataset Features I — Identity, Financial &amp; Network</a:t>
            </a:r>
            <a:endParaRPr lang="en-US" sz="3000" dirty="0"/>
          </a:p>
        </p:txBody>
      </p:sp>
      <p:sp>
        <p:nvSpPr>
          <p:cNvPr id="4" name="Shape 2"/>
          <p:cNvSpPr/>
          <p:nvPr/>
        </p:nvSpPr>
        <p:spPr>
          <a:xfrm>
            <a:off x="502920" y="1417320"/>
            <a:ext cx="3611880" cy="502920"/>
          </a:xfrm>
          <a:prstGeom prst="roundRect">
            <a:avLst>
              <a:gd name="adj" fmla="val 14545"/>
            </a:avLst>
          </a:prstGeom>
          <a:solidFill>
            <a:srgbClr val="3A6FF0"/>
          </a:solidFill>
          <a:ln/>
        </p:spPr>
      </p:sp>
      <p:sp>
        <p:nvSpPr>
          <p:cNvPr id="5" name="Text 3"/>
          <p:cNvSpPr/>
          <p:nvPr/>
        </p:nvSpPr>
        <p:spPr>
          <a:xfrm>
            <a:off x="685800" y="1417320"/>
            <a:ext cx="324612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CUSTOMER IDENTITY</a:t>
            </a:r>
            <a:endParaRPr lang="en-US" sz="1300" dirty="0"/>
          </a:p>
        </p:txBody>
      </p:sp>
      <p:sp>
        <p:nvSpPr>
          <p:cNvPr id="6" name="Shape 4"/>
          <p:cNvSpPr/>
          <p:nvPr/>
        </p:nvSpPr>
        <p:spPr>
          <a:xfrm>
            <a:off x="502920" y="1920240"/>
            <a:ext cx="3611880" cy="384048"/>
          </a:xfrm>
          <a:prstGeom prst="rect">
            <a:avLst/>
          </a:prstGeom>
          <a:solidFill>
            <a:srgbClr val="FFFFFF"/>
          </a:solidFill>
          <a:ln w="6350">
            <a:solidFill>
              <a:srgbClr val="E2E7F1"/>
            </a:solidFill>
            <a:prstDash val="solid"/>
          </a:ln>
        </p:spPr>
      </p:sp>
      <p:sp>
        <p:nvSpPr>
          <p:cNvPr id="7" name="Text 5"/>
          <p:cNvSpPr/>
          <p:nvPr/>
        </p:nvSpPr>
        <p:spPr>
          <a:xfrm>
            <a:off x="640080" y="192024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customer_id</a:t>
            </a:r>
            <a:endParaRPr lang="en-US" sz="950" dirty="0"/>
          </a:p>
        </p:txBody>
      </p:sp>
      <p:sp>
        <p:nvSpPr>
          <p:cNvPr id="8" name="Text 6"/>
          <p:cNvSpPr/>
          <p:nvPr/>
        </p:nvSpPr>
        <p:spPr>
          <a:xfrm>
            <a:off x="2092147" y="192024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Unique customer identifier</a:t>
            </a:r>
            <a:endParaRPr lang="en-US" sz="1000" dirty="0"/>
          </a:p>
        </p:txBody>
      </p:sp>
      <p:sp>
        <p:nvSpPr>
          <p:cNvPr id="9" name="Shape 7"/>
          <p:cNvSpPr/>
          <p:nvPr/>
        </p:nvSpPr>
        <p:spPr>
          <a:xfrm>
            <a:off x="502920" y="2304288"/>
            <a:ext cx="3611880" cy="384048"/>
          </a:xfrm>
          <a:prstGeom prst="rect">
            <a:avLst/>
          </a:prstGeom>
          <a:solidFill>
            <a:srgbClr val="EDF1FA"/>
          </a:solidFill>
          <a:ln w="6350">
            <a:solidFill>
              <a:srgbClr val="E2E7F1"/>
            </a:solidFill>
            <a:prstDash val="solid"/>
          </a:ln>
        </p:spPr>
      </p:sp>
      <p:sp>
        <p:nvSpPr>
          <p:cNvPr id="10" name="Text 8"/>
          <p:cNvSpPr/>
          <p:nvPr/>
        </p:nvSpPr>
        <p:spPr>
          <a:xfrm>
            <a:off x="640080" y="2304288"/>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synthetic_pan</a:t>
            </a:r>
            <a:endParaRPr lang="en-US" sz="950" dirty="0"/>
          </a:p>
        </p:txBody>
      </p:sp>
      <p:sp>
        <p:nvSpPr>
          <p:cNvPr id="11" name="Text 9"/>
          <p:cNvSpPr/>
          <p:nvPr/>
        </p:nvSpPr>
        <p:spPr>
          <a:xfrm>
            <a:off x="2092147" y="2304288"/>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Synthetic PAN information</a:t>
            </a:r>
            <a:endParaRPr lang="en-US" sz="1000" dirty="0"/>
          </a:p>
        </p:txBody>
      </p:sp>
      <p:sp>
        <p:nvSpPr>
          <p:cNvPr id="12" name="Shape 10"/>
          <p:cNvSpPr/>
          <p:nvPr/>
        </p:nvSpPr>
        <p:spPr>
          <a:xfrm>
            <a:off x="502920" y="2688336"/>
            <a:ext cx="3611880" cy="384048"/>
          </a:xfrm>
          <a:prstGeom prst="rect">
            <a:avLst/>
          </a:prstGeom>
          <a:solidFill>
            <a:srgbClr val="FFFFFF"/>
          </a:solidFill>
          <a:ln w="6350">
            <a:solidFill>
              <a:srgbClr val="E2E7F1"/>
            </a:solidFill>
            <a:prstDash val="solid"/>
          </a:ln>
        </p:spPr>
      </p:sp>
      <p:sp>
        <p:nvSpPr>
          <p:cNvPr id="13" name="Text 11"/>
          <p:cNvSpPr/>
          <p:nvPr/>
        </p:nvSpPr>
        <p:spPr>
          <a:xfrm>
            <a:off x="640080" y="2688336"/>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full_name</a:t>
            </a:r>
            <a:endParaRPr lang="en-US" sz="950" dirty="0"/>
          </a:p>
        </p:txBody>
      </p:sp>
      <p:sp>
        <p:nvSpPr>
          <p:cNvPr id="14" name="Text 12"/>
          <p:cNvSpPr/>
          <p:nvPr/>
        </p:nvSpPr>
        <p:spPr>
          <a:xfrm>
            <a:off x="2092147" y="2688336"/>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Customer name</a:t>
            </a:r>
            <a:endParaRPr lang="en-US" sz="1000" dirty="0"/>
          </a:p>
        </p:txBody>
      </p:sp>
      <p:sp>
        <p:nvSpPr>
          <p:cNvPr id="15" name="Shape 13"/>
          <p:cNvSpPr/>
          <p:nvPr/>
        </p:nvSpPr>
        <p:spPr>
          <a:xfrm>
            <a:off x="502920" y="3072384"/>
            <a:ext cx="3611880" cy="384048"/>
          </a:xfrm>
          <a:prstGeom prst="rect">
            <a:avLst/>
          </a:prstGeom>
          <a:solidFill>
            <a:srgbClr val="EDF1FA"/>
          </a:solidFill>
          <a:ln w="6350">
            <a:solidFill>
              <a:srgbClr val="E2E7F1"/>
            </a:solidFill>
            <a:prstDash val="solid"/>
          </a:ln>
        </p:spPr>
      </p:sp>
      <p:sp>
        <p:nvSpPr>
          <p:cNvPr id="16" name="Text 14"/>
          <p:cNvSpPr/>
          <p:nvPr/>
        </p:nvSpPr>
        <p:spPr>
          <a:xfrm>
            <a:off x="640080" y="3072384"/>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city</a:t>
            </a:r>
            <a:endParaRPr lang="en-US" sz="950" dirty="0"/>
          </a:p>
        </p:txBody>
      </p:sp>
      <p:sp>
        <p:nvSpPr>
          <p:cNvPr id="17" name="Text 15"/>
          <p:cNvSpPr/>
          <p:nvPr/>
        </p:nvSpPr>
        <p:spPr>
          <a:xfrm>
            <a:off x="2092147" y="3072384"/>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Customer city</a:t>
            </a:r>
            <a:endParaRPr lang="en-US" sz="1000" dirty="0"/>
          </a:p>
        </p:txBody>
      </p:sp>
      <p:sp>
        <p:nvSpPr>
          <p:cNvPr id="18" name="Shape 16"/>
          <p:cNvSpPr/>
          <p:nvPr/>
        </p:nvSpPr>
        <p:spPr>
          <a:xfrm>
            <a:off x="502920" y="3456432"/>
            <a:ext cx="3611880" cy="384048"/>
          </a:xfrm>
          <a:prstGeom prst="rect">
            <a:avLst/>
          </a:prstGeom>
          <a:solidFill>
            <a:srgbClr val="FFFFFF"/>
          </a:solidFill>
          <a:ln w="6350">
            <a:solidFill>
              <a:srgbClr val="E2E7F1"/>
            </a:solidFill>
            <a:prstDash val="solid"/>
          </a:ln>
        </p:spPr>
      </p:sp>
      <p:sp>
        <p:nvSpPr>
          <p:cNvPr id="19" name="Text 17"/>
          <p:cNvSpPr/>
          <p:nvPr/>
        </p:nvSpPr>
        <p:spPr>
          <a:xfrm>
            <a:off x="640080" y="3456432"/>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kyc_status</a:t>
            </a:r>
            <a:endParaRPr lang="en-US" sz="950" dirty="0"/>
          </a:p>
        </p:txBody>
      </p:sp>
      <p:sp>
        <p:nvSpPr>
          <p:cNvPr id="20" name="Text 18"/>
          <p:cNvSpPr/>
          <p:nvPr/>
        </p:nvSpPr>
        <p:spPr>
          <a:xfrm>
            <a:off x="2092147" y="3456432"/>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KYC verification status</a:t>
            </a:r>
            <a:endParaRPr lang="en-US" sz="1000" dirty="0"/>
          </a:p>
        </p:txBody>
      </p:sp>
      <p:sp>
        <p:nvSpPr>
          <p:cNvPr id="21" name="Shape 19"/>
          <p:cNvSpPr/>
          <p:nvPr/>
        </p:nvSpPr>
        <p:spPr>
          <a:xfrm>
            <a:off x="502920" y="3840480"/>
            <a:ext cx="3611880" cy="384048"/>
          </a:xfrm>
          <a:prstGeom prst="rect">
            <a:avLst/>
          </a:prstGeom>
          <a:solidFill>
            <a:srgbClr val="EDF1FA"/>
          </a:solidFill>
          <a:ln w="6350">
            <a:solidFill>
              <a:srgbClr val="E2E7F1"/>
            </a:solidFill>
            <a:prstDash val="solid"/>
          </a:ln>
        </p:spPr>
      </p:sp>
      <p:sp>
        <p:nvSpPr>
          <p:cNvPr id="22" name="Text 20"/>
          <p:cNvSpPr/>
          <p:nvPr/>
        </p:nvSpPr>
        <p:spPr>
          <a:xfrm>
            <a:off x="640080" y="384048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pan_status</a:t>
            </a:r>
            <a:endParaRPr lang="en-US" sz="950" dirty="0"/>
          </a:p>
        </p:txBody>
      </p:sp>
      <p:sp>
        <p:nvSpPr>
          <p:cNvPr id="23" name="Text 21"/>
          <p:cNvSpPr/>
          <p:nvPr/>
        </p:nvSpPr>
        <p:spPr>
          <a:xfrm>
            <a:off x="2092147" y="384048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PAN verification status</a:t>
            </a:r>
            <a:endParaRPr lang="en-US" sz="1000" dirty="0"/>
          </a:p>
        </p:txBody>
      </p:sp>
      <p:sp>
        <p:nvSpPr>
          <p:cNvPr id="24" name="Shape 22"/>
          <p:cNvSpPr/>
          <p:nvPr/>
        </p:nvSpPr>
        <p:spPr>
          <a:xfrm>
            <a:off x="502920" y="4224528"/>
            <a:ext cx="3611880" cy="384048"/>
          </a:xfrm>
          <a:prstGeom prst="rect">
            <a:avLst/>
          </a:prstGeom>
          <a:solidFill>
            <a:srgbClr val="FFFFFF"/>
          </a:solidFill>
          <a:ln w="6350">
            <a:solidFill>
              <a:srgbClr val="E2E7F1"/>
            </a:solidFill>
            <a:prstDash val="solid"/>
          </a:ln>
        </p:spPr>
      </p:sp>
      <p:sp>
        <p:nvSpPr>
          <p:cNvPr id="25" name="Text 23"/>
          <p:cNvSpPr/>
          <p:nvPr/>
        </p:nvSpPr>
        <p:spPr>
          <a:xfrm>
            <a:off x="640080" y="4224528"/>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identity_match</a:t>
            </a:r>
            <a:endParaRPr lang="en-US" sz="950" dirty="0"/>
          </a:p>
        </p:txBody>
      </p:sp>
      <p:sp>
        <p:nvSpPr>
          <p:cNvPr id="26" name="Text 24"/>
          <p:cNvSpPr/>
          <p:nvPr/>
        </p:nvSpPr>
        <p:spPr>
          <a:xfrm>
            <a:off x="2092147" y="4224528"/>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Identity verification result</a:t>
            </a:r>
            <a:endParaRPr lang="en-US" sz="1000" dirty="0"/>
          </a:p>
        </p:txBody>
      </p:sp>
      <p:sp>
        <p:nvSpPr>
          <p:cNvPr id="27" name="Shape 25"/>
          <p:cNvSpPr/>
          <p:nvPr/>
        </p:nvSpPr>
        <p:spPr>
          <a:xfrm>
            <a:off x="4297680" y="1417320"/>
            <a:ext cx="3611880" cy="502920"/>
          </a:xfrm>
          <a:prstGeom prst="roundRect">
            <a:avLst>
              <a:gd name="adj" fmla="val 14545"/>
            </a:avLst>
          </a:prstGeom>
          <a:solidFill>
            <a:srgbClr val="2E9E62"/>
          </a:solidFill>
          <a:ln/>
        </p:spPr>
      </p:sp>
      <p:sp>
        <p:nvSpPr>
          <p:cNvPr id="28" name="Text 26"/>
          <p:cNvSpPr/>
          <p:nvPr/>
        </p:nvSpPr>
        <p:spPr>
          <a:xfrm>
            <a:off x="4480560" y="1417320"/>
            <a:ext cx="324612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FINANCIAL</a:t>
            </a:r>
            <a:endParaRPr lang="en-US" sz="1300" dirty="0"/>
          </a:p>
        </p:txBody>
      </p:sp>
      <p:sp>
        <p:nvSpPr>
          <p:cNvPr id="29" name="Shape 27"/>
          <p:cNvSpPr/>
          <p:nvPr/>
        </p:nvSpPr>
        <p:spPr>
          <a:xfrm>
            <a:off x="4297680" y="1920240"/>
            <a:ext cx="3611880" cy="384048"/>
          </a:xfrm>
          <a:prstGeom prst="rect">
            <a:avLst/>
          </a:prstGeom>
          <a:solidFill>
            <a:srgbClr val="FFFFFF"/>
          </a:solidFill>
          <a:ln w="6350">
            <a:solidFill>
              <a:srgbClr val="E2E7F1"/>
            </a:solidFill>
            <a:prstDash val="solid"/>
          </a:ln>
        </p:spPr>
      </p:sp>
      <p:sp>
        <p:nvSpPr>
          <p:cNvPr id="30" name="Text 28"/>
          <p:cNvSpPr/>
          <p:nvPr/>
        </p:nvSpPr>
        <p:spPr>
          <a:xfrm>
            <a:off x="4434840" y="192024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credit_score</a:t>
            </a:r>
            <a:endParaRPr lang="en-US" sz="950" dirty="0"/>
          </a:p>
        </p:txBody>
      </p:sp>
      <p:sp>
        <p:nvSpPr>
          <p:cNvPr id="31" name="Text 29"/>
          <p:cNvSpPr/>
          <p:nvPr/>
        </p:nvSpPr>
        <p:spPr>
          <a:xfrm>
            <a:off x="5886907" y="192024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Customer credit score</a:t>
            </a:r>
            <a:endParaRPr lang="en-US" sz="1000" dirty="0"/>
          </a:p>
        </p:txBody>
      </p:sp>
      <p:sp>
        <p:nvSpPr>
          <p:cNvPr id="32" name="Shape 30"/>
          <p:cNvSpPr/>
          <p:nvPr/>
        </p:nvSpPr>
        <p:spPr>
          <a:xfrm>
            <a:off x="4297680" y="2304288"/>
            <a:ext cx="3611880" cy="384048"/>
          </a:xfrm>
          <a:prstGeom prst="rect">
            <a:avLst/>
          </a:prstGeom>
          <a:solidFill>
            <a:srgbClr val="EDF1FA"/>
          </a:solidFill>
          <a:ln w="6350">
            <a:solidFill>
              <a:srgbClr val="E2E7F1"/>
            </a:solidFill>
            <a:prstDash val="solid"/>
          </a:ln>
        </p:spPr>
      </p:sp>
      <p:sp>
        <p:nvSpPr>
          <p:cNvPr id="33" name="Text 31"/>
          <p:cNvSpPr/>
          <p:nvPr/>
        </p:nvSpPr>
        <p:spPr>
          <a:xfrm>
            <a:off x="4434840" y="2304288"/>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monthly_income_inr</a:t>
            </a:r>
            <a:endParaRPr lang="en-US" sz="950" dirty="0"/>
          </a:p>
        </p:txBody>
      </p:sp>
      <p:sp>
        <p:nvSpPr>
          <p:cNvPr id="34" name="Text 32"/>
          <p:cNvSpPr/>
          <p:nvPr/>
        </p:nvSpPr>
        <p:spPr>
          <a:xfrm>
            <a:off x="5886907" y="2304288"/>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Monthly income</a:t>
            </a:r>
            <a:endParaRPr lang="en-US" sz="1000" dirty="0"/>
          </a:p>
        </p:txBody>
      </p:sp>
      <p:sp>
        <p:nvSpPr>
          <p:cNvPr id="35" name="Shape 33"/>
          <p:cNvSpPr/>
          <p:nvPr/>
        </p:nvSpPr>
        <p:spPr>
          <a:xfrm>
            <a:off x="4297680" y="2688336"/>
            <a:ext cx="3611880" cy="384048"/>
          </a:xfrm>
          <a:prstGeom prst="rect">
            <a:avLst/>
          </a:prstGeom>
          <a:solidFill>
            <a:srgbClr val="FFFFFF"/>
          </a:solidFill>
          <a:ln w="6350">
            <a:solidFill>
              <a:srgbClr val="E2E7F1"/>
            </a:solidFill>
            <a:prstDash val="solid"/>
          </a:ln>
        </p:spPr>
      </p:sp>
      <p:sp>
        <p:nvSpPr>
          <p:cNvPr id="36" name="Text 34"/>
          <p:cNvSpPr/>
          <p:nvPr/>
        </p:nvSpPr>
        <p:spPr>
          <a:xfrm>
            <a:off x="4434840" y="2688336"/>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account_age_months</a:t>
            </a:r>
            <a:endParaRPr lang="en-US" sz="950" dirty="0"/>
          </a:p>
        </p:txBody>
      </p:sp>
      <p:sp>
        <p:nvSpPr>
          <p:cNvPr id="37" name="Text 35"/>
          <p:cNvSpPr/>
          <p:nvPr/>
        </p:nvSpPr>
        <p:spPr>
          <a:xfrm>
            <a:off x="5886907" y="2688336"/>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Account age</a:t>
            </a:r>
            <a:endParaRPr lang="en-US" sz="1000" dirty="0"/>
          </a:p>
        </p:txBody>
      </p:sp>
      <p:sp>
        <p:nvSpPr>
          <p:cNvPr id="38" name="Shape 36"/>
          <p:cNvSpPr/>
          <p:nvPr/>
        </p:nvSpPr>
        <p:spPr>
          <a:xfrm>
            <a:off x="8092440" y="1417320"/>
            <a:ext cx="3611880" cy="502920"/>
          </a:xfrm>
          <a:prstGeom prst="roundRect">
            <a:avLst>
              <a:gd name="adj" fmla="val 14545"/>
            </a:avLst>
          </a:prstGeom>
          <a:solidFill>
            <a:srgbClr val="F0A23A"/>
          </a:solidFill>
          <a:ln/>
        </p:spPr>
      </p:sp>
      <p:sp>
        <p:nvSpPr>
          <p:cNvPr id="39" name="Text 37"/>
          <p:cNvSpPr/>
          <p:nvPr/>
        </p:nvSpPr>
        <p:spPr>
          <a:xfrm>
            <a:off x="8275320" y="1417320"/>
            <a:ext cx="324612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40" name="Shape 38"/>
          <p:cNvSpPr/>
          <p:nvPr/>
        </p:nvSpPr>
        <p:spPr>
          <a:xfrm>
            <a:off x="8092440" y="1920240"/>
            <a:ext cx="3611880" cy="384048"/>
          </a:xfrm>
          <a:prstGeom prst="rect">
            <a:avLst/>
          </a:prstGeom>
          <a:solidFill>
            <a:srgbClr val="FFFFFF"/>
          </a:solidFill>
          <a:ln w="6350">
            <a:solidFill>
              <a:srgbClr val="E2E7F1"/>
            </a:solidFill>
            <a:prstDash val="solid"/>
          </a:ln>
        </p:spPr>
      </p:sp>
      <p:sp>
        <p:nvSpPr>
          <p:cNvPr id="41" name="Text 39"/>
          <p:cNvSpPr/>
          <p:nvPr/>
        </p:nvSpPr>
        <p:spPr>
          <a:xfrm>
            <a:off x="8229600" y="192024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device_id</a:t>
            </a:r>
            <a:endParaRPr lang="en-US" sz="950" dirty="0"/>
          </a:p>
        </p:txBody>
      </p:sp>
      <p:sp>
        <p:nvSpPr>
          <p:cNvPr id="42" name="Text 40"/>
          <p:cNvSpPr/>
          <p:nvPr/>
        </p:nvSpPr>
        <p:spPr>
          <a:xfrm>
            <a:off x="9681667" y="192024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Device identifier</a:t>
            </a:r>
            <a:endParaRPr lang="en-US" sz="1000" dirty="0"/>
          </a:p>
        </p:txBody>
      </p:sp>
      <p:sp>
        <p:nvSpPr>
          <p:cNvPr id="43" name="Shape 41"/>
          <p:cNvSpPr/>
          <p:nvPr/>
        </p:nvSpPr>
        <p:spPr>
          <a:xfrm>
            <a:off x="8092440" y="2304288"/>
            <a:ext cx="3611880" cy="384048"/>
          </a:xfrm>
          <a:prstGeom prst="rect">
            <a:avLst/>
          </a:prstGeom>
          <a:solidFill>
            <a:srgbClr val="EDF1FA"/>
          </a:solidFill>
          <a:ln w="6350">
            <a:solidFill>
              <a:srgbClr val="E2E7F1"/>
            </a:solidFill>
            <a:prstDash val="solid"/>
          </a:ln>
        </p:spPr>
      </p:sp>
      <p:sp>
        <p:nvSpPr>
          <p:cNvPr id="44" name="Text 42"/>
          <p:cNvSpPr/>
          <p:nvPr/>
        </p:nvSpPr>
        <p:spPr>
          <a:xfrm>
            <a:off x="8229600" y="2304288"/>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primary_payment_</a:t>
            </a:r>
            <a:endParaRPr lang="en-US" sz="950" dirty="0"/>
          </a:p>
          <a:p>
            <a:pPr indent="0" marL="0">
              <a:buNone/>
            </a:pPr>
            <a:r>
              <a:rPr lang="en-US" sz="950" b="1" dirty="0">
                <a:solidFill>
                  <a:srgbClr val="3A6FF0"/>
                </a:solidFill>
                <a:latin typeface="Courier New" pitchFamily="34" charset="0"/>
                <a:ea typeface="Courier New" pitchFamily="34" charset="-122"/>
                <a:cs typeface="Courier New" pitchFamily="34" charset="-120"/>
              </a:rPr>
              <a:t>instrument_id</a:t>
            </a:r>
            <a:endParaRPr lang="en-US" sz="950" dirty="0"/>
          </a:p>
        </p:txBody>
      </p:sp>
      <p:sp>
        <p:nvSpPr>
          <p:cNvPr id="45" name="Text 43"/>
          <p:cNvSpPr/>
          <p:nvPr/>
        </p:nvSpPr>
        <p:spPr>
          <a:xfrm>
            <a:off x="9681667" y="2304288"/>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Payment instrument identifier</a:t>
            </a:r>
            <a:endParaRPr lang="en-US" sz="1000" dirty="0"/>
          </a:p>
        </p:txBody>
      </p:sp>
      <p:sp>
        <p:nvSpPr>
          <p:cNvPr id="46" name="Shape 44"/>
          <p:cNvSpPr/>
          <p:nvPr/>
        </p:nvSpPr>
        <p:spPr>
          <a:xfrm>
            <a:off x="8092440" y="2688336"/>
            <a:ext cx="3611880" cy="384048"/>
          </a:xfrm>
          <a:prstGeom prst="rect">
            <a:avLst/>
          </a:prstGeom>
          <a:solidFill>
            <a:srgbClr val="FFFFFF"/>
          </a:solidFill>
          <a:ln w="6350">
            <a:solidFill>
              <a:srgbClr val="E2E7F1"/>
            </a:solidFill>
            <a:prstDash val="solid"/>
          </a:ln>
        </p:spPr>
      </p:sp>
      <p:sp>
        <p:nvSpPr>
          <p:cNvPr id="47" name="Text 45"/>
          <p:cNvSpPr/>
          <p:nvPr/>
        </p:nvSpPr>
        <p:spPr>
          <a:xfrm>
            <a:off x="8229600" y="2688336"/>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ring_id</a:t>
            </a:r>
            <a:endParaRPr lang="en-US" sz="950" dirty="0"/>
          </a:p>
        </p:txBody>
      </p:sp>
      <p:sp>
        <p:nvSpPr>
          <p:cNvPr id="48" name="Text 46"/>
          <p:cNvSpPr/>
          <p:nvPr/>
        </p:nvSpPr>
        <p:spPr>
          <a:xfrm>
            <a:off x="9681667" y="2688336"/>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Fraud network identifier</a:t>
            </a:r>
            <a:endParaRPr lang="en-US" sz="1000" dirty="0"/>
          </a:p>
        </p:txBody>
      </p:sp>
      <p:sp>
        <p:nvSpPr>
          <p:cNvPr id="49" name="Shape 47"/>
          <p:cNvSpPr/>
          <p:nvPr/>
        </p:nvSpPr>
        <p:spPr>
          <a:xfrm>
            <a:off x="8092440" y="3072384"/>
            <a:ext cx="3611880" cy="384048"/>
          </a:xfrm>
          <a:prstGeom prst="rect">
            <a:avLst/>
          </a:prstGeom>
          <a:solidFill>
            <a:srgbClr val="EDF1FA"/>
          </a:solidFill>
          <a:ln w="6350">
            <a:solidFill>
              <a:srgbClr val="E2E7F1"/>
            </a:solidFill>
            <a:prstDash val="solid"/>
          </a:ln>
        </p:spPr>
      </p:sp>
      <p:sp>
        <p:nvSpPr>
          <p:cNvPr id="50" name="Text 48"/>
          <p:cNvSpPr/>
          <p:nvPr/>
        </p:nvSpPr>
        <p:spPr>
          <a:xfrm>
            <a:off x="8229600" y="3072384"/>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ring_customer_count</a:t>
            </a:r>
            <a:endParaRPr lang="en-US" sz="950" dirty="0"/>
          </a:p>
        </p:txBody>
      </p:sp>
      <p:sp>
        <p:nvSpPr>
          <p:cNvPr id="51" name="Text 49"/>
          <p:cNvSpPr/>
          <p:nvPr/>
        </p:nvSpPr>
        <p:spPr>
          <a:xfrm>
            <a:off x="9681667" y="3072384"/>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Number of customers in ring</a:t>
            </a:r>
            <a:endParaRPr lang="en-US" sz="1000" dirty="0"/>
          </a:p>
        </p:txBody>
      </p:sp>
      <p:sp>
        <p:nvSpPr>
          <p:cNvPr id="52" name="Shape 50"/>
          <p:cNvSpPr/>
          <p:nvPr/>
        </p:nvSpPr>
        <p:spPr>
          <a:xfrm>
            <a:off x="8092440" y="3456432"/>
            <a:ext cx="3611880" cy="384048"/>
          </a:xfrm>
          <a:prstGeom prst="rect">
            <a:avLst/>
          </a:prstGeom>
          <a:solidFill>
            <a:srgbClr val="FFFFFF"/>
          </a:solidFill>
          <a:ln w="6350">
            <a:solidFill>
              <a:srgbClr val="E2E7F1"/>
            </a:solidFill>
            <a:prstDash val="solid"/>
          </a:ln>
        </p:spPr>
      </p:sp>
      <p:sp>
        <p:nvSpPr>
          <p:cNvPr id="53" name="Text 51"/>
          <p:cNvSpPr/>
          <p:nvPr/>
        </p:nvSpPr>
        <p:spPr>
          <a:xfrm>
            <a:off x="8229600" y="3456432"/>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ring_node_count</a:t>
            </a:r>
            <a:endParaRPr lang="en-US" sz="950" dirty="0"/>
          </a:p>
        </p:txBody>
      </p:sp>
      <p:sp>
        <p:nvSpPr>
          <p:cNvPr id="54" name="Text 52"/>
          <p:cNvSpPr/>
          <p:nvPr/>
        </p:nvSpPr>
        <p:spPr>
          <a:xfrm>
            <a:off x="9681667" y="3456432"/>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Total nodes in network</a:t>
            </a:r>
            <a:endParaRPr lang="en-US" sz="1000" dirty="0"/>
          </a:p>
        </p:txBody>
      </p:sp>
      <p:sp>
        <p:nvSpPr>
          <p:cNvPr id="55" name="Text 53"/>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10 · DATASET FEATURES</a:t>
            </a:r>
            <a:endParaRPr lang="en-US" sz="900" dirty="0"/>
          </a:p>
        </p:txBody>
      </p:sp>
      <p:sp>
        <p:nvSpPr>
          <p:cNvPr id="56" name="Text 54"/>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57" name="Text 55"/>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10</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Dataset Features II — Transaction, Engineered &amp; Risk</a:t>
            </a:r>
            <a:endParaRPr lang="en-US" sz="3000" dirty="0"/>
          </a:p>
        </p:txBody>
      </p:sp>
      <p:sp>
        <p:nvSpPr>
          <p:cNvPr id="4" name="Shape 2"/>
          <p:cNvSpPr/>
          <p:nvPr/>
        </p:nvSpPr>
        <p:spPr>
          <a:xfrm>
            <a:off x="502920" y="1417320"/>
            <a:ext cx="3611880" cy="502920"/>
          </a:xfrm>
          <a:prstGeom prst="roundRect">
            <a:avLst>
              <a:gd name="adj" fmla="val 14545"/>
            </a:avLst>
          </a:prstGeom>
          <a:solidFill>
            <a:srgbClr val="3A6FF0"/>
          </a:solidFill>
          <a:ln/>
        </p:spPr>
      </p:sp>
      <p:sp>
        <p:nvSpPr>
          <p:cNvPr id="5" name="Text 3"/>
          <p:cNvSpPr/>
          <p:nvPr/>
        </p:nvSpPr>
        <p:spPr>
          <a:xfrm>
            <a:off x="685800" y="1417320"/>
            <a:ext cx="324612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p:txBody>
      </p:sp>
      <p:sp>
        <p:nvSpPr>
          <p:cNvPr id="6" name="Shape 4"/>
          <p:cNvSpPr/>
          <p:nvPr/>
        </p:nvSpPr>
        <p:spPr>
          <a:xfrm>
            <a:off x="502920" y="1920240"/>
            <a:ext cx="3611880" cy="384048"/>
          </a:xfrm>
          <a:prstGeom prst="rect">
            <a:avLst/>
          </a:prstGeom>
          <a:solidFill>
            <a:srgbClr val="FFFFFF"/>
          </a:solidFill>
          <a:ln w="6350">
            <a:solidFill>
              <a:srgbClr val="E2E7F1"/>
            </a:solidFill>
            <a:prstDash val="solid"/>
          </a:ln>
        </p:spPr>
      </p:sp>
      <p:sp>
        <p:nvSpPr>
          <p:cNvPr id="7" name="Text 5"/>
          <p:cNvSpPr/>
          <p:nvPr/>
        </p:nvSpPr>
        <p:spPr>
          <a:xfrm>
            <a:off x="640080" y="192024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transaction_count</a:t>
            </a:r>
            <a:endParaRPr lang="en-US" sz="950" dirty="0"/>
          </a:p>
        </p:txBody>
      </p:sp>
      <p:sp>
        <p:nvSpPr>
          <p:cNvPr id="8" name="Text 6"/>
          <p:cNvSpPr/>
          <p:nvPr/>
        </p:nvSpPr>
        <p:spPr>
          <a:xfrm>
            <a:off x="2092147" y="192024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Number of transactions</a:t>
            </a:r>
            <a:endParaRPr lang="en-US" sz="1000" dirty="0"/>
          </a:p>
        </p:txBody>
      </p:sp>
      <p:sp>
        <p:nvSpPr>
          <p:cNvPr id="9" name="Shape 7"/>
          <p:cNvSpPr/>
          <p:nvPr/>
        </p:nvSpPr>
        <p:spPr>
          <a:xfrm>
            <a:off x="502920" y="2304288"/>
            <a:ext cx="3611880" cy="384048"/>
          </a:xfrm>
          <a:prstGeom prst="rect">
            <a:avLst/>
          </a:prstGeom>
          <a:solidFill>
            <a:srgbClr val="EDF1FA"/>
          </a:solidFill>
          <a:ln w="6350">
            <a:solidFill>
              <a:srgbClr val="E2E7F1"/>
            </a:solidFill>
            <a:prstDash val="solid"/>
          </a:ln>
        </p:spPr>
      </p:sp>
      <p:sp>
        <p:nvSpPr>
          <p:cNvPr id="10" name="Text 8"/>
          <p:cNvSpPr/>
          <p:nvPr/>
        </p:nvSpPr>
        <p:spPr>
          <a:xfrm>
            <a:off x="640080" y="2304288"/>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total_transaction_amount</a:t>
            </a:r>
            <a:endParaRPr lang="en-US" sz="950" dirty="0"/>
          </a:p>
        </p:txBody>
      </p:sp>
      <p:sp>
        <p:nvSpPr>
          <p:cNvPr id="11" name="Text 9"/>
          <p:cNvSpPr/>
          <p:nvPr/>
        </p:nvSpPr>
        <p:spPr>
          <a:xfrm>
            <a:off x="2092147" y="2304288"/>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Total transaction amount</a:t>
            </a:r>
            <a:endParaRPr lang="en-US" sz="1000" dirty="0"/>
          </a:p>
        </p:txBody>
      </p:sp>
      <p:sp>
        <p:nvSpPr>
          <p:cNvPr id="12" name="Shape 10"/>
          <p:cNvSpPr/>
          <p:nvPr/>
        </p:nvSpPr>
        <p:spPr>
          <a:xfrm>
            <a:off x="502920" y="2688336"/>
            <a:ext cx="3611880" cy="384048"/>
          </a:xfrm>
          <a:prstGeom prst="rect">
            <a:avLst/>
          </a:prstGeom>
          <a:solidFill>
            <a:srgbClr val="FFFFFF"/>
          </a:solidFill>
          <a:ln w="6350">
            <a:solidFill>
              <a:srgbClr val="E2E7F1"/>
            </a:solidFill>
            <a:prstDash val="solid"/>
          </a:ln>
        </p:spPr>
      </p:sp>
      <p:sp>
        <p:nvSpPr>
          <p:cNvPr id="13" name="Text 11"/>
          <p:cNvSpPr/>
          <p:nvPr/>
        </p:nvSpPr>
        <p:spPr>
          <a:xfrm>
            <a:off x="640080" y="2688336"/>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average_transaction_</a:t>
            </a:r>
            <a:endParaRPr lang="en-US" sz="950" dirty="0"/>
          </a:p>
          <a:p>
            <a:pPr indent="0" marL="0">
              <a:buNone/>
            </a:pPr>
            <a:r>
              <a:rPr lang="en-US" sz="950" b="1" dirty="0">
                <a:solidFill>
                  <a:srgbClr val="3A6FF0"/>
                </a:solidFill>
                <a:latin typeface="Courier New" pitchFamily="34" charset="0"/>
                <a:ea typeface="Courier New" pitchFamily="34" charset="-122"/>
                <a:cs typeface="Courier New" pitchFamily="34" charset="-120"/>
              </a:rPr>
              <a:t>amount</a:t>
            </a:r>
            <a:endParaRPr lang="en-US" sz="950" dirty="0"/>
          </a:p>
        </p:txBody>
      </p:sp>
      <p:sp>
        <p:nvSpPr>
          <p:cNvPr id="14" name="Text 12"/>
          <p:cNvSpPr/>
          <p:nvPr/>
        </p:nvSpPr>
        <p:spPr>
          <a:xfrm>
            <a:off x="2092147" y="2688336"/>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Average transaction amount</a:t>
            </a:r>
            <a:endParaRPr lang="en-US" sz="1000" dirty="0"/>
          </a:p>
        </p:txBody>
      </p:sp>
      <p:sp>
        <p:nvSpPr>
          <p:cNvPr id="15" name="Shape 13"/>
          <p:cNvSpPr/>
          <p:nvPr/>
        </p:nvSpPr>
        <p:spPr>
          <a:xfrm>
            <a:off x="502920" y="3072384"/>
            <a:ext cx="3611880" cy="384048"/>
          </a:xfrm>
          <a:prstGeom prst="rect">
            <a:avLst/>
          </a:prstGeom>
          <a:solidFill>
            <a:srgbClr val="EDF1FA"/>
          </a:solidFill>
          <a:ln w="6350">
            <a:solidFill>
              <a:srgbClr val="E2E7F1"/>
            </a:solidFill>
            <a:prstDash val="solid"/>
          </a:ln>
        </p:spPr>
      </p:sp>
      <p:sp>
        <p:nvSpPr>
          <p:cNvPr id="16" name="Text 14"/>
          <p:cNvSpPr/>
          <p:nvPr/>
        </p:nvSpPr>
        <p:spPr>
          <a:xfrm>
            <a:off x="640080" y="3072384"/>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declined_transactions</a:t>
            </a:r>
            <a:endParaRPr lang="en-US" sz="950" dirty="0"/>
          </a:p>
        </p:txBody>
      </p:sp>
      <p:sp>
        <p:nvSpPr>
          <p:cNvPr id="17" name="Text 15"/>
          <p:cNvSpPr/>
          <p:nvPr/>
        </p:nvSpPr>
        <p:spPr>
          <a:xfrm>
            <a:off x="2092147" y="3072384"/>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Number of declined transactions</a:t>
            </a:r>
            <a:endParaRPr lang="en-US" sz="1000" dirty="0"/>
          </a:p>
        </p:txBody>
      </p:sp>
      <p:sp>
        <p:nvSpPr>
          <p:cNvPr id="18" name="Shape 16"/>
          <p:cNvSpPr/>
          <p:nvPr/>
        </p:nvSpPr>
        <p:spPr>
          <a:xfrm>
            <a:off x="502920" y="3456432"/>
            <a:ext cx="3611880" cy="384048"/>
          </a:xfrm>
          <a:prstGeom prst="rect">
            <a:avLst/>
          </a:prstGeom>
          <a:solidFill>
            <a:srgbClr val="FFFFFF"/>
          </a:solidFill>
          <a:ln w="6350">
            <a:solidFill>
              <a:srgbClr val="E2E7F1"/>
            </a:solidFill>
            <a:prstDash val="solid"/>
          </a:ln>
        </p:spPr>
      </p:sp>
      <p:sp>
        <p:nvSpPr>
          <p:cNvPr id="19" name="Text 17"/>
          <p:cNvSpPr/>
          <p:nvPr/>
        </p:nvSpPr>
        <p:spPr>
          <a:xfrm>
            <a:off x="640080" y="3456432"/>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chargeback_count</a:t>
            </a:r>
            <a:endParaRPr lang="en-US" sz="950" dirty="0"/>
          </a:p>
        </p:txBody>
      </p:sp>
      <p:sp>
        <p:nvSpPr>
          <p:cNvPr id="20" name="Text 18"/>
          <p:cNvSpPr/>
          <p:nvPr/>
        </p:nvSpPr>
        <p:spPr>
          <a:xfrm>
            <a:off x="2092147" y="3456432"/>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Number of chargebacks</a:t>
            </a:r>
            <a:endParaRPr lang="en-US" sz="1000" dirty="0"/>
          </a:p>
        </p:txBody>
      </p:sp>
      <p:sp>
        <p:nvSpPr>
          <p:cNvPr id="21" name="Shape 19"/>
          <p:cNvSpPr/>
          <p:nvPr/>
        </p:nvSpPr>
        <p:spPr>
          <a:xfrm>
            <a:off x="502920" y="3840480"/>
            <a:ext cx="3611880" cy="384048"/>
          </a:xfrm>
          <a:prstGeom prst="rect">
            <a:avLst/>
          </a:prstGeom>
          <a:solidFill>
            <a:srgbClr val="EDF1FA"/>
          </a:solidFill>
          <a:ln w="6350">
            <a:solidFill>
              <a:srgbClr val="E2E7F1"/>
            </a:solidFill>
            <a:prstDash val="solid"/>
          </a:ln>
        </p:spPr>
      </p:sp>
      <p:sp>
        <p:nvSpPr>
          <p:cNvPr id="22" name="Text 20"/>
          <p:cNvSpPr/>
          <p:nvPr/>
        </p:nvSpPr>
        <p:spPr>
          <a:xfrm>
            <a:off x="640080" y="384048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promo_count</a:t>
            </a:r>
            <a:endParaRPr lang="en-US" sz="950" dirty="0"/>
          </a:p>
        </p:txBody>
      </p:sp>
      <p:sp>
        <p:nvSpPr>
          <p:cNvPr id="23" name="Text 21"/>
          <p:cNvSpPr/>
          <p:nvPr/>
        </p:nvSpPr>
        <p:spPr>
          <a:xfrm>
            <a:off x="2092147" y="384048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Promotional usage count</a:t>
            </a:r>
            <a:endParaRPr lang="en-US" sz="1000" dirty="0"/>
          </a:p>
        </p:txBody>
      </p:sp>
      <p:sp>
        <p:nvSpPr>
          <p:cNvPr id="24" name="Shape 22"/>
          <p:cNvSpPr/>
          <p:nvPr/>
        </p:nvSpPr>
        <p:spPr>
          <a:xfrm>
            <a:off x="4297680" y="1417320"/>
            <a:ext cx="3611880" cy="502920"/>
          </a:xfrm>
          <a:prstGeom prst="roundRect">
            <a:avLst>
              <a:gd name="adj" fmla="val 14545"/>
            </a:avLst>
          </a:prstGeom>
          <a:solidFill>
            <a:srgbClr val="8E5FD1"/>
          </a:solidFill>
          <a:ln/>
        </p:spPr>
      </p:sp>
      <p:sp>
        <p:nvSpPr>
          <p:cNvPr id="25" name="Text 23"/>
          <p:cNvSpPr/>
          <p:nvPr/>
        </p:nvSpPr>
        <p:spPr>
          <a:xfrm>
            <a:off x="4480560" y="1417320"/>
            <a:ext cx="324612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ENGINEERED</a:t>
            </a:r>
            <a:endParaRPr lang="en-US" sz="1300" dirty="0"/>
          </a:p>
        </p:txBody>
      </p:sp>
      <p:sp>
        <p:nvSpPr>
          <p:cNvPr id="26" name="Shape 24"/>
          <p:cNvSpPr/>
          <p:nvPr/>
        </p:nvSpPr>
        <p:spPr>
          <a:xfrm>
            <a:off x="4297680" y="1920240"/>
            <a:ext cx="3611880" cy="384048"/>
          </a:xfrm>
          <a:prstGeom prst="rect">
            <a:avLst/>
          </a:prstGeom>
          <a:solidFill>
            <a:srgbClr val="FFFFFF"/>
          </a:solidFill>
          <a:ln w="6350">
            <a:solidFill>
              <a:srgbClr val="E2E7F1"/>
            </a:solidFill>
            <a:prstDash val="solid"/>
          </a:ln>
        </p:spPr>
      </p:sp>
      <p:sp>
        <p:nvSpPr>
          <p:cNvPr id="27" name="Text 25"/>
          <p:cNvSpPr/>
          <p:nvPr/>
        </p:nvSpPr>
        <p:spPr>
          <a:xfrm>
            <a:off x="4434840" y="192024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decline_rate</a:t>
            </a:r>
            <a:endParaRPr lang="en-US" sz="950" dirty="0"/>
          </a:p>
        </p:txBody>
      </p:sp>
      <p:sp>
        <p:nvSpPr>
          <p:cNvPr id="28" name="Text 26"/>
          <p:cNvSpPr/>
          <p:nvPr/>
        </p:nvSpPr>
        <p:spPr>
          <a:xfrm>
            <a:off x="5886907" y="192024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Ratio of declined transactions</a:t>
            </a:r>
            <a:endParaRPr lang="en-US" sz="1000" dirty="0"/>
          </a:p>
        </p:txBody>
      </p:sp>
      <p:sp>
        <p:nvSpPr>
          <p:cNvPr id="29" name="Shape 27"/>
          <p:cNvSpPr/>
          <p:nvPr/>
        </p:nvSpPr>
        <p:spPr>
          <a:xfrm>
            <a:off x="4297680" y="2304288"/>
            <a:ext cx="3611880" cy="384048"/>
          </a:xfrm>
          <a:prstGeom prst="rect">
            <a:avLst/>
          </a:prstGeom>
          <a:solidFill>
            <a:srgbClr val="EDF1FA"/>
          </a:solidFill>
          <a:ln w="6350">
            <a:solidFill>
              <a:srgbClr val="E2E7F1"/>
            </a:solidFill>
            <a:prstDash val="solid"/>
          </a:ln>
        </p:spPr>
      </p:sp>
      <p:sp>
        <p:nvSpPr>
          <p:cNvPr id="30" name="Text 28"/>
          <p:cNvSpPr/>
          <p:nvPr/>
        </p:nvSpPr>
        <p:spPr>
          <a:xfrm>
            <a:off x="4434840" y="2304288"/>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chargeback_rate</a:t>
            </a:r>
            <a:endParaRPr lang="en-US" sz="950" dirty="0"/>
          </a:p>
        </p:txBody>
      </p:sp>
      <p:sp>
        <p:nvSpPr>
          <p:cNvPr id="31" name="Text 29"/>
          <p:cNvSpPr/>
          <p:nvPr/>
        </p:nvSpPr>
        <p:spPr>
          <a:xfrm>
            <a:off x="5886907" y="2304288"/>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Ratio of chargebacks</a:t>
            </a:r>
            <a:endParaRPr lang="en-US" sz="1000" dirty="0"/>
          </a:p>
        </p:txBody>
      </p:sp>
      <p:sp>
        <p:nvSpPr>
          <p:cNvPr id="32" name="Shape 30"/>
          <p:cNvSpPr/>
          <p:nvPr/>
        </p:nvSpPr>
        <p:spPr>
          <a:xfrm>
            <a:off x="4297680" y="2688336"/>
            <a:ext cx="3611880" cy="384048"/>
          </a:xfrm>
          <a:prstGeom prst="rect">
            <a:avLst/>
          </a:prstGeom>
          <a:solidFill>
            <a:srgbClr val="FFFFFF"/>
          </a:solidFill>
          <a:ln w="6350">
            <a:solidFill>
              <a:srgbClr val="E2E7F1"/>
            </a:solidFill>
            <a:prstDash val="solid"/>
          </a:ln>
        </p:spPr>
      </p:sp>
      <p:sp>
        <p:nvSpPr>
          <p:cNvPr id="33" name="Text 31"/>
          <p:cNvSpPr/>
          <p:nvPr/>
        </p:nvSpPr>
        <p:spPr>
          <a:xfrm>
            <a:off x="4434840" y="2688336"/>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promo_rate</a:t>
            </a:r>
            <a:endParaRPr lang="en-US" sz="950" dirty="0"/>
          </a:p>
        </p:txBody>
      </p:sp>
      <p:sp>
        <p:nvSpPr>
          <p:cNvPr id="34" name="Text 32"/>
          <p:cNvSpPr/>
          <p:nvPr/>
        </p:nvSpPr>
        <p:spPr>
          <a:xfrm>
            <a:off x="5886907" y="2688336"/>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Promotional usage ratio</a:t>
            </a:r>
            <a:endParaRPr lang="en-US" sz="1000" dirty="0"/>
          </a:p>
        </p:txBody>
      </p:sp>
      <p:sp>
        <p:nvSpPr>
          <p:cNvPr id="35" name="Shape 33"/>
          <p:cNvSpPr/>
          <p:nvPr/>
        </p:nvSpPr>
        <p:spPr>
          <a:xfrm>
            <a:off x="8092440" y="1417320"/>
            <a:ext cx="3611880" cy="502920"/>
          </a:xfrm>
          <a:prstGeom prst="roundRect">
            <a:avLst>
              <a:gd name="adj" fmla="val 14545"/>
            </a:avLst>
          </a:prstGeom>
          <a:solidFill>
            <a:srgbClr val="D14343"/>
          </a:solidFill>
          <a:ln/>
        </p:spPr>
      </p:sp>
      <p:sp>
        <p:nvSpPr>
          <p:cNvPr id="36" name="Text 34"/>
          <p:cNvSpPr/>
          <p:nvPr/>
        </p:nvSpPr>
        <p:spPr>
          <a:xfrm>
            <a:off x="8275320" y="1417320"/>
            <a:ext cx="324612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p>
        </p:txBody>
      </p:sp>
      <p:sp>
        <p:nvSpPr>
          <p:cNvPr id="37" name="Shape 35"/>
          <p:cNvSpPr/>
          <p:nvPr/>
        </p:nvSpPr>
        <p:spPr>
          <a:xfrm>
            <a:off x="8092440" y="1920240"/>
            <a:ext cx="3611880" cy="384048"/>
          </a:xfrm>
          <a:prstGeom prst="rect">
            <a:avLst/>
          </a:prstGeom>
          <a:solidFill>
            <a:srgbClr val="FFFFFF"/>
          </a:solidFill>
          <a:ln w="6350">
            <a:solidFill>
              <a:srgbClr val="E2E7F1"/>
            </a:solidFill>
            <a:prstDash val="solid"/>
          </a:ln>
        </p:spPr>
      </p:sp>
      <p:sp>
        <p:nvSpPr>
          <p:cNvPr id="38" name="Text 36"/>
          <p:cNvSpPr/>
          <p:nvPr/>
        </p:nvSpPr>
        <p:spPr>
          <a:xfrm>
            <a:off x="8229600" y="192024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risk_score / risk_level</a:t>
            </a:r>
            <a:endParaRPr lang="en-US" sz="950" dirty="0"/>
          </a:p>
        </p:txBody>
      </p:sp>
      <p:sp>
        <p:nvSpPr>
          <p:cNvPr id="39" name="Text 37"/>
          <p:cNvSpPr/>
          <p:nvPr/>
        </p:nvSpPr>
        <p:spPr>
          <a:xfrm>
            <a:off x="9681667" y="192024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Initial risk score &amp; level</a:t>
            </a:r>
            <a:endParaRPr lang="en-US" sz="1000" dirty="0"/>
          </a:p>
        </p:txBody>
      </p:sp>
      <p:sp>
        <p:nvSpPr>
          <p:cNvPr id="40" name="Shape 38"/>
          <p:cNvSpPr/>
          <p:nvPr/>
        </p:nvSpPr>
        <p:spPr>
          <a:xfrm>
            <a:off x="8092440" y="2304288"/>
            <a:ext cx="3611880" cy="384048"/>
          </a:xfrm>
          <a:prstGeom prst="rect">
            <a:avLst/>
          </a:prstGeom>
          <a:solidFill>
            <a:srgbClr val="EDF1FA"/>
          </a:solidFill>
          <a:ln w="6350">
            <a:solidFill>
              <a:srgbClr val="E2E7F1"/>
            </a:solidFill>
            <a:prstDash val="solid"/>
          </a:ln>
        </p:spPr>
      </p:sp>
      <p:sp>
        <p:nvSpPr>
          <p:cNvPr id="41" name="Text 39"/>
          <p:cNvSpPr/>
          <p:nvPr/>
        </p:nvSpPr>
        <p:spPr>
          <a:xfrm>
            <a:off x="8229600" y="2304288"/>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ml_risk_level</a:t>
            </a:r>
            <a:endParaRPr lang="en-US" sz="950" dirty="0"/>
          </a:p>
        </p:txBody>
      </p:sp>
      <p:sp>
        <p:nvSpPr>
          <p:cNvPr id="42" name="Text 40"/>
          <p:cNvSpPr/>
          <p:nvPr/>
        </p:nvSpPr>
        <p:spPr>
          <a:xfrm>
            <a:off x="9681667" y="2304288"/>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Machine Learning prediction</a:t>
            </a:r>
            <a:endParaRPr lang="en-US" sz="1000" dirty="0"/>
          </a:p>
        </p:txBody>
      </p:sp>
      <p:sp>
        <p:nvSpPr>
          <p:cNvPr id="43" name="Shape 41"/>
          <p:cNvSpPr/>
          <p:nvPr/>
        </p:nvSpPr>
        <p:spPr>
          <a:xfrm>
            <a:off x="8092440" y="2688336"/>
            <a:ext cx="3611880" cy="384048"/>
          </a:xfrm>
          <a:prstGeom prst="rect">
            <a:avLst/>
          </a:prstGeom>
          <a:solidFill>
            <a:srgbClr val="FFFFFF"/>
          </a:solidFill>
          <a:ln w="6350">
            <a:solidFill>
              <a:srgbClr val="E2E7F1"/>
            </a:solidFill>
            <a:prstDash val="solid"/>
          </a:ln>
        </p:spPr>
      </p:sp>
      <p:sp>
        <p:nvSpPr>
          <p:cNvPr id="44" name="Text 42"/>
          <p:cNvSpPr/>
          <p:nvPr/>
        </p:nvSpPr>
        <p:spPr>
          <a:xfrm>
            <a:off x="8229600" y="2688336"/>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graph_risk_score / level</a:t>
            </a:r>
            <a:endParaRPr lang="en-US" sz="950" dirty="0"/>
          </a:p>
        </p:txBody>
      </p:sp>
      <p:sp>
        <p:nvSpPr>
          <p:cNvPr id="45" name="Text 43"/>
          <p:cNvSpPr/>
          <p:nvPr/>
        </p:nvSpPr>
        <p:spPr>
          <a:xfrm>
            <a:off x="9681667" y="2688336"/>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Graph-based risk</a:t>
            </a:r>
            <a:endParaRPr lang="en-US" sz="1000" dirty="0"/>
          </a:p>
        </p:txBody>
      </p:sp>
      <p:sp>
        <p:nvSpPr>
          <p:cNvPr id="46" name="Shape 44"/>
          <p:cNvSpPr/>
          <p:nvPr/>
        </p:nvSpPr>
        <p:spPr>
          <a:xfrm>
            <a:off x="8092440" y="3072384"/>
            <a:ext cx="3611880" cy="384048"/>
          </a:xfrm>
          <a:prstGeom prst="rect">
            <a:avLst/>
          </a:prstGeom>
          <a:solidFill>
            <a:srgbClr val="EDF1FA"/>
          </a:solidFill>
          <a:ln w="6350">
            <a:solidFill>
              <a:srgbClr val="E2E7F1"/>
            </a:solidFill>
            <a:prstDash val="solid"/>
          </a:ln>
        </p:spPr>
      </p:sp>
      <p:sp>
        <p:nvSpPr>
          <p:cNvPr id="47" name="Text 45"/>
          <p:cNvSpPr/>
          <p:nvPr/>
        </p:nvSpPr>
        <p:spPr>
          <a:xfrm>
            <a:off x="8229600" y="3072384"/>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final_risk_score / level</a:t>
            </a:r>
            <a:endParaRPr lang="en-US" sz="950" dirty="0"/>
          </a:p>
        </p:txBody>
      </p:sp>
      <p:sp>
        <p:nvSpPr>
          <p:cNvPr id="48" name="Text 46"/>
          <p:cNvSpPr/>
          <p:nvPr/>
        </p:nvSpPr>
        <p:spPr>
          <a:xfrm>
            <a:off x="9681667" y="3072384"/>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Combined final score</a:t>
            </a:r>
            <a:endParaRPr lang="en-US" sz="1000" dirty="0"/>
          </a:p>
        </p:txBody>
      </p:sp>
      <p:sp>
        <p:nvSpPr>
          <p:cNvPr id="49" name="Shape 47"/>
          <p:cNvSpPr/>
          <p:nvPr/>
        </p:nvSpPr>
        <p:spPr>
          <a:xfrm>
            <a:off x="8092440" y="3456432"/>
            <a:ext cx="3611880" cy="384048"/>
          </a:xfrm>
          <a:prstGeom prst="rect">
            <a:avLst/>
          </a:prstGeom>
          <a:solidFill>
            <a:srgbClr val="FFFFFF"/>
          </a:solidFill>
          <a:ln w="6350">
            <a:solidFill>
              <a:srgbClr val="E2E7F1"/>
            </a:solidFill>
            <a:prstDash val="solid"/>
          </a:ln>
        </p:spPr>
      </p:sp>
      <p:sp>
        <p:nvSpPr>
          <p:cNvPr id="50" name="Text 48"/>
          <p:cNvSpPr/>
          <p:nvPr/>
        </p:nvSpPr>
        <p:spPr>
          <a:xfrm>
            <a:off x="8229600" y="3456432"/>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risk_reason</a:t>
            </a:r>
            <a:endParaRPr lang="en-US" sz="950" dirty="0"/>
          </a:p>
        </p:txBody>
      </p:sp>
      <p:sp>
        <p:nvSpPr>
          <p:cNvPr id="51" name="Text 49"/>
          <p:cNvSpPr/>
          <p:nvPr/>
        </p:nvSpPr>
        <p:spPr>
          <a:xfrm>
            <a:off x="9681667" y="3456432"/>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Explanation</a:t>
            </a:r>
            <a:endParaRPr lang="en-US" sz="1000" dirty="0"/>
          </a:p>
        </p:txBody>
      </p:sp>
      <p:sp>
        <p:nvSpPr>
          <p:cNvPr id="52" name="Shape 50"/>
          <p:cNvSpPr/>
          <p:nvPr/>
        </p:nvSpPr>
        <p:spPr>
          <a:xfrm>
            <a:off x="8092440" y="3840480"/>
            <a:ext cx="3611880" cy="384048"/>
          </a:xfrm>
          <a:prstGeom prst="rect">
            <a:avLst/>
          </a:prstGeom>
          <a:solidFill>
            <a:srgbClr val="EDF1FA"/>
          </a:solidFill>
          <a:ln w="6350">
            <a:solidFill>
              <a:srgbClr val="E2E7F1"/>
            </a:solidFill>
            <a:prstDash val="solid"/>
          </a:ln>
        </p:spPr>
      </p:sp>
      <p:sp>
        <p:nvSpPr>
          <p:cNvPr id="53" name="Text 51"/>
          <p:cNvSpPr/>
          <p:nvPr/>
        </p:nvSpPr>
        <p:spPr>
          <a:xfrm>
            <a:off x="8229600" y="3840480"/>
            <a:ext cx="1516990" cy="384048"/>
          </a:xfrm>
          <a:prstGeom prst="rect">
            <a:avLst/>
          </a:prstGeom>
          <a:noFill/>
          <a:ln/>
        </p:spPr>
        <p:txBody>
          <a:bodyPr wrap="square" rtlCol="0" anchor="ctr"/>
          <a:lstStyle/>
          <a:p>
            <a:pPr indent="0" marL="0">
              <a:buNone/>
            </a:pPr>
            <a:r>
              <a:rPr lang="en-US" sz="950" b="1" dirty="0">
                <a:solidFill>
                  <a:srgbClr val="3A6FF0"/>
                </a:solidFill>
                <a:latin typeface="Courier New" pitchFamily="34" charset="0"/>
                <a:ea typeface="Courier New" pitchFamily="34" charset="-122"/>
                <a:cs typeface="Courier New" pitchFamily="34" charset="-120"/>
              </a:rPr>
              <a:t>fraud_ring_type</a:t>
            </a:r>
            <a:endParaRPr lang="en-US" sz="950" dirty="0"/>
          </a:p>
        </p:txBody>
      </p:sp>
      <p:sp>
        <p:nvSpPr>
          <p:cNvPr id="54" name="Text 52"/>
          <p:cNvSpPr/>
          <p:nvPr/>
        </p:nvSpPr>
        <p:spPr>
          <a:xfrm>
            <a:off x="9681667" y="3840480"/>
            <a:ext cx="1950415" cy="384048"/>
          </a:xfrm>
          <a:prstGeom prst="rect">
            <a:avLst/>
          </a:prstGeom>
          <a:noFill/>
          <a:ln/>
        </p:spPr>
        <p:txBody>
          <a:bodyPr wrap="square" rtlCol="0" anchor="ctr"/>
          <a:lstStyle/>
          <a:p>
            <a:pPr indent="0" marL="0">
              <a:buNone/>
            </a:pPr>
            <a:r>
              <a:rPr lang="en-US" sz="1000" dirty="0">
                <a:solidFill>
                  <a:srgbClr val="16234A"/>
                </a:solidFill>
                <a:latin typeface="Calibri" pitchFamily="34" charset="0"/>
                <a:ea typeface="Calibri" pitchFamily="34" charset="-122"/>
                <a:cs typeface="Calibri" pitchFamily="34" charset="-120"/>
              </a:rPr>
              <a:t>Fraud pattern</a:t>
            </a:r>
            <a:endParaRPr lang="en-US" sz="1000" dirty="0"/>
          </a:p>
        </p:txBody>
      </p:sp>
      <p:sp>
        <p:nvSpPr>
          <p:cNvPr id="55" name="Text 53"/>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10 · DATASET FEATURES</a:t>
            </a:r>
            <a:endParaRPr lang="en-US" sz="900" dirty="0"/>
          </a:p>
        </p:txBody>
      </p:sp>
      <p:sp>
        <p:nvSpPr>
          <p:cNvPr id="56" name="Text 54"/>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57" name="Text 55"/>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F3C"/>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F0A23A"/>
                </a:solidFill>
                <a:latin typeface="Calibri" pitchFamily="34" charset="0"/>
                <a:ea typeface="Calibri" pitchFamily="34" charset="-122"/>
                <a:cs typeface="Calibri" pitchFamily="34" charset="-120"/>
              </a:rPr>
              <a:t>SECTION 11</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Data Processing</a:t>
            </a:r>
            <a:endParaRPr lang="en-US" sz="3000" dirty="0"/>
          </a:p>
        </p:txBody>
      </p:sp>
      <p:sp>
        <p:nvSpPr>
          <p:cNvPr id="4" name="Shape 2"/>
          <p:cNvSpPr/>
          <p:nvPr/>
        </p:nvSpPr>
        <p:spPr>
          <a:xfrm>
            <a:off x="502920" y="1600200"/>
            <a:ext cx="2011680" cy="1097280"/>
          </a:xfrm>
          <a:prstGeom prst="roundRect">
            <a:avLst>
              <a:gd name="adj" fmla="val 6667"/>
            </a:avLst>
          </a:prstGeom>
          <a:solidFill>
            <a:srgbClr val="1B2E58"/>
          </a:solidFill>
          <a:ln/>
        </p:spPr>
      </p:sp>
      <p:sp>
        <p:nvSpPr>
          <p:cNvPr id="5" name="Shape 3"/>
          <p:cNvSpPr/>
          <p:nvPr/>
        </p:nvSpPr>
        <p:spPr>
          <a:xfrm>
            <a:off x="594360" y="1691640"/>
            <a:ext cx="320040" cy="320040"/>
          </a:xfrm>
          <a:prstGeom prst="ellipse">
            <a:avLst/>
          </a:prstGeom>
          <a:solidFill>
            <a:srgbClr val="3A6FF0"/>
          </a:solidFill>
          <a:ln/>
        </p:spPr>
      </p:sp>
      <p:sp>
        <p:nvSpPr>
          <p:cNvPr id="6" name="Text 4"/>
          <p:cNvSpPr/>
          <p:nvPr/>
        </p:nvSpPr>
        <p:spPr>
          <a:xfrm>
            <a:off x="594360" y="16916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594360" y="20391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Excel</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p>
        </p:txBody>
      </p:sp>
      <p:sp>
        <p:nvSpPr>
          <p:cNvPr id="8" name="Shape 6"/>
          <p:cNvSpPr/>
          <p:nvPr/>
        </p:nvSpPr>
        <p:spPr>
          <a:xfrm>
            <a:off x="2560320" y="2011680"/>
            <a:ext cx="182880" cy="274320"/>
          </a:xfrm>
          <a:prstGeom prst="rightArrow">
            <a:avLst/>
          </a:prstGeom>
          <a:solidFill>
            <a:srgbClr val="9FB1D6"/>
          </a:solidFill>
          <a:ln/>
        </p:spPr>
      </p:sp>
      <p:sp>
        <p:nvSpPr>
          <p:cNvPr id="9" name="Shape 7"/>
          <p:cNvSpPr/>
          <p:nvPr/>
        </p:nvSpPr>
        <p:spPr>
          <a:xfrm>
            <a:off x="2770632" y="1600200"/>
            <a:ext cx="2011680" cy="1097280"/>
          </a:xfrm>
          <a:prstGeom prst="roundRect">
            <a:avLst>
              <a:gd name="adj" fmla="val 6667"/>
            </a:avLst>
          </a:prstGeom>
          <a:solidFill>
            <a:srgbClr val="1B2E58"/>
          </a:solidFill>
          <a:ln/>
        </p:spPr>
      </p:sp>
      <p:sp>
        <p:nvSpPr>
          <p:cNvPr id="10" name="Shape 8"/>
          <p:cNvSpPr/>
          <p:nvPr/>
        </p:nvSpPr>
        <p:spPr>
          <a:xfrm>
            <a:off x="2862072" y="1691640"/>
            <a:ext cx="320040" cy="320040"/>
          </a:xfrm>
          <a:prstGeom prst="ellipse">
            <a:avLst/>
          </a:prstGeom>
          <a:solidFill>
            <a:srgbClr val="3A6FF0"/>
          </a:solidFill>
          <a:ln/>
        </p:spPr>
      </p:sp>
      <p:sp>
        <p:nvSpPr>
          <p:cNvPr id="11" name="Text 9"/>
          <p:cNvSpPr/>
          <p:nvPr/>
        </p:nvSpPr>
        <p:spPr>
          <a:xfrm>
            <a:off x="2862072" y="16916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2862072" y="20391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Loading</a:t>
            </a:r>
            <a:endParaRPr lang="en-US" sz="1150" dirty="0"/>
          </a:p>
        </p:txBody>
      </p:sp>
      <p:sp>
        <p:nvSpPr>
          <p:cNvPr id="13" name="Shape 11"/>
          <p:cNvSpPr/>
          <p:nvPr/>
        </p:nvSpPr>
        <p:spPr>
          <a:xfrm>
            <a:off x="4828032" y="2011680"/>
            <a:ext cx="182880" cy="274320"/>
          </a:xfrm>
          <a:prstGeom prst="rightArrow">
            <a:avLst/>
          </a:prstGeom>
          <a:solidFill>
            <a:srgbClr val="9FB1D6"/>
          </a:solidFill>
          <a:ln/>
        </p:spPr>
      </p:sp>
      <p:sp>
        <p:nvSpPr>
          <p:cNvPr id="14" name="Shape 12"/>
          <p:cNvSpPr/>
          <p:nvPr/>
        </p:nvSpPr>
        <p:spPr>
          <a:xfrm>
            <a:off x="5038344" y="1600200"/>
            <a:ext cx="2011680" cy="1097280"/>
          </a:xfrm>
          <a:prstGeom prst="roundRect">
            <a:avLst>
              <a:gd name="adj" fmla="val 6667"/>
            </a:avLst>
          </a:prstGeom>
          <a:solidFill>
            <a:srgbClr val="1B2E58"/>
          </a:solidFill>
          <a:ln/>
        </p:spPr>
      </p:sp>
      <p:sp>
        <p:nvSpPr>
          <p:cNvPr id="15" name="Shape 13"/>
          <p:cNvSpPr/>
          <p:nvPr/>
        </p:nvSpPr>
        <p:spPr>
          <a:xfrm>
            <a:off x="5129784" y="1691640"/>
            <a:ext cx="320040" cy="320040"/>
          </a:xfrm>
          <a:prstGeom prst="ellipse">
            <a:avLst/>
          </a:prstGeom>
          <a:solidFill>
            <a:srgbClr val="3A6FF0"/>
          </a:solidFill>
          <a:ln/>
        </p:spPr>
      </p:sp>
      <p:sp>
        <p:nvSpPr>
          <p:cNvPr id="16" name="Text 14"/>
          <p:cNvSpPr/>
          <p:nvPr/>
        </p:nvSpPr>
        <p:spPr>
          <a:xfrm>
            <a:off x="5129784" y="16916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5129784" y="20391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Cleaning</a:t>
            </a:r>
            <a:endParaRPr lang="en-US" sz="1150" dirty="0"/>
          </a:p>
        </p:txBody>
      </p:sp>
      <p:sp>
        <p:nvSpPr>
          <p:cNvPr id="18" name="Shape 16"/>
          <p:cNvSpPr/>
          <p:nvPr/>
        </p:nvSpPr>
        <p:spPr>
          <a:xfrm>
            <a:off x="7095744" y="2011680"/>
            <a:ext cx="182880" cy="274320"/>
          </a:xfrm>
          <a:prstGeom prst="rightArrow">
            <a:avLst/>
          </a:prstGeom>
          <a:solidFill>
            <a:srgbClr val="9FB1D6"/>
          </a:solidFill>
          <a:ln/>
        </p:spPr>
      </p:sp>
      <p:sp>
        <p:nvSpPr>
          <p:cNvPr id="19" name="Shape 17"/>
          <p:cNvSpPr/>
          <p:nvPr/>
        </p:nvSpPr>
        <p:spPr>
          <a:xfrm>
            <a:off x="7306056" y="1600200"/>
            <a:ext cx="2011680" cy="1097280"/>
          </a:xfrm>
          <a:prstGeom prst="roundRect">
            <a:avLst>
              <a:gd name="adj" fmla="val 6667"/>
            </a:avLst>
          </a:prstGeom>
          <a:solidFill>
            <a:srgbClr val="1B2E58"/>
          </a:solidFill>
          <a:ln/>
        </p:spPr>
      </p:sp>
      <p:sp>
        <p:nvSpPr>
          <p:cNvPr id="20" name="Shape 18"/>
          <p:cNvSpPr/>
          <p:nvPr/>
        </p:nvSpPr>
        <p:spPr>
          <a:xfrm>
            <a:off x="7397496" y="1691640"/>
            <a:ext cx="320040" cy="320040"/>
          </a:xfrm>
          <a:prstGeom prst="ellipse">
            <a:avLst/>
          </a:prstGeom>
          <a:solidFill>
            <a:srgbClr val="2E9E62"/>
          </a:solidFill>
          <a:ln/>
        </p:spPr>
      </p:sp>
      <p:sp>
        <p:nvSpPr>
          <p:cNvPr id="21" name="Text 19"/>
          <p:cNvSpPr/>
          <p:nvPr/>
        </p:nvSpPr>
        <p:spPr>
          <a:xfrm>
            <a:off x="7397496" y="16916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397496" y="20391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Engineering</a:t>
            </a:r>
            <a:endParaRPr lang="en-US" sz="1150" dirty="0"/>
          </a:p>
        </p:txBody>
      </p:sp>
      <p:sp>
        <p:nvSpPr>
          <p:cNvPr id="23" name="Shape 21"/>
          <p:cNvSpPr/>
          <p:nvPr/>
        </p:nvSpPr>
        <p:spPr>
          <a:xfrm>
            <a:off x="9363456" y="2011680"/>
            <a:ext cx="182880" cy="274320"/>
          </a:xfrm>
          <a:prstGeom prst="rightArrow">
            <a:avLst/>
          </a:prstGeom>
          <a:solidFill>
            <a:srgbClr val="9FB1D6"/>
          </a:solidFill>
          <a:ln/>
        </p:spPr>
      </p:sp>
      <p:sp>
        <p:nvSpPr>
          <p:cNvPr id="24" name="Shape 22"/>
          <p:cNvSpPr/>
          <p:nvPr/>
        </p:nvSpPr>
        <p:spPr>
          <a:xfrm>
            <a:off x="9573768" y="1600200"/>
            <a:ext cx="2011680" cy="1097280"/>
          </a:xfrm>
          <a:prstGeom prst="roundRect">
            <a:avLst>
              <a:gd name="adj" fmla="val 6667"/>
            </a:avLst>
          </a:prstGeom>
          <a:solidFill>
            <a:srgbClr val="1B2E58"/>
          </a:solidFill>
          <a:ln/>
        </p:spPr>
      </p:sp>
      <p:sp>
        <p:nvSpPr>
          <p:cNvPr id="25" name="Shape 23"/>
          <p:cNvSpPr/>
          <p:nvPr/>
        </p:nvSpPr>
        <p:spPr>
          <a:xfrm>
            <a:off x="9665208" y="1691640"/>
            <a:ext cx="320040" cy="320040"/>
          </a:xfrm>
          <a:prstGeom prst="ellipse">
            <a:avLst/>
          </a:prstGeom>
          <a:solidFill>
            <a:srgbClr val="2E9E62"/>
          </a:solidFill>
          <a:ln/>
        </p:spPr>
      </p:sp>
      <p:sp>
        <p:nvSpPr>
          <p:cNvPr id="26" name="Text 24"/>
          <p:cNvSpPr/>
          <p:nvPr/>
        </p:nvSpPr>
        <p:spPr>
          <a:xfrm>
            <a:off x="9665208" y="16916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9665208" y="20391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Risk Feature</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Generation</a:t>
            </a:r>
            <a:endParaRPr lang="en-US" sz="1150" dirty="0"/>
          </a:p>
        </p:txBody>
      </p:sp>
      <p:sp>
        <p:nvSpPr>
          <p:cNvPr id="28" name="Shape 26"/>
          <p:cNvSpPr/>
          <p:nvPr/>
        </p:nvSpPr>
        <p:spPr>
          <a:xfrm>
            <a:off x="502920" y="3429000"/>
            <a:ext cx="2011680" cy="1097280"/>
          </a:xfrm>
          <a:prstGeom prst="roundRect">
            <a:avLst>
              <a:gd name="adj" fmla="val 6667"/>
            </a:avLst>
          </a:prstGeom>
          <a:solidFill>
            <a:srgbClr val="1B2E58"/>
          </a:solidFill>
          <a:ln/>
        </p:spPr>
      </p:sp>
      <p:sp>
        <p:nvSpPr>
          <p:cNvPr id="29" name="Shape 27"/>
          <p:cNvSpPr/>
          <p:nvPr/>
        </p:nvSpPr>
        <p:spPr>
          <a:xfrm>
            <a:off x="594360" y="3520440"/>
            <a:ext cx="320040" cy="320040"/>
          </a:xfrm>
          <a:prstGeom prst="ellipse">
            <a:avLst/>
          </a:prstGeom>
          <a:solidFill>
            <a:srgbClr val="2E9E62"/>
          </a:solidFill>
          <a:ln/>
        </p:spPr>
      </p:sp>
      <p:sp>
        <p:nvSpPr>
          <p:cNvPr id="30" name="Text 28"/>
          <p:cNvSpPr/>
          <p:nvPr/>
        </p:nvSpPr>
        <p:spPr>
          <a:xfrm>
            <a:off x="594360" y="35204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p:nvPr/>
        </p:nvSpPr>
        <p:spPr>
          <a:xfrm>
            <a:off x="594360" y="38679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ML</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Prediction</a:t>
            </a:r>
            <a:endParaRPr lang="en-US" sz="1150" dirty="0"/>
          </a:p>
        </p:txBody>
      </p:sp>
      <p:sp>
        <p:nvSpPr>
          <p:cNvPr id="32" name="Shape 30"/>
          <p:cNvSpPr/>
          <p:nvPr/>
        </p:nvSpPr>
        <p:spPr>
          <a:xfrm>
            <a:off x="2560320" y="3840480"/>
            <a:ext cx="182880" cy="274320"/>
          </a:xfrm>
          <a:prstGeom prst="rightArrow">
            <a:avLst/>
          </a:prstGeom>
          <a:solidFill>
            <a:srgbClr val="9FB1D6"/>
          </a:solidFill>
          <a:ln/>
        </p:spPr>
      </p:sp>
      <p:sp>
        <p:nvSpPr>
          <p:cNvPr id="33" name="Shape 31"/>
          <p:cNvSpPr/>
          <p:nvPr/>
        </p:nvSpPr>
        <p:spPr>
          <a:xfrm>
            <a:off x="2770632" y="3429000"/>
            <a:ext cx="2011680" cy="1097280"/>
          </a:xfrm>
          <a:prstGeom prst="roundRect">
            <a:avLst>
              <a:gd name="adj" fmla="val 6667"/>
            </a:avLst>
          </a:prstGeom>
          <a:solidFill>
            <a:srgbClr val="1B2E58"/>
          </a:solidFill>
          <a:ln/>
        </p:spPr>
      </p:sp>
      <p:sp>
        <p:nvSpPr>
          <p:cNvPr id="34" name="Shape 32"/>
          <p:cNvSpPr/>
          <p:nvPr/>
        </p:nvSpPr>
        <p:spPr>
          <a:xfrm>
            <a:off x="2862072" y="3520440"/>
            <a:ext cx="320040" cy="320040"/>
          </a:xfrm>
          <a:prstGeom prst="ellipse">
            <a:avLst/>
          </a:prstGeom>
          <a:solidFill>
            <a:srgbClr val="F0A23A"/>
          </a:solidFill>
          <a:ln/>
        </p:spPr>
      </p:sp>
      <p:sp>
        <p:nvSpPr>
          <p:cNvPr id="35" name="Text 33"/>
          <p:cNvSpPr/>
          <p:nvPr/>
        </p:nvSpPr>
        <p:spPr>
          <a:xfrm>
            <a:off x="2862072" y="35204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6" name="Text 34"/>
          <p:cNvSpPr/>
          <p:nvPr/>
        </p:nvSpPr>
        <p:spPr>
          <a:xfrm>
            <a:off x="2862072" y="38679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Graph</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Construction</a:t>
            </a:r>
            <a:endParaRPr lang="en-US" sz="1150" dirty="0"/>
          </a:p>
        </p:txBody>
      </p:sp>
      <p:sp>
        <p:nvSpPr>
          <p:cNvPr id="37" name="Shape 35"/>
          <p:cNvSpPr/>
          <p:nvPr/>
        </p:nvSpPr>
        <p:spPr>
          <a:xfrm>
            <a:off x="4828032" y="3840480"/>
            <a:ext cx="182880" cy="274320"/>
          </a:xfrm>
          <a:prstGeom prst="rightArrow">
            <a:avLst/>
          </a:prstGeom>
          <a:solidFill>
            <a:srgbClr val="9FB1D6"/>
          </a:solidFill>
          <a:ln/>
        </p:spPr>
      </p:sp>
      <p:sp>
        <p:nvSpPr>
          <p:cNvPr id="38" name="Shape 36"/>
          <p:cNvSpPr/>
          <p:nvPr/>
        </p:nvSpPr>
        <p:spPr>
          <a:xfrm>
            <a:off x="5038344" y="3429000"/>
            <a:ext cx="2011680" cy="1097280"/>
          </a:xfrm>
          <a:prstGeom prst="roundRect">
            <a:avLst>
              <a:gd name="adj" fmla="val 6667"/>
            </a:avLst>
          </a:prstGeom>
          <a:solidFill>
            <a:srgbClr val="1B2E58"/>
          </a:solidFill>
          <a:ln/>
        </p:spPr>
      </p:sp>
      <p:sp>
        <p:nvSpPr>
          <p:cNvPr id="39" name="Shape 37"/>
          <p:cNvSpPr/>
          <p:nvPr/>
        </p:nvSpPr>
        <p:spPr>
          <a:xfrm>
            <a:off x="5129784" y="3520440"/>
            <a:ext cx="320040" cy="320040"/>
          </a:xfrm>
          <a:prstGeom prst="ellipse">
            <a:avLst/>
          </a:prstGeom>
          <a:solidFill>
            <a:srgbClr val="F0A23A"/>
          </a:solidFill>
          <a:ln/>
        </p:spPr>
      </p:sp>
      <p:sp>
        <p:nvSpPr>
          <p:cNvPr id="40" name="Text 38"/>
          <p:cNvSpPr/>
          <p:nvPr/>
        </p:nvSpPr>
        <p:spPr>
          <a:xfrm>
            <a:off x="5129784" y="35204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1" name="Text 39"/>
          <p:cNvSpPr/>
          <p:nvPr/>
        </p:nvSpPr>
        <p:spPr>
          <a:xfrm>
            <a:off x="5129784" y="38679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Fraud Ring</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Detection</a:t>
            </a:r>
            <a:endParaRPr lang="en-US" sz="1150" dirty="0"/>
          </a:p>
        </p:txBody>
      </p:sp>
      <p:sp>
        <p:nvSpPr>
          <p:cNvPr id="42" name="Shape 40"/>
          <p:cNvSpPr/>
          <p:nvPr/>
        </p:nvSpPr>
        <p:spPr>
          <a:xfrm>
            <a:off x="7095744" y="3840480"/>
            <a:ext cx="182880" cy="274320"/>
          </a:xfrm>
          <a:prstGeom prst="rightArrow">
            <a:avLst/>
          </a:prstGeom>
          <a:solidFill>
            <a:srgbClr val="9FB1D6"/>
          </a:solidFill>
          <a:ln/>
        </p:spPr>
      </p:sp>
      <p:sp>
        <p:nvSpPr>
          <p:cNvPr id="43" name="Shape 41"/>
          <p:cNvSpPr/>
          <p:nvPr/>
        </p:nvSpPr>
        <p:spPr>
          <a:xfrm>
            <a:off x="7306056" y="3429000"/>
            <a:ext cx="2011680" cy="1097280"/>
          </a:xfrm>
          <a:prstGeom prst="roundRect">
            <a:avLst>
              <a:gd name="adj" fmla="val 6667"/>
            </a:avLst>
          </a:prstGeom>
          <a:solidFill>
            <a:srgbClr val="1B2E58"/>
          </a:solidFill>
          <a:ln/>
        </p:spPr>
      </p:sp>
      <p:sp>
        <p:nvSpPr>
          <p:cNvPr id="44" name="Shape 42"/>
          <p:cNvSpPr/>
          <p:nvPr/>
        </p:nvSpPr>
        <p:spPr>
          <a:xfrm>
            <a:off x="7397496" y="3520440"/>
            <a:ext cx="320040" cy="320040"/>
          </a:xfrm>
          <a:prstGeom prst="ellipse">
            <a:avLst/>
          </a:prstGeom>
          <a:solidFill>
            <a:srgbClr val="D14343"/>
          </a:solidFill>
          <a:ln/>
        </p:spPr>
      </p:sp>
      <p:sp>
        <p:nvSpPr>
          <p:cNvPr id="45" name="Text 43"/>
          <p:cNvSpPr/>
          <p:nvPr/>
        </p:nvSpPr>
        <p:spPr>
          <a:xfrm>
            <a:off x="7397496" y="35204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6" name="Text 44"/>
          <p:cNvSpPr/>
          <p:nvPr/>
        </p:nvSpPr>
        <p:spPr>
          <a:xfrm>
            <a:off x="7397496" y="3867912"/>
            <a:ext cx="1828800" cy="594360"/>
          </a:xfrm>
          <a:prstGeom prst="rect">
            <a:avLst/>
          </a:prstGeom>
          <a:noFill/>
          <a:ln/>
        </p:spPr>
        <p:txBody>
          <a:bodyPr wrap="square"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Final Risk</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Classification</a:t>
            </a:r>
            <a:endParaRPr lang="en-US" sz="1150" dirty="0"/>
          </a:p>
        </p:txBody>
      </p:sp>
      <p:sp>
        <p:nvSpPr>
          <p:cNvPr id="47" name="Text 45"/>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SECTION 11 · DATA PROCESSING</a:t>
            </a:r>
            <a:endParaRPr lang="en-US" sz="900" dirty="0"/>
          </a:p>
        </p:txBody>
      </p:sp>
      <p:sp>
        <p:nvSpPr>
          <p:cNvPr id="48" name="Text 46"/>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49" name="Text 4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12</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Feature Engineering</a:t>
            </a:r>
            <a:endParaRPr lang="en-US" sz="3000" dirty="0"/>
          </a:p>
        </p:txBody>
      </p:sp>
      <p:sp>
        <p:nvSpPr>
          <p:cNvPr id="4" name="Text 2"/>
          <p:cNvSpPr/>
          <p:nvPr/>
        </p:nvSpPr>
        <p:spPr>
          <a:xfrm>
            <a:off x="502920" y="1371600"/>
            <a:ext cx="11155680" cy="548640"/>
          </a:xfrm>
          <a:prstGeom prst="rect">
            <a:avLst/>
          </a:prstGeom>
          <a:noFill/>
          <a:ln/>
        </p:spPr>
        <p:txBody>
          <a:bodyPr wrap="square" rtlCol="0" anchor="ctr"/>
          <a:lstStyle/>
          <a:p>
            <a:pPr indent="0" marL="0">
              <a:buNone/>
            </a:pPr>
            <a:r>
              <a:rPr lang="en-US" sz="1350" dirty="0">
                <a:solidFill>
                  <a:srgbClr val="16234A"/>
                </a:solidFill>
                <a:latin typeface="Calibri" pitchFamily="34" charset="0"/>
                <a:ea typeface="Calibri" pitchFamily="34" charset="-122"/>
                <a:cs typeface="Calibri" pitchFamily="34" charset="-120"/>
              </a:rPr>
              <a:t>Feature engineering converts raw transaction information into behavioral risk indicators used across the rule engine, ML model, and graph risk scoring.</a:t>
            </a:r>
            <a:endParaRPr lang="en-US" sz="1350" dirty="0"/>
          </a:p>
        </p:txBody>
      </p:sp>
      <p:sp>
        <p:nvSpPr>
          <p:cNvPr id="5" name="Shape 3"/>
          <p:cNvSpPr/>
          <p:nvPr/>
        </p:nvSpPr>
        <p:spPr>
          <a:xfrm>
            <a:off x="502920" y="2148840"/>
            <a:ext cx="3566160" cy="3017520"/>
          </a:xfrm>
          <a:prstGeom prst="roundRect">
            <a:avLst>
              <a:gd name="adj" fmla="val 2424"/>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6" name="Shape 4"/>
          <p:cNvSpPr/>
          <p:nvPr/>
        </p:nvSpPr>
        <p:spPr>
          <a:xfrm>
            <a:off x="1965960" y="2377440"/>
            <a:ext cx="640080" cy="640080"/>
          </a:xfrm>
          <a:prstGeom prst="ellipse">
            <a:avLst/>
          </a:prstGeom>
          <a:solidFill>
            <a:srgbClr val="3A6FF0"/>
          </a:solidFill>
          <a:ln/>
        </p:spPr>
      </p:sp>
      <p:sp>
        <p:nvSpPr>
          <p:cNvPr id="7" name="Text 5"/>
          <p:cNvSpPr/>
          <p:nvPr/>
        </p:nvSpPr>
        <p:spPr>
          <a:xfrm>
            <a:off x="1965960" y="2377440"/>
            <a:ext cx="640080" cy="640080"/>
          </a:xfrm>
          <a:prstGeom prst="rect">
            <a:avLst/>
          </a:prstGeom>
          <a:noFill/>
          <a:ln/>
        </p:spPr>
        <p:txBody>
          <a:bodyPr wrap="square" rtlCol="0" anchor="ctr"/>
          <a:lstStyle/>
          <a:p>
            <a:pPr algn="ctr" indent="0" marL="0">
              <a:buNone/>
            </a:pPr>
            <a:r>
              <a:rPr lang="en-US" sz="1820" b="1" dirty="0">
                <a:solidFill>
                  <a:srgbClr val="FFFFFF"/>
                </a:solidFill>
                <a:latin typeface="Calibri" pitchFamily="34" charset="0"/>
                <a:ea typeface="Calibri" pitchFamily="34" charset="-122"/>
                <a:cs typeface="Calibri" pitchFamily="34" charset="-120"/>
              </a:rPr>
              <a:t>ƒ</a:t>
            </a:r>
            <a:endParaRPr lang="en-US" sz="1820" dirty="0"/>
          </a:p>
        </p:txBody>
      </p:sp>
      <p:sp>
        <p:nvSpPr>
          <p:cNvPr id="8" name="Text 6"/>
          <p:cNvSpPr/>
          <p:nvPr/>
        </p:nvSpPr>
        <p:spPr>
          <a:xfrm>
            <a:off x="685800" y="3246120"/>
            <a:ext cx="320040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Decline Rate</a:t>
            </a:r>
            <a:endParaRPr lang="en-US" sz="1500" dirty="0"/>
          </a:p>
        </p:txBody>
      </p:sp>
      <p:sp>
        <p:nvSpPr>
          <p:cNvPr id="9" name="Shape 7"/>
          <p:cNvSpPr/>
          <p:nvPr/>
        </p:nvSpPr>
        <p:spPr>
          <a:xfrm>
            <a:off x="777240" y="3749040"/>
            <a:ext cx="3017520" cy="1188720"/>
          </a:xfrm>
          <a:prstGeom prst="roundRect">
            <a:avLst>
              <a:gd name="adj" fmla="val 6154"/>
            </a:avLst>
          </a:prstGeom>
          <a:solidFill>
            <a:srgbClr val="1B2E58"/>
          </a:solidFill>
          <a:ln/>
        </p:spPr>
      </p:sp>
      <p:sp>
        <p:nvSpPr>
          <p:cNvPr id="10" name="Text 8"/>
          <p:cNvSpPr/>
          <p:nvPr/>
        </p:nvSpPr>
        <p:spPr>
          <a:xfrm>
            <a:off x="914400" y="3749040"/>
            <a:ext cx="2743200" cy="1188720"/>
          </a:xfrm>
          <a:prstGeom prst="rect">
            <a:avLst/>
          </a:prstGeom>
          <a:noFill/>
          <a:ln/>
        </p:spPr>
        <p:txBody>
          <a:bodyPr wrap="square" rtlCol="0" anchor="ctr"/>
          <a:lstStyle/>
          <a:p>
            <a:pPr algn="ctr" indent="0" marL="0">
              <a:lnSpc>
                <a:spcPct val="130000"/>
              </a:lnSpc>
              <a:buNone/>
            </a:pPr>
            <a:r>
              <a:rPr lang="en-US" sz="1150" dirty="0">
                <a:solidFill>
                  <a:srgbClr val="F0A23A"/>
                </a:solidFill>
                <a:latin typeface="Courier New" pitchFamily="34" charset="0"/>
                <a:ea typeface="Courier New" pitchFamily="34" charset="-122"/>
                <a:cs typeface="Courier New" pitchFamily="34" charset="-120"/>
              </a:rPr>
              <a:t>decline_rate =</a:t>
            </a:r>
            <a:endParaRPr lang="en-US" sz="1150" dirty="0"/>
          </a:p>
          <a:p>
            <a:pPr algn="ctr" indent="0" marL="0">
              <a:lnSpc>
                <a:spcPct val="130000"/>
              </a:lnSpc>
              <a:buNone/>
            </a:pPr>
            <a:r>
              <a:rPr lang="en-US" sz="1150" dirty="0">
                <a:solidFill>
                  <a:srgbClr val="F0A23A"/>
                </a:solidFill>
                <a:latin typeface="Courier New" pitchFamily="34" charset="0"/>
                <a:ea typeface="Courier New" pitchFamily="34" charset="-122"/>
                <a:cs typeface="Courier New" pitchFamily="34" charset="-120"/>
              </a:rPr>
              <a:t>declined_transactions / transaction_count</a:t>
            </a:r>
            <a:endParaRPr lang="en-US" sz="1150" dirty="0"/>
          </a:p>
        </p:txBody>
      </p:sp>
      <p:sp>
        <p:nvSpPr>
          <p:cNvPr id="11" name="Shape 9"/>
          <p:cNvSpPr/>
          <p:nvPr/>
        </p:nvSpPr>
        <p:spPr>
          <a:xfrm>
            <a:off x="4279392" y="2148840"/>
            <a:ext cx="3566160" cy="3017520"/>
          </a:xfrm>
          <a:prstGeom prst="roundRect">
            <a:avLst>
              <a:gd name="adj" fmla="val 2424"/>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2" name="Shape 10"/>
          <p:cNvSpPr/>
          <p:nvPr/>
        </p:nvSpPr>
        <p:spPr>
          <a:xfrm>
            <a:off x="5742432" y="2377440"/>
            <a:ext cx="640080" cy="640080"/>
          </a:xfrm>
          <a:prstGeom prst="ellipse">
            <a:avLst/>
          </a:prstGeom>
          <a:solidFill>
            <a:srgbClr val="D14343"/>
          </a:solidFill>
          <a:ln/>
        </p:spPr>
      </p:sp>
      <p:sp>
        <p:nvSpPr>
          <p:cNvPr id="13" name="Text 11"/>
          <p:cNvSpPr/>
          <p:nvPr/>
        </p:nvSpPr>
        <p:spPr>
          <a:xfrm>
            <a:off x="5742432" y="2377440"/>
            <a:ext cx="640080" cy="640080"/>
          </a:xfrm>
          <a:prstGeom prst="rect">
            <a:avLst/>
          </a:prstGeom>
          <a:noFill/>
          <a:ln/>
        </p:spPr>
        <p:txBody>
          <a:bodyPr wrap="square" rtlCol="0" anchor="ctr"/>
          <a:lstStyle/>
          <a:p>
            <a:pPr algn="ctr" indent="0" marL="0">
              <a:buNone/>
            </a:pPr>
            <a:r>
              <a:rPr lang="en-US" sz="1820" b="1" dirty="0">
                <a:solidFill>
                  <a:srgbClr val="FFFFFF"/>
                </a:solidFill>
                <a:latin typeface="Calibri" pitchFamily="34" charset="0"/>
                <a:ea typeface="Calibri" pitchFamily="34" charset="-122"/>
                <a:cs typeface="Calibri" pitchFamily="34" charset="-120"/>
              </a:rPr>
              <a:t>ƒ</a:t>
            </a:r>
            <a:endParaRPr lang="en-US" sz="1820" dirty="0"/>
          </a:p>
        </p:txBody>
      </p:sp>
      <p:sp>
        <p:nvSpPr>
          <p:cNvPr id="14" name="Text 12"/>
          <p:cNvSpPr/>
          <p:nvPr/>
        </p:nvSpPr>
        <p:spPr>
          <a:xfrm>
            <a:off x="4462272" y="3246120"/>
            <a:ext cx="320040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Chargeback Rate</a:t>
            </a:r>
            <a:endParaRPr lang="en-US" sz="1500" dirty="0"/>
          </a:p>
        </p:txBody>
      </p:sp>
      <p:sp>
        <p:nvSpPr>
          <p:cNvPr id="15" name="Shape 13"/>
          <p:cNvSpPr/>
          <p:nvPr/>
        </p:nvSpPr>
        <p:spPr>
          <a:xfrm>
            <a:off x="4553712" y="3749040"/>
            <a:ext cx="3017520" cy="1188720"/>
          </a:xfrm>
          <a:prstGeom prst="roundRect">
            <a:avLst>
              <a:gd name="adj" fmla="val 6154"/>
            </a:avLst>
          </a:prstGeom>
          <a:solidFill>
            <a:srgbClr val="1B2E58"/>
          </a:solidFill>
          <a:ln/>
        </p:spPr>
      </p:sp>
      <p:sp>
        <p:nvSpPr>
          <p:cNvPr id="16" name="Text 14"/>
          <p:cNvSpPr/>
          <p:nvPr/>
        </p:nvSpPr>
        <p:spPr>
          <a:xfrm>
            <a:off x="4690872" y="3749040"/>
            <a:ext cx="2743200" cy="1188720"/>
          </a:xfrm>
          <a:prstGeom prst="rect">
            <a:avLst/>
          </a:prstGeom>
          <a:noFill/>
          <a:ln/>
        </p:spPr>
        <p:txBody>
          <a:bodyPr wrap="square" rtlCol="0" anchor="ctr"/>
          <a:lstStyle/>
          <a:p>
            <a:pPr algn="ctr" indent="0" marL="0">
              <a:lnSpc>
                <a:spcPct val="130000"/>
              </a:lnSpc>
              <a:buNone/>
            </a:pPr>
            <a:r>
              <a:rPr lang="en-US" sz="1150" dirty="0">
                <a:solidFill>
                  <a:srgbClr val="F0A23A"/>
                </a:solidFill>
                <a:latin typeface="Courier New" pitchFamily="34" charset="0"/>
                <a:ea typeface="Courier New" pitchFamily="34" charset="-122"/>
                <a:cs typeface="Courier New" pitchFamily="34" charset="-120"/>
              </a:rPr>
              <a:t>chargeback_rate =</a:t>
            </a:r>
            <a:endParaRPr lang="en-US" sz="1150" dirty="0"/>
          </a:p>
          <a:p>
            <a:pPr algn="ctr" indent="0" marL="0">
              <a:lnSpc>
                <a:spcPct val="130000"/>
              </a:lnSpc>
              <a:buNone/>
            </a:pPr>
            <a:r>
              <a:rPr lang="en-US" sz="1150" dirty="0">
                <a:solidFill>
                  <a:srgbClr val="F0A23A"/>
                </a:solidFill>
                <a:latin typeface="Courier New" pitchFamily="34" charset="0"/>
                <a:ea typeface="Courier New" pitchFamily="34" charset="-122"/>
                <a:cs typeface="Courier New" pitchFamily="34" charset="-120"/>
              </a:rPr>
              <a:t>chargeback_count / transaction_count</a:t>
            </a:r>
            <a:endParaRPr lang="en-US" sz="1150" dirty="0"/>
          </a:p>
        </p:txBody>
      </p:sp>
      <p:sp>
        <p:nvSpPr>
          <p:cNvPr id="17" name="Shape 15"/>
          <p:cNvSpPr/>
          <p:nvPr/>
        </p:nvSpPr>
        <p:spPr>
          <a:xfrm>
            <a:off x="8055864" y="2148840"/>
            <a:ext cx="3566160" cy="3017520"/>
          </a:xfrm>
          <a:prstGeom prst="roundRect">
            <a:avLst>
              <a:gd name="adj" fmla="val 2424"/>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8" name="Shape 16"/>
          <p:cNvSpPr/>
          <p:nvPr/>
        </p:nvSpPr>
        <p:spPr>
          <a:xfrm>
            <a:off x="9518904" y="2377440"/>
            <a:ext cx="640080" cy="640080"/>
          </a:xfrm>
          <a:prstGeom prst="ellipse">
            <a:avLst/>
          </a:prstGeom>
          <a:solidFill>
            <a:srgbClr val="2E9E62"/>
          </a:solidFill>
          <a:ln/>
        </p:spPr>
      </p:sp>
      <p:sp>
        <p:nvSpPr>
          <p:cNvPr id="19" name="Text 17"/>
          <p:cNvSpPr/>
          <p:nvPr/>
        </p:nvSpPr>
        <p:spPr>
          <a:xfrm>
            <a:off x="9518904" y="2377440"/>
            <a:ext cx="640080" cy="640080"/>
          </a:xfrm>
          <a:prstGeom prst="rect">
            <a:avLst/>
          </a:prstGeom>
          <a:noFill/>
          <a:ln/>
        </p:spPr>
        <p:txBody>
          <a:bodyPr wrap="square" rtlCol="0" anchor="ctr"/>
          <a:lstStyle/>
          <a:p>
            <a:pPr algn="ctr" indent="0" marL="0">
              <a:buNone/>
            </a:pPr>
            <a:r>
              <a:rPr lang="en-US" sz="1820" b="1" dirty="0">
                <a:solidFill>
                  <a:srgbClr val="FFFFFF"/>
                </a:solidFill>
                <a:latin typeface="Calibri" pitchFamily="34" charset="0"/>
                <a:ea typeface="Calibri" pitchFamily="34" charset="-122"/>
                <a:cs typeface="Calibri" pitchFamily="34" charset="-120"/>
              </a:rPr>
              <a:t>ƒ</a:t>
            </a:r>
            <a:endParaRPr lang="en-US" sz="1820" dirty="0"/>
          </a:p>
        </p:txBody>
      </p:sp>
      <p:sp>
        <p:nvSpPr>
          <p:cNvPr id="20" name="Text 18"/>
          <p:cNvSpPr/>
          <p:nvPr/>
        </p:nvSpPr>
        <p:spPr>
          <a:xfrm>
            <a:off x="8238744" y="3246120"/>
            <a:ext cx="320040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Promo Rate</a:t>
            </a:r>
            <a:endParaRPr lang="en-US" sz="1500" dirty="0"/>
          </a:p>
        </p:txBody>
      </p:sp>
      <p:sp>
        <p:nvSpPr>
          <p:cNvPr id="21" name="Shape 19"/>
          <p:cNvSpPr/>
          <p:nvPr/>
        </p:nvSpPr>
        <p:spPr>
          <a:xfrm>
            <a:off x="8330184" y="3749040"/>
            <a:ext cx="3017520" cy="1188720"/>
          </a:xfrm>
          <a:prstGeom prst="roundRect">
            <a:avLst>
              <a:gd name="adj" fmla="val 6154"/>
            </a:avLst>
          </a:prstGeom>
          <a:solidFill>
            <a:srgbClr val="1B2E58"/>
          </a:solidFill>
          <a:ln/>
        </p:spPr>
      </p:sp>
      <p:sp>
        <p:nvSpPr>
          <p:cNvPr id="22" name="Text 20"/>
          <p:cNvSpPr/>
          <p:nvPr/>
        </p:nvSpPr>
        <p:spPr>
          <a:xfrm>
            <a:off x="8467344" y="3749040"/>
            <a:ext cx="2743200" cy="1188720"/>
          </a:xfrm>
          <a:prstGeom prst="rect">
            <a:avLst/>
          </a:prstGeom>
          <a:noFill/>
          <a:ln/>
        </p:spPr>
        <p:txBody>
          <a:bodyPr wrap="square" rtlCol="0" anchor="ctr"/>
          <a:lstStyle/>
          <a:p>
            <a:pPr algn="ctr" indent="0" marL="0">
              <a:lnSpc>
                <a:spcPct val="130000"/>
              </a:lnSpc>
              <a:buNone/>
            </a:pPr>
            <a:r>
              <a:rPr lang="en-US" sz="1150" dirty="0">
                <a:solidFill>
                  <a:srgbClr val="F0A23A"/>
                </a:solidFill>
                <a:latin typeface="Courier New" pitchFamily="34" charset="0"/>
                <a:ea typeface="Courier New" pitchFamily="34" charset="-122"/>
                <a:cs typeface="Courier New" pitchFamily="34" charset="-120"/>
              </a:rPr>
              <a:t>promo_rate =</a:t>
            </a:r>
            <a:endParaRPr lang="en-US" sz="1150" dirty="0"/>
          </a:p>
          <a:p>
            <a:pPr algn="ctr" indent="0" marL="0">
              <a:lnSpc>
                <a:spcPct val="130000"/>
              </a:lnSpc>
              <a:buNone/>
            </a:pPr>
            <a:r>
              <a:rPr lang="en-US" sz="1150" dirty="0">
                <a:solidFill>
                  <a:srgbClr val="F0A23A"/>
                </a:solidFill>
                <a:latin typeface="Courier New" pitchFamily="34" charset="0"/>
                <a:ea typeface="Courier New" pitchFamily="34" charset="-122"/>
                <a:cs typeface="Courier New" pitchFamily="34" charset="-120"/>
              </a:rPr>
              <a:t>promo_count / transaction_count</a:t>
            </a:r>
            <a:endParaRPr lang="en-US" sz="1150" dirty="0"/>
          </a:p>
        </p:txBody>
      </p:sp>
      <p:sp>
        <p:nvSpPr>
          <p:cNvPr id="23" name="Text 21"/>
          <p:cNvSpPr/>
          <p:nvPr/>
        </p:nvSpPr>
        <p:spPr>
          <a:xfrm>
            <a:off x="502920" y="5349240"/>
            <a:ext cx="11155680" cy="457200"/>
          </a:xfrm>
          <a:prstGeom prst="rect">
            <a:avLst/>
          </a:prstGeom>
          <a:noFill/>
          <a:ln/>
        </p:spPr>
        <p:txBody>
          <a:bodyPr wrap="square" rtlCol="0" anchor="ctr"/>
          <a:lstStyle/>
          <a:p>
            <a:pPr indent="0" marL="0">
              <a:buNone/>
            </a:pPr>
            <a:r>
              <a:rPr lang="en-US" sz="1250" i="1" dirty="0">
                <a:solidFill>
                  <a:srgbClr val="5B6B8C"/>
                </a:solidFill>
                <a:latin typeface="Calibri" pitchFamily="34" charset="0"/>
                <a:ea typeface="Calibri" pitchFamily="34" charset="-122"/>
                <a:cs typeface="Calibri" pitchFamily="34" charset="-120"/>
              </a:rPr>
              <a:t>These engineered ratios feed directly into the rule engine, the ML model, and graph-based risk scoring.</a:t>
            </a:r>
            <a:endParaRPr lang="en-US" sz="1250" dirty="0"/>
          </a:p>
        </p:txBody>
      </p:sp>
      <p:sp>
        <p:nvSpPr>
          <p:cNvPr id="24" name="Text 22"/>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12 · FEATURE ENGINEERING</a:t>
            </a:r>
            <a:endParaRPr lang="en-US" sz="900" dirty="0"/>
          </a:p>
        </p:txBody>
      </p:sp>
      <p:sp>
        <p:nvSpPr>
          <p:cNvPr id="25" name="Text 23"/>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26" name="Text 24"/>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13</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Machine Learning Module</a:t>
            </a:r>
            <a:endParaRPr lang="en-US" sz="3000" dirty="0"/>
          </a:p>
        </p:txBody>
      </p:sp>
      <p:sp>
        <p:nvSpPr>
          <p:cNvPr id="4" name="Text 2"/>
          <p:cNvSpPr/>
          <p:nvPr/>
        </p:nvSpPr>
        <p:spPr>
          <a:xfrm>
            <a:off x="502920" y="1371600"/>
            <a:ext cx="11155680" cy="457200"/>
          </a:xfrm>
          <a:prstGeom prst="rect">
            <a:avLst/>
          </a:prstGeom>
          <a:noFill/>
          <a:ln/>
        </p:spPr>
        <p:txBody>
          <a:bodyPr wrap="square" rtlCol="0" anchor="ctr"/>
          <a:lstStyle/>
          <a:p>
            <a:pPr indent="0" marL="0">
              <a:buNone/>
            </a:pPr>
            <a:r>
              <a:rPr lang="en-US" sz="1350" dirty="0">
                <a:solidFill>
                  <a:srgbClr val="16234A"/>
                </a:solidFill>
                <a:latin typeface="Calibri" pitchFamily="34" charset="0"/>
                <a:ea typeface="Calibri" pitchFamily="34" charset="-122"/>
                <a:cs typeface="Calibri" pitchFamily="34" charset="-120"/>
              </a:rPr>
              <a:t>The ML module analyzes customer behavior and predicts risk from engineered features.</a:t>
            </a:r>
            <a:endParaRPr lang="en-US" sz="1350" dirty="0"/>
          </a:p>
        </p:txBody>
      </p:sp>
      <p:sp>
        <p:nvSpPr>
          <p:cNvPr id="5" name="Shape 3"/>
          <p:cNvSpPr/>
          <p:nvPr/>
        </p:nvSpPr>
        <p:spPr>
          <a:xfrm>
            <a:off x="502920" y="2011680"/>
            <a:ext cx="1691640" cy="868680"/>
          </a:xfrm>
          <a:prstGeom prst="roundRect">
            <a:avLst>
              <a:gd name="adj" fmla="val 8421"/>
            </a:avLst>
          </a:prstGeom>
          <a:solidFill>
            <a:srgbClr val="1B2E58"/>
          </a:solidFill>
          <a:ln/>
        </p:spPr>
      </p:sp>
      <p:sp>
        <p:nvSpPr>
          <p:cNvPr id="6" name="Text 4"/>
          <p:cNvSpPr/>
          <p:nvPr/>
        </p:nvSpPr>
        <p:spPr>
          <a:xfrm>
            <a:off x="502920" y="2011680"/>
            <a:ext cx="1691640" cy="86868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Processed</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Dataset</a:t>
            </a:r>
            <a:endParaRPr lang="en-US" sz="1050" dirty="0"/>
          </a:p>
        </p:txBody>
      </p:sp>
      <p:sp>
        <p:nvSpPr>
          <p:cNvPr id="7" name="Shape 5"/>
          <p:cNvSpPr/>
          <p:nvPr/>
        </p:nvSpPr>
        <p:spPr>
          <a:xfrm>
            <a:off x="2221992" y="2331720"/>
            <a:ext cx="164592" cy="228600"/>
          </a:xfrm>
          <a:prstGeom prst="rightArrow">
            <a:avLst/>
          </a:prstGeom>
          <a:solidFill>
            <a:srgbClr val="F0A23A"/>
          </a:solidFill>
          <a:ln/>
        </p:spPr>
      </p:sp>
      <p:sp>
        <p:nvSpPr>
          <p:cNvPr id="8" name="Shape 6"/>
          <p:cNvSpPr/>
          <p:nvPr/>
        </p:nvSpPr>
        <p:spPr>
          <a:xfrm>
            <a:off x="2404872" y="2011680"/>
            <a:ext cx="1691640" cy="868680"/>
          </a:xfrm>
          <a:prstGeom prst="roundRect">
            <a:avLst>
              <a:gd name="adj" fmla="val 8421"/>
            </a:avLst>
          </a:prstGeom>
          <a:solidFill>
            <a:srgbClr val="1B2E58"/>
          </a:solidFill>
          <a:ln/>
        </p:spPr>
      </p:sp>
      <p:sp>
        <p:nvSpPr>
          <p:cNvPr id="9" name="Text 7"/>
          <p:cNvSpPr/>
          <p:nvPr/>
        </p:nvSpPr>
        <p:spPr>
          <a:xfrm>
            <a:off x="2404872" y="2011680"/>
            <a:ext cx="1691640" cy="86868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Selection</a:t>
            </a:r>
            <a:endParaRPr lang="en-US" sz="1050" dirty="0"/>
          </a:p>
        </p:txBody>
      </p:sp>
      <p:sp>
        <p:nvSpPr>
          <p:cNvPr id="10" name="Shape 8"/>
          <p:cNvSpPr/>
          <p:nvPr/>
        </p:nvSpPr>
        <p:spPr>
          <a:xfrm>
            <a:off x="4123944" y="2331720"/>
            <a:ext cx="164592" cy="228600"/>
          </a:xfrm>
          <a:prstGeom prst="rightArrow">
            <a:avLst/>
          </a:prstGeom>
          <a:solidFill>
            <a:srgbClr val="F0A23A"/>
          </a:solidFill>
          <a:ln/>
        </p:spPr>
      </p:sp>
      <p:sp>
        <p:nvSpPr>
          <p:cNvPr id="11" name="Shape 9"/>
          <p:cNvSpPr/>
          <p:nvPr/>
        </p:nvSpPr>
        <p:spPr>
          <a:xfrm>
            <a:off x="4306824" y="2011680"/>
            <a:ext cx="1691640" cy="868680"/>
          </a:xfrm>
          <a:prstGeom prst="roundRect">
            <a:avLst>
              <a:gd name="adj" fmla="val 8421"/>
            </a:avLst>
          </a:prstGeom>
          <a:solidFill>
            <a:srgbClr val="1B2E58"/>
          </a:solidFill>
          <a:ln/>
        </p:spPr>
      </p:sp>
      <p:sp>
        <p:nvSpPr>
          <p:cNvPr id="12" name="Text 10"/>
          <p:cNvSpPr/>
          <p:nvPr/>
        </p:nvSpPr>
        <p:spPr>
          <a:xfrm>
            <a:off x="4306824" y="2011680"/>
            <a:ext cx="1691640" cy="86868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Training</a:t>
            </a:r>
            <a:endParaRPr lang="en-US" sz="1050" dirty="0"/>
          </a:p>
        </p:txBody>
      </p:sp>
      <p:sp>
        <p:nvSpPr>
          <p:cNvPr id="13" name="Shape 11"/>
          <p:cNvSpPr/>
          <p:nvPr/>
        </p:nvSpPr>
        <p:spPr>
          <a:xfrm>
            <a:off x="6025896" y="2331720"/>
            <a:ext cx="164592" cy="228600"/>
          </a:xfrm>
          <a:prstGeom prst="rightArrow">
            <a:avLst/>
          </a:prstGeom>
          <a:solidFill>
            <a:srgbClr val="F0A23A"/>
          </a:solidFill>
          <a:ln/>
        </p:spPr>
      </p:sp>
      <p:sp>
        <p:nvSpPr>
          <p:cNvPr id="14" name="Shape 12"/>
          <p:cNvSpPr/>
          <p:nvPr/>
        </p:nvSpPr>
        <p:spPr>
          <a:xfrm>
            <a:off x="6208776" y="2011680"/>
            <a:ext cx="1691640" cy="868680"/>
          </a:xfrm>
          <a:prstGeom prst="roundRect">
            <a:avLst>
              <a:gd name="adj" fmla="val 8421"/>
            </a:avLst>
          </a:prstGeom>
          <a:solidFill>
            <a:srgbClr val="1B2E58"/>
          </a:solidFill>
          <a:ln/>
        </p:spPr>
      </p:sp>
      <p:sp>
        <p:nvSpPr>
          <p:cNvPr id="15" name="Text 13"/>
          <p:cNvSpPr/>
          <p:nvPr/>
        </p:nvSpPr>
        <p:spPr>
          <a:xfrm>
            <a:off x="6208776" y="2011680"/>
            <a:ext cx="1691640" cy="86868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Evaluation</a:t>
            </a:r>
            <a:endParaRPr lang="en-US" sz="1050" dirty="0"/>
          </a:p>
        </p:txBody>
      </p:sp>
      <p:sp>
        <p:nvSpPr>
          <p:cNvPr id="16" name="Shape 14"/>
          <p:cNvSpPr/>
          <p:nvPr/>
        </p:nvSpPr>
        <p:spPr>
          <a:xfrm>
            <a:off x="7927848" y="2331720"/>
            <a:ext cx="164592" cy="228600"/>
          </a:xfrm>
          <a:prstGeom prst="rightArrow">
            <a:avLst/>
          </a:prstGeom>
          <a:solidFill>
            <a:srgbClr val="F0A23A"/>
          </a:solidFill>
          <a:ln/>
        </p:spPr>
      </p:sp>
      <p:sp>
        <p:nvSpPr>
          <p:cNvPr id="17" name="Shape 15"/>
          <p:cNvSpPr/>
          <p:nvPr/>
        </p:nvSpPr>
        <p:spPr>
          <a:xfrm>
            <a:off x="8110728" y="2011680"/>
            <a:ext cx="1691640" cy="868680"/>
          </a:xfrm>
          <a:prstGeom prst="roundRect">
            <a:avLst>
              <a:gd name="adj" fmla="val 8421"/>
            </a:avLst>
          </a:prstGeom>
          <a:solidFill>
            <a:srgbClr val="1B2E58"/>
          </a:solidFill>
          <a:ln/>
        </p:spPr>
      </p:sp>
      <p:sp>
        <p:nvSpPr>
          <p:cNvPr id="18" name="Text 16"/>
          <p:cNvSpPr/>
          <p:nvPr/>
        </p:nvSpPr>
        <p:spPr>
          <a:xfrm>
            <a:off x="8110728" y="2011680"/>
            <a:ext cx="1691640" cy="86868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Save Trained</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19" name="Shape 17"/>
          <p:cNvSpPr/>
          <p:nvPr/>
        </p:nvSpPr>
        <p:spPr>
          <a:xfrm>
            <a:off x="9829800" y="2331720"/>
            <a:ext cx="164592" cy="228600"/>
          </a:xfrm>
          <a:prstGeom prst="rightArrow">
            <a:avLst/>
          </a:prstGeom>
          <a:solidFill>
            <a:srgbClr val="F0A23A"/>
          </a:solidFill>
          <a:ln/>
        </p:spPr>
      </p:sp>
      <p:sp>
        <p:nvSpPr>
          <p:cNvPr id="20" name="Shape 18"/>
          <p:cNvSpPr/>
          <p:nvPr/>
        </p:nvSpPr>
        <p:spPr>
          <a:xfrm>
            <a:off x="10012680" y="2011680"/>
            <a:ext cx="1691640" cy="868680"/>
          </a:xfrm>
          <a:prstGeom prst="roundRect">
            <a:avLst>
              <a:gd name="adj" fmla="val 8421"/>
            </a:avLst>
          </a:prstGeom>
          <a:solidFill>
            <a:srgbClr val="1B2E58"/>
          </a:solidFill>
          <a:ln/>
        </p:spPr>
      </p:sp>
      <p:sp>
        <p:nvSpPr>
          <p:cNvPr id="21" name="Text 19"/>
          <p:cNvSpPr/>
          <p:nvPr/>
        </p:nvSpPr>
        <p:spPr>
          <a:xfrm>
            <a:off x="10012680" y="2011680"/>
            <a:ext cx="1691640" cy="86868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Customer</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Prediction</a:t>
            </a:r>
            <a:endParaRPr lang="en-US" sz="1050" dirty="0"/>
          </a:p>
        </p:txBody>
      </p:sp>
      <p:sp>
        <p:nvSpPr>
          <p:cNvPr id="22" name="Shape 20"/>
          <p:cNvSpPr/>
          <p:nvPr/>
        </p:nvSpPr>
        <p:spPr>
          <a:xfrm>
            <a:off x="502920" y="3246120"/>
            <a:ext cx="5440680" cy="2880360"/>
          </a:xfrm>
          <a:prstGeom prst="roundRect">
            <a:avLst>
              <a:gd name="adj" fmla="val 2540"/>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3" name="Text 21"/>
          <p:cNvSpPr/>
          <p:nvPr/>
        </p:nvSpPr>
        <p:spPr>
          <a:xfrm>
            <a:off x="777240" y="3474720"/>
            <a:ext cx="4846320" cy="274320"/>
          </a:xfrm>
          <a:prstGeom prst="rect">
            <a:avLst/>
          </a:prstGeom>
          <a:noFill/>
          <a:ln/>
        </p:spPr>
        <p:txBody>
          <a:bodyPr wrap="square" rtlCol="0" anchor="ctr"/>
          <a:lstStyle/>
          <a:p>
            <a:pPr indent="0" marL="0">
              <a:buNone/>
            </a:pPr>
            <a:r>
              <a:rPr lang="en-US" sz="1200" b="1" spc="100" kern="0" dirty="0">
                <a:solidFill>
                  <a:srgbClr val="3A6FF0"/>
                </a:solidFill>
                <a:latin typeface="Calibri" pitchFamily="34" charset="0"/>
                <a:ea typeface="Calibri" pitchFamily="34" charset="-122"/>
                <a:cs typeface="Calibri" pitchFamily="34" charset="-120"/>
              </a:rPr>
              <a:t>IMPORTANT FEATURES</a:t>
            </a:r>
            <a:endParaRPr lang="en-US" sz="1200" dirty="0"/>
          </a:p>
        </p:txBody>
      </p:sp>
      <p:sp>
        <p:nvSpPr>
          <p:cNvPr id="24" name="Shape 22"/>
          <p:cNvSpPr/>
          <p:nvPr/>
        </p:nvSpPr>
        <p:spPr>
          <a:xfrm>
            <a:off x="868680" y="3959352"/>
            <a:ext cx="109728" cy="109728"/>
          </a:xfrm>
          <a:prstGeom prst="ellipse">
            <a:avLst/>
          </a:prstGeom>
          <a:solidFill>
            <a:srgbClr val="3A6FF0"/>
          </a:solidFill>
          <a:ln/>
        </p:spPr>
      </p:sp>
      <p:sp>
        <p:nvSpPr>
          <p:cNvPr id="25" name="Text 23"/>
          <p:cNvSpPr/>
          <p:nvPr/>
        </p:nvSpPr>
        <p:spPr>
          <a:xfrm>
            <a:off x="1097280" y="3840480"/>
            <a:ext cx="2286000" cy="36576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Credit score</a:t>
            </a:r>
            <a:endParaRPr lang="en-US" sz="1150" dirty="0"/>
          </a:p>
        </p:txBody>
      </p:sp>
      <p:sp>
        <p:nvSpPr>
          <p:cNvPr id="26" name="Shape 24"/>
          <p:cNvSpPr/>
          <p:nvPr/>
        </p:nvSpPr>
        <p:spPr>
          <a:xfrm>
            <a:off x="3474720" y="3959352"/>
            <a:ext cx="109728" cy="109728"/>
          </a:xfrm>
          <a:prstGeom prst="ellipse">
            <a:avLst/>
          </a:prstGeom>
          <a:solidFill>
            <a:srgbClr val="3A6FF0"/>
          </a:solidFill>
          <a:ln/>
        </p:spPr>
      </p:sp>
      <p:sp>
        <p:nvSpPr>
          <p:cNvPr id="27" name="Text 25"/>
          <p:cNvSpPr/>
          <p:nvPr/>
        </p:nvSpPr>
        <p:spPr>
          <a:xfrm>
            <a:off x="3703320" y="3840480"/>
            <a:ext cx="2286000" cy="36576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Monthly income</a:t>
            </a:r>
            <a:endParaRPr lang="en-US" sz="1150" dirty="0"/>
          </a:p>
        </p:txBody>
      </p:sp>
      <p:sp>
        <p:nvSpPr>
          <p:cNvPr id="28" name="Shape 26"/>
          <p:cNvSpPr/>
          <p:nvPr/>
        </p:nvSpPr>
        <p:spPr>
          <a:xfrm>
            <a:off x="868680" y="4416552"/>
            <a:ext cx="109728" cy="109728"/>
          </a:xfrm>
          <a:prstGeom prst="ellipse">
            <a:avLst/>
          </a:prstGeom>
          <a:solidFill>
            <a:srgbClr val="3A6FF0"/>
          </a:solidFill>
          <a:ln/>
        </p:spPr>
      </p:sp>
      <p:sp>
        <p:nvSpPr>
          <p:cNvPr id="29" name="Text 27"/>
          <p:cNvSpPr/>
          <p:nvPr/>
        </p:nvSpPr>
        <p:spPr>
          <a:xfrm>
            <a:off x="1097280" y="4297680"/>
            <a:ext cx="2286000" cy="36576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Account age</a:t>
            </a:r>
            <a:endParaRPr lang="en-US" sz="1150" dirty="0"/>
          </a:p>
        </p:txBody>
      </p:sp>
      <p:sp>
        <p:nvSpPr>
          <p:cNvPr id="30" name="Shape 28"/>
          <p:cNvSpPr/>
          <p:nvPr/>
        </p:nvSpPr>
        <p:spPr>
          <a:xfrm>
            <a:off x="3474720" y="4416552"/>
            <a:ext cx="109728" cy="109728"/>
          </a:xfrm>
          <a:prstGeom prst="ellipse">
            <a:avLst/>
          </a:prstGeom>
          <a:solidFill>
            <a:srgbClr val="3A6FF0"/>
          </a:solidFill>
          <a:ln/>
        </p:spPr>
      </p:sp>
      <p:sp>
        <p:nvSpPr>
          <p:cNvPr id="31" name="Text 29"/>
          <p:cNvSpPr/>
          <p:nvPr/>
        </p:nvSpPr>
        <p:spPr>
          <a:xfrm>
            <a:off x="3703320" y="4297680"/>
            <a:ext cx="2286000" cy="36576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Transaction count</a:t>
            </a:r>
            <a:endParaRPr lang="en-US" sz="1150" dirty="0"/>
          </a:p>
        </p:txBody>
      </p:sp>
      <p:sp>
        <p:nvSpPr>
          <p:cNvPr id="32" name="Shape 30"/>
          <p:cNvSpPr/>
          <p:nvPr/>
        </p:nvSpPr>
        <p:spPr>
          <a:xfrm>
            <a:off x="868680" y="4873752"/>
            <a:ext cx="109728" cy="109728"/>
          </a:xfrm>
          <a:prstGeom prst="ellipse">
            <a:avLst/>
          </a:prstGeom>
          <a:solidFill>
            <a:srgbClr val="3A6FF0"/>
          </a:solidFill>
          <a:ln/>
        </p:spPr>
      </p:sp>
      <p:sp>
        <p:nvSpPr>
          <p:cNvPr id="33" name="Text 31"/>
          <p:cNvSpPr/>
          <p:nvPr/>
        </p:nvSpPr>
        <p:spPr>
          <a:xfrm>
            <a:off x="1097280" y="4754880"/>
            <a:ext cx="2286000" cy="36576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Transaction amount</a:t>
            </a:r>
            <a:endParaRPr lang="en-US" sz="1150" dirty="0"/>
          </a:p>
        </p:txBody>
      </p:sp>
      <p:sp>
        <p:nvSpPr>
          <p:cNvPr id="34" name="Shape 32"/>
          <p:cNvSpPr/>
          <p:nvPr/>
        </p:nvSpPr>
        <p:spPr>
          <a:xfrm>
            <a:off x="3474720" y="4873752"/>
            <a:ext cx="109728" cy="109728"/>
          </a:xfrm>
          <a:prstGeom prst="ellipse">
            <a:avLst/>
          </a:prstGeom>
          <a:solidFill>
            <a:srgbClr val="3A6FF0"/>
          </a:solidFill>
          <a:ln/>
        </p:spPr>
      </p:sp>
      <p:sp>
        <p:nvSpPr>
          <p:cNvPr id="35" name="Text 33"/>
          <p:cNvSpPr/>
          <p:nvPr/>
        </p:nvSpPr>
        <p:spPr>
          <a:xfrm>
            <a:off x="3703320" y="4754880"/>
            <a:ext cx="2286000" cy="36576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Declined transactions</a:t>
            </a:r>
            <a:endParaRPr lang="en-US" sz="1150" dirty="0"/>
          </a:p>
        </p:txBody>
      </p:sp>
      <p:sp>
        <p:nvSpPr>
          <p:cNvPr id="36" name="Shape 34"/>
          <p:cNvSpPr/>
          <p:nvPr/>
        </p:nvSpPr>
        <p:spPr>
          <a:xfrm>
            <a:off x="868680" y="5330952"/>
            <a:ext cx="109728" cy="109728"/>
          </a:xfrm>
          <a:prstGeom prst="ellipse">
            <a:avLst/>
          </a:prstGeom>
          <a:solidFill>
            <a:srgbClr val="3A6FF0"/>
          </a:solidFill>
          <a:ln/>
        </p:spPr>
      </p:sp>
      <p:sp>
        <p:nvSpPr>
          <p:cNvPr id="37" name="Text 35"/>
          <p:cNvSpPr/>
          <p:nvPr/>
        </p:nvSpPr>
        <p:spPr>
          <a:xfrm>
            <a:off x="1097280" y="5212080"/>
            <a:ext cx="2286000" cy="36576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Chargebacks</a:t>
            </a:r>
            <a:endParaRPr lang="en-US" sz="1150" dirty="0"/>
          </a:p>
        </p:txBody>
      </p:sp>
      <p:sp>
        <p:nvSpPr>
          <p:cNvPr id="38" name="Shape 36"/>
          <p:cNvSpPr/>
          <p:nvPr/>
        </p:nvSpPr>
        <p:spPr>
          <a:xfrm>
            <a:off x="3474720" y="5330952"/>
            <a:ext cx="109728" cy="109728"/>
          </a:xfrm>
          <a:prstGeom prst="ellipse">
            <a:avLst/>
          </a:prstGeom>
          <a:solidFill>
            <a:srgbClr val="3A6FF0"/>
          </a:solidFill>
          <a:ln/>
        </p:spPr>
      </p:sp>
      <p:sp>
        <p:nvSpPr>
          <p:cNvPr id="39" name="Text 37"/>
          <p:cNvSpPr/>
          <p:nvPr/>
        </p:nvSpPr>
        <p:spPr>
          <a:xfrm>
            <a:off x="3703320" y="5212080"/>
            <a:ext cx="2286000" cy="36576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Promotional usage</a:t>
            </a:r>
            <a:endParaRPr lang="en-US" sz="1150" dirty="0"/>
          </a:p>
        </p:txBody>
      </p:sp>
      <p:sp>
        <p:nvSpPr>
          <p:cNvPr id="40" name="Shape 38"/>
          <p:cNvSpPr/>
          <p:nvPr/>
        </p:nvSpPr>
        <p:spPr>
          <a:xfrm>
            <a:off x="6217920" y="3246120"/>
            <a:ext cx="5440680" cy="2880360"/>
          </a:xfrm>
          <a:prstGeom prst="roundRect">
            <a:avLst>
              <a:gd name="adj" fmla="val 2540"/>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41" name="Text 39"/>
          <p:cNvSpPr/>
          <p:nvPr/>
        </p:nvSpPr>
        <p:spPr>
          <a:xfrm>
            <a:off x="6492240" y="3474720"/>
            <a:ext cx="4846320" cy="274320"/>
          </a:xfrm>
          <a:prstGeom prst="rect">
            <a:avLst/>
          </a:prstGeom>
          <a:noFill/>
          <a:ln/>
        </p:spPr>
        <p:txBody>
          <a:bodyPr wrap="square" rtlCol="0" anchor="ctr"/>
          <a:lstStyle/>
          <a:p>
            <a:pPr indent="0" marL="0">
              <a:buNone/>
            </a:pPr>
            <a:r>
              <a:rPr lang="en-US" sz="1200" b="1" spc="100" kern="0" dirty="0">
                <a:solidFill>
                  <a:srgbClr val="F0A23A"/>
                </a:solidFill>
                <a:latin typeface="Calibri" pitchFamily="34" charset="0"/>
                <a:ea typeface="Calibri" pitchFamily="34" charset="-122"/>
                <a:cs typeface="Calibri" pitchFamily="34" charset="-120"/>
              </a:rPr>
              <a:t>OUTPUT</a:t>
            </a:r>
            <a:endParaRPr lang="en-US" sz="1200" dirty="0"/>
          </a:p>
        </p:txBody>
      </p:sp>
      <p:sp>
        <p:nvSpPr>
          <p:cNvPr id="42" name="Shape 40"/>
          <p:cNvSpPr/>
          <p:nvPr/>
        </p:nvSpPr>
        <p:spPr>
          <a:xfrm>
            <a:off x="6492240" y="3886200"/>
            <a:ext cx="4892040" cy="548640"/>
          </a:xfrm>
          <a:prstGeom prst="roundRect">
            <a:avLst>
              <a:gd name="adj" fmla="val 13333"/>
            </a:avLst>
          </a:prstGeom>
          <a:solidFill>
            <a:srgbClr val="1B2E58"/>
          </a:solidFill>
          <a:ln/>
        </p:spPr>
      </p:sp>
      <p:sp>
        <p:nvSpPr>
          <p:cNvPr id="43" name="Text 41"/>
          <p:cNvSpPr/>
          <p:nvPr/>
        </p:nvSpPr>
        <p:spPr>
          <a:xfrm>
            <a:off x="6492240" y="3886200"/>
            <a:ext cx="489204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Customer</a:t>
            </a:r>
            <a:endParaRPr lang="en-US" sz="1300" dirty="0"/>
          </a:p>
        </p:txBody>
      </p:sp>
      <p:sp>
        <p:nvSpPr>
          <p:cNvPr id="44" name="Shape 42"/>
          <p:cNvSpPr/>
          <p:nvPr/>
        </p:nvSpPr>
        <p:spPr>
          <a:xfrm>
            <a:off x="8846820" y="4453128"/>
            <a:ext cx="182880" cy="128016"/>
          </a:xfrm>
          <a:prstGeom prst="downArrow">
            <a:avLst/>
          </a:prstGeom>
          <a:solidFill>
            <a:srgbClr val="F0A23A"/>
          </a:solidFill>
          <a:ln/>
        </p:spPr>
      </p:sp>
      <p:sp>
        <p:nvSpPr>
          <p:cNvPr id="45" name="Shape 43"/>
          <p:cNvSpPr/>
          <p:nvPr/>
        </p:nvSpPr>
        <p:spPr>
          <a:xfrm>
            <a:off x="6492240" y="4663440"/>
            <a:ext cx="4892040" cy="548640"/>
          </a:xfrm>
          <a:prstGeom prst="roundRect">
            <a:avLst>
              <a:gd name="adj" fmla="val 13333"/>
            </a:avLst>
          </a:prstGeom>
          <a:solidFill>
            <a:srgbClr val="1B2E58"/>
          </a:solidFill>
          <a:ln/>
        </p:spPr>
      </p:sp>
      <p:sp>
        <p:nvSpPr>
          <p:cNvPr id="46" name="Text 44"/>
          <p:cNvSpPr/>
          <p:nvPr/>
        </p:nvSpPr>
        <p:spPr>
          <a:xfrm>
            <a:off x="6492240" y="4663440"/>
            <a:ext cx="489204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ML Model</a:t>
            </a:r>
            <a:endParaRPr lang="en-US" sz="1300" dirty="0"/>
          </a:p>
        </p:txBody>
      </p:sp>
      <p:sp>
        <p:nvSpPr>
          <p:cNvPr id="47" name="Shape 45"/>
          <p:cNvSpPr/>
          <p:nvPr/>
        </p:nvSpPr>
        <p:spPr>
          <a:xfrm>
            <a:off x="8846820" y="5230368"/>
            <a:ext cx="182880" cy="128016"/>
          </a:xfrm>
          <a:prstGeom prst="downArrow">
            <a:avLst/>
          </a:prstGeom>
          <a:solidFill>
            <a:srgbClr val="F0A23A"/>
          </a:solidFill>
          <a:ln/>
        </p:spPr>
      </p:sp>
      <p:sp>
        <p:nvSpPr>
          <p:cNvPr id="48" name="Shape 46"/>
          <p:cNvSpPr/>
          <p:nvPr/>
        </p:nvSpPr>
        <p:spPr>
          <a:xfrm>
            <a:off x="6492240" y="5440680"/>
            <a:ext cx="4892040" cy="548640"/>
          </a:xfrm>
          <a:prstGeom prst="roundRect">
            <a:avLst>
              <a:gd name="adj" fmla="val 13333"/>
            </a:avLst>
          </a:prstGeom>
          <a:solidFill>
            <a:srgbClr val="1B2E58"/>
          </a:solidFill>
          <a:ln/>
        </p:spPr>
      </p:sp>
      <p:sp>
        <p:nvSpPr>
          <p:cNvPr id="49" name="Text 47"/>
          <p:cNvSpPr/>
          <p:nvPr/>
        </p:nvSpPr>
        <p:spPr>
          <a:xfrm>
            <a:off x="6492240" y="5440680"/>
            <a:ext cx="489204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ML Risk Level</a:t>
            </a:r>
            <a:endParaRPr lang="en-US" sz="1300" dirty="0"/>
          </a:p>
        </p:txBody>
      </p:sp>
      <p:sp>
        <p:nvSpPr>
          <p:cNvPr id="50" name="Text 48"/>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13 · MACHINE LEARNING</a:t>
            </a:r>
            <a:endParaRPr lang="en-US" sz="900" dirty="0"/>
          </a:p>
        </p:txBody>
      </p:sp>
      <p:sp>
        <p:nvSpPr>
          <p:cNvPr id="51" name="Text 49"/>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52" name="Text 50"/>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14</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Graph-Based Fraud Detection</a:t>
            </a:r>
            <a:endParaRPr lang="en-US" sz="3000" dirty="0"/>
          </a:p>
        </p:txBody>
      </p:sp>
      <p:sp>
        <p:nvSpPr>
          <p:cNvPr id="4" name="Text 2"/>
          <p:cNvSpPr/>
          <p:nvPr/>
        </p:nvSpPr>
        <p:spPr>
          <a:xfrm>
            <a:off x="502920" y="1371600"/>
            <a:ext cx="11155680" cy="640080"/>
          </a:xfrm>
          <a:prstGeom prst="rect">
            <a:avLst/>
          </a:prstGeom>
          <a:noFill/>
          <a:ln/>
        </p:spPr>
        <p:txBody>
          <a:bodyPr wrap="square" rtlCol="0" anchor="ctr"/>
          <a:lstStyle/>
          <a:p>
            <a:pPr indent="0" marL="0">
              <a:lnSpc>
                <a:spcPct val="125000"/>
              </a:lnSpc>
              <a:buNone/>
            </a:pPr>
            <a:r>
              <a:rPr lang="en-US" sz="1300" dirty="0">
                <a:solidFill>
                  <a:srgbClr val="16234A"/>
                </a:solidFill>
                <a:latin typeface="Calibri" pitchFamily="34" charset="0"/>
                <a:ea typeface="Calibri" pitchFamily="34" charset="-122"/>
                <a:cs typeface="Calibri" pitchFamily="34" charset="-120"/>
              </a:rPr>
              <a:t>The graph engine is a core component of RISKNET AI. Graphs naturally represent entities as nodes and relationships as edges, enabling analysis of connected and multi-hop suspicious patterns.</a:t>
            </a:r>
            <a:endParaRPr lang="en-US" sz="1300" dirty="0"/>
          </a:p>
        </p:txBody>
      </p:sp>
      <p:sp>
        <p:nvSpPr>
          <p:cNvPr id="5" name="Shape 3"/>
          <p:cNvSpPr/>
          <p:nvPr/>
        </p:nvSpPr>
        <p:spPr>
          <a:xfrm>
            <a:off x="502920" y="2148840"/>
            <a:ext cx="3611880" cy="3931920"/>
          </a:xfrm>
          <a:prstGeom prst="roundRect">
            <a:avLst>
              <a:gd name="adj" fmla="val 2025"/>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6" name="Text 4"/>
          <p:cNvSpPr/>
          <p:nvPr/>
        </p:nvSpPr>
        <p:spPr>
          <a:xfrm>
            <a:off x="777240" y="2377440"/>
            <a:ext cx="3108960" cy="320040"/>
          </a:xfrm>
          <a:prstGeom prst="rect">
            <a:avLst/>
          </a:prstGeom>
          <a:noFill/>
          <a:ln/>
        </p:spPr>
        <p:txBody>
          <a:bodyPr wrap="square" rtlCol="0" anchor="ctr"/>
          <a:lstStyle/>
          <a:p>
            <a:pPr indent="0" marL="0">
              <a:buNone/>
            </a:pPr>
            <a:r>
              <a:rPr lang="en-US" sz="1300" b="1" spc="100" kern="0" dirty="0">
                <a:solidFill>
                  <a:srgbClr val="3A6FF0"/>
                </a:solidFill>
                <a:latin typeface="Calibri" pitchFamily="34" charset="0"/>
                <a:ea typeface="Calibri" pitchFamily="34" charset="-122"/>
                <a:cs typeface="Calibri" pitchFamily="34" charset="-120"/>
              </a:rPr>
              <a:t>NODES</a:t>
            </a:r>
            <a:endParaRPr lang="en-US" sz="1300" dirty="0"/>
          </a:p>
        </p:txBody>
      </p:sp>
      <p:sp>
        <p:nvSpPr>
          <p:cNvPr id="7" name="Shape 5"/>
          <p:cNvSpPr/>
          <p:nvPr/>
        </p:nvSpPr>
        <p:spPr>
          <a:xfrm>
            <a:off x="868680" y="2834640"/>
            <a:ext cx="365760" cy="365760"/>
          </a:xfrm>
          <a:prstGeom prst="ellipse">
            <a:avLst/>
          </a:prstGeom>
          <a:solidFill>
            <a:srgbClr val="3A6FF0"/>
          </a:solidFill>
          <a:ln/>
        </p:spPr>
      </p:sp>
      <p:sp>
        <p:nvSpPr>
          <p:cNvPr id="8" name="Text 6"/>
          <p:cNvSpPr/>
          <p:nvPr/>
        </p:nvSpPr>
        <p:spPr>
          <a:xfrm>
            <a:off x="868680" y="283464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9" name="Text 7"/>
          <p:cNvSpPr/>
          <p:nvPr/>
        </p:nvSpPr>
        <p:spPr>
          <a:xfrm>
            <a:off x="1371600" y="2834640"/>
            <a:ext cx="246888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Customers</a:t>
            </a:r>
            <a:endParaRPr lang="en-US" sz="1250" dirty="0"/>
          </a:p>
        </p:txBody>
      </p:sp>
      <p:sp>
        <p:nvSpPr>
          <p:cNvPr id="10" name="Shape 8"/>
          <p:cNvSpPr/>
          <p:nvPr/>
        </p:nvSpPr>
        <p:spPr>
          <a:xfrm>
            <a:off x="868680" y="3337560"/>
            <a:ext cx="365760" cy="365760"/>
          </a:xfrm>
          <a:prstGeom prst="ellipse">
            <a:avLst/>
          </a:prstGeom>
          <a:solidFill>
            <a:srgbClr val="3A6FF0"/>
          </a:solidFill>
          <a:ln/>
        </p:spPr>
      </p:sp>
      <p:sp>
        <p:nvSpPr>
          <p:cNvPr id="11" name="Text 9"/>
          <p:cNvSpPr/>
          <p:nvPr/>
        </p:nvSpPr>
        <p:spPr>
          <a:xfrm>
            <a:off x="868680" y="333756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2" name="Text 10"/>
          <p:cNvSpPr/>
          <p:nvPr/>
        </p:nvSpPr>
        <p:spPr>
          <a:xfrm>
            <a:off x="1371600" y="3337560"/>
            <a:ext cx="246888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Devices</a:t>
            </a:r>
            <a:endParaRPr lang="en-US" sz="1250" dirty="0"/>
          </a:p>
        </p:txBody>
      </p:sp>
      <p:sp>
        <p:nvSpPr>
          <p:cNvPr id="13" name="Shape 11"/>
          <p:cNvSpPr/>
          <p:nvPr/>
        </p:nvSpPr>
        <p:spPr>
          <a:xfrm>
            <a:off x="868680" y="3840480"/>
            <a:ext cx="365760" cy="365760"/>
          </a:xfrm>
          <a:prstGeom prst="ellipse">
            <a:avLst/>
          </a:prstGeom>
          <a:solidFill>
            <a:srgbClr val="3A6FF0"/>
          </a:solidFill>
          <a:ln/>
        </p:spPr>
      </p:sp>
      <p:sp>
        <p:nvSpPr>
          <p:cNvPr id="14" name="Text 12"/>
          <p:cNvSpPr/>
          <p:nvPr/>
        </p:nvSpPr>
        <p:spPr>
          <a:xfrm>
            <a:off x="868680" y="384048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5" name="Text 13"/>
          <p:cNvSpPr/>
          <p:nvPr/>
        </p:nvSpPr>
        <p:spPr>
          <a:xfrm>
            <a:off x="1371600" y="3840480"/>
            <a:ext cx="246888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Payment instruments</a:t>
            </a:r>
            <a:endParaRPr lang="en-US" sz="1250" dirty="0"/>
          </a:p>
        </p:txBody>
      </p:sp>
      <p:sp>
        <p:nvSpPr>
          <p:cNvPr id="16" name="Text 14"/>
          <p:cNvSpPr/>
          <p:nvPr/>
        </p:nvSpPr>
        <p:spPr>
          <a:xfrm>
            <a:off x="777240" y="4572000"/>
            <a:ext cx="3108960" cy="320040"/>
          </a:xfrm>
          <a:prstGeom prst="rect">
            <a:avLst/>
          </a:prstGeom>
          <a:noFill/>
          <a:ln/>
        </p:spPr>
        <p:txBody>
          <a:bodyPr wrap="square" rtlCol="0" anchor="ctr"/>
          <a:lstStyle/>
          <a:p>
            <a:pPr indent="0" marL="0">
              <a:buNone/>
            </a:pPr>
            <a:r>
              <a:rPr lang="en-US" sz="1300" b="1" spc="100" kern="0" dirty="0">
                <a:solidFill>
                  <a:srgbClr val="F0A23A"/>
                </a:solidFill>
                <a:latin typeface="Calibri" pitchFamily="34" charset="0"/>
                <a:ea typeface="Calibri" pitchFamily="34" charset="-122"/>
                <a:cs typeface="Calibri" pitchFamily="34" charset="-120"/>
              </a:rPr>
              <a:t>EDGES</a:t>
            </a:r>
            <a:endParaRPr lang="en-US" sz="1300" dirty="0"/>
          </a:p>
        </p:txBody>
      </p:sp>
      <p:sp>
        <p:nvSpPr>
          <p:cNvPr id="17" name="Text 15"/>
          <p:cNvSpPr/>
          <p:nvPr/>
        </p:nvSpPr>
        <p:spPr>
          <a:xfrm>
            <a:off x="777240" y="4937760"/>
            <a:ext cx="3108960" cy="1005840"/>
          </a:xfrm>
          <a:prstGeom prst="rect">
            <a:avLst/>
          </a:prstGeom>
          <a:noFill/>
          <a:ln/>
        </p:spPr>
        <p:txBody>
          <a:bodyPr wrap="square" rtlCol="0" anchor="ctr"/>
          <a:lstStyle/>
          <a:p>
            <a:pPr indent="0" marL="0">
              <a:lnSpc>
                <a:spcPct val="125000"/>
              </a:lnSpc>
              <a:buNone/>
            </a:pPr>
            <a:r>
              <a:rPr lang="en-US" sz="1150" dirty="0">
                <a:solidFill>
                  <a:srgbClr val="5B6B8C"/>
                </a:solidFill>
                <a:latin typeface="Calibri" pitchFamily="34" charset="0"/>
                <a:ea typeface="Calibri" pitchFamily="34" charset="-122"/>
                <a:cs typeface="Calibri" pitchFamily="34" charset="-120"/>
              </a:rPr>
              <a:t>Relationships between entities — e.g. two customers sharing the same device, or the same payment instrument.</a:t>
            </a:r>
            <a:endParaRPr lang="en-US" sz="1150" dirty="0"/>
          </a:p>
        </p:txBody>
      </p:sp>
      <p:sp>
        <p:nvSpPr>
          <p:cNvPr id="18" name="Shape 16"/>
          <p:cNvSpPr/>
          <p:nvPr/>
        </p:nvSpPr>
        <p:spPr>
          <a:xfrm>
            <a:off x="4343400" y="2148840"/>
            <a:ext cx="7360920" cy="3931920"/>
          </a:xfrm>
          <a:prstGeom prst="roundRect">
            <a:avLst>
              <a:gd name="adj" fmla="val 1860"/>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9" name="Text 17"/>
          <p:cNvSpPr/>
          <p:nvPr/>
        </p:nvSpPr>
        <p:spPr>
          <a:xfrm>
            <a:off x="4617720" y="2331720"/>
            <a:ext cx="6400800" cy="274320"/>
          </a:xfrm>
          <a:prstGeom prst="rect">
            <a:avLst/>
          </a:prstGeom>
          <a:noFill/>
          <a:ln/>
        </p:spPr>
        <p:txBody>
          <a:bodyPr wrap="square" rtlCol="0" anchor="ctr"/>
          <a:lstStyle/>
          <a:p>
            <a:pPr indent="0" marL="0">
              <a:buNone/>
            </a:pPr>
            <a:r>
              <a:rPr lang="en-US" sz="1150" b="1" spc="100" kern="0" dirty="0">
                <a:solidFill>
                  <a:srgbClr val="F0A23A"/>
                </a:solidFill>
                <a:latin typeface="Calibri" pitchFamily="34" charset="0"/>
                <a:ea typeface="Calibri" pitchFamily="34" charset="-122"/>
                <a:cs typeface="Calibri" pitchFamily="34" charset="-120"/>
              </a:rPr>
              <a:t>EXAMPLE RELATIONSHIP</a:t>
            </a:r>
            <a:endParaRPr lang="en-US" sz="1150" dirty="0"/>
          </a:p>
        </p:txBody>
      </p:sp>
      <p:sp>
        <p:nvSpPr>
          <p:cNvPr id="20" name="Shape 18"/>
          <p:cNvSpPr/>
          <p:nvPr/>
        </p:nvSpPr>
        <p:spPr>
          <a:xfrm>
            <a:off x="4846320" y="2880360"/>
            <a:ext cx="1737360" cy="502920"/>
          </a:xfrm>
          <a:prstGeom prst="roundRect">
            <a:avLst>
              <a:gd name="adj" fmla="val 18182"/>
            </a:avLst>
          </a:prstGeom>
          <a:solidFill>
            <a:srgbClr val="3A6FF0"/>
          </a:solidFill>
          <a:ln/>
        </p:spPr>
      </p:sp>
      <p:sp>
        <p:nvSpPr>
          <p:cNvPr id="21" name="Text 19"/>
          <p:cNvSpPr/>
          <p:nvPr/>
        </p:nvSpPr>
        <p:spPr>
          <a:xfrm>
            <a:off x="4846320" y="2880360"/>
            <a:ext cx="173736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CUST100001</a:t>
            </a:r>
            <a:endParaRPr lang="en-US" sz="1150" dirty="0"/>
          </a:p>
        </p:txBody>
      </p:sp>
      <p:sp>
        <p:nvSpPr>
          <p:cNvPr id="22" name="Shape 20"/>
          <p:cNvSpPr/>
          <p:nvPr/>
        </p:nvSpPr>
        <p:spPr>
          <a:xfrm>
            <a:off x="8138160" y="2880360"/>
            <a:ext cx="1737360" cy="502920"/>
          </a:xfrm>
          <a:prstGeom prst="roundRect">
            <a:avLst>
              <a:gd name="adj" fmla="val 18182"/>
            </a:avLst>
          </a:prstGeom>
          <a:solidFill>
            <a:srgbClr val="F0A23A"/>
          </a:solidFill>
          <a:ln/>
        </p:spPr>
      </p:sp>
      <p:sp>
        <p:nvSpPr>
          <p:cNvPr id="23" name="Text 21"/>
          <p:cNvSpPr/>
          <p:nvPr/>
        </p:nvSpPr>
        <p:spPr>
          <a:xfrm>
            <a:off x="8138160" y="2880360"/>
            <a:ext cx="173736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Device_123</a:t>
            </a:r>
            <a:endParaRPr lang="en-US" sz="1150" dirty="0"/>
          </a:p>
        </p:txBody>
      </p:sp>
      <p:sp>
        <p:nvSpPr>
          <p:cNvPr id="24" name="Shape 22"/>
          <p:cNvSpPr/>
          <p:nvPr/>
        </p:nvSpPr>
        <p:spPr>
          <a:xfrm>
            <a:off x="4846320" y="3657600"/>
            <a:ext cx="1737360" cy="502920"/>
          </a:xfrm>
          <a:prstGeom prst="roundRect">
            <a:avLst>
              <a:gd name="adj" fmla="val 18182"/>
            </a:avLst>
          </a:prstGeom>
          <a:solidFill>
            <a:srgbClr val="3A6FF0"/>
          </a:solidFill>
          <a:ln/>
        </p:spPr>
      </p:sp>
      <p:sp>
        <p:nvSpPr>
          <p:cNvPr id="25" name="Text 23"/>
          <p:cNvSpPr/>
          <p:nvPr/>
        </p:nvSpPr>
        <p:spPr>
          <a:xfrm>
            <a:off x="4846320" y="3657600"/>
            <a:ext cx="173736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CUST100002</a:t>
            </a:r>
            <a:endParaRPr lang="en-US" sz="1150" dirty="0"/>
          </a:p>
        </p:txBody>
      </p:sp>
      <p:sp>
        <p:nvSpPr>
          <p:cNvPr id="26" name="Shape 24"/>
          <p:cNvSpPr/>
          <p:nvPr/>
        </p:nvSpPr>
        <p:spPr>
          <a:xfrm>
            <a:off x="6583680" y="3127248"/>
            <a:ext cx="1554480" cy="0"/>
          </a:xfrm>
          <a:prstGeom prst="line">
            <a:avLst/>
          </a:prstGeom>
          <a:noFill/>
          <a:ln w="19050">
            <a:solidFill>
              <a:srgbClr val="9FB1D6"/>
            </a:solidFill>
            <a:prstDash val="dash"/>
          </a:ln>
        </p:spPr>
      </p:sp>
      <p:sp>
        <p:nvSpPr>
          <p:cNvPr id="27" name="Shape 25"/>
          <p:cNvSpPr/>
          <p:nvPr/>
        </p:nvSpPr>
        <p:spPr>
          <a:xfrm>
            <a:off x="5715000" y="3127248"/>
            <a:ext cx="0" cy="502920"/>
          </a:xfrm>
          <a:prstGeom prst="line">
            <a:avLst/>
          </a:prstGeom>
          <a:noFill/>
          <a:ln w="19050">
            <a:solidFill>
              <a:srgbClr val="9FB1D6"/>
            </a:solidFill>
            <a:prstDash val="dash"/>
          </a:ln>
        </p:spPr>
      </p:sp>
      <p:sp>
        <p:nvSpPr>
          <p:cNvPr id="28" name="Text 26"/>
          <p:cNvSpPr/>
          <p:nvPr/>
        </p:nvSpPr>
        <p:spPr>
          <a:xfrm>
            <a:off x="4846320" y="4297680"/>
            <a:ext cx="3657600" cy="365760"/>
          </a:xfrm>
          <a:prstGeom prst="rect">
            <a:avLst/>
          </a:prstGeom>
          <a:noFill/>
          <a:ln/>
        </p:spPr>
        <p:txBody>
          <a:bodyPr wrap="square" rtlCol="0" anchor="ctr"/>
          <a:lstStyle/>
          <a:p>
            <a:pPr indent="0" marL="0">
              <a:buNone/>
            </a:pPr>
            <a:r>
              <a:rPr lang="en-US" sz="1100" i="1" dirty="0">
                <a:solidFill>
                  <a:srgbClr val="D8E3F5"/>
                </a:solidFill>
                <a:latin typeface="Calibri" pitchFamily="34" charset="0"/>
                <a:ea typeface="Calibri" pitchFamily="34" charset="-122"/>
                <a:cs typeface="Calibri" pitchFamily="34" charset="-120"/>
              </a:rPr>
              <a:t>Both customers use the same device</a:t>
            </a:r>
            <a:endParaRPr lang="en-US" sz="1100" dirty="0"/>
          </a:p>
        </p:txBody>
      </p:sp>
      <p:sp>
        <p:nvSpPr>
          <p:cNvPr id="29" name="Shape 27"/>
          <p:cNvSpPr/>
          <p:nvPr/>
        </p:nvSpPr>
        <p:spPr>
          <a:xfrm>
            <a:off x="4846320" y="4892040"/>
            <a:ext cx="1737360" cy="502920"/>
          </a:xfrm>
          <a:prstGeom prst="roundRect">
            <a:avLst>
              <a:gd name="adj" fmla="val 18182"/>
            </a:avLst>
          </a:prstGeom>
          <a:solidFill>
            <a:srgbClr val="3A6FF0"/>
          </a:solidFill>
          <a:ln/>
        </p:spPr>
      </p:sp>
      <p:sp>
        <p:nvSpPr>
          <p:cNvPr id="30" name="Text 28"/>
          <p:cNvSpPr/>
          <p:nvPr/>
        </p:nvSpPr>
        <p:spPr>
          <a:xfrm>
            <a:off x="4846320" y="4892040"/>
            <a:ext cx="173736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CUST100001</a:t>
            </a:r>
            <a:endParaRPr lang="en-US" sz="1150" dirty="0"/>
          </a:p>
        </p:txBody>
      </p:sp>
      <p:sp>
        <p:nvSpPr>
          <p:cNvPr id="31" name="Shape 29"/>
          <p:cNvSpPr/>
          <p:nvPr/>
        </p:nvSpPr>
        <p:spPr>
          <a:xfrm>
            <a:off x="8138160" y="4892040"/>
            <a:ext cx="1737360" cy="502920"/>
          </a:xfrm>
          <a:prstGeom prst="roundRect">
            <a:avLst>
              <a:gd name="adj" fmla="val 18182"/>
            </a:avLst>
          </a:prstGeom>
          <a:solidFill>
            <a:srgbClr val="2E9E62"/>
          </a:solidFill>
          <a:ln/>
        </p:spPr>
      </p:sp>
      <p:sp>
        <p:nvSpPr>
          <p:cNvPr id="32" name="Text 30"/>
          <p:cNvSpPr/>
          <p:nvPr/>
        </p:nvSpPr>
        <p:spPr>
          <a:xfrm>
            <a:off x="8138160" y="4892040"/>
            <a:ext cx="173736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Payment_ABC</a:t>
            </a:r>
            <a:endParaRPr lang="en-US" sz="1150" dirty="0"/>
          </a:p>
        </p:txBody>
      </p:sp>
      <p:sp>
        <p:nvSpPr>
          <p:cNvPr id="33" name="Shape 31"/>
          <p:cNvSpPr/>
          <p:nvPr/>
        </p:nvSpPr>
        <p:spPr>
          <a:xfrm>
            <a:off x="4846320" y="5669280"/>
            <a:ext cx="1737360" cy="502920"/>
          </a:xfrm>
          <a:prstGeom prst="roundRect">
            <a:avLst>
              <a:gd name="adj" fmla="val 18182"/>
            </a:avLst>
          </a:prstGeom>
          <a:solidFill>
            <a:srgbClr val="3A6FF0"/>
          </a:solidFill>
          <a:ln/>
        </p:spPr>
      </p:sp>
      <p:sp>
        <p:nvSpPr>
          <p:cNvPr id="34" name="Text 32"/>
          <p:cNvSpPr/>
          <p:nvPr/>
        </p:nvSpPr>
        <p:spPr>
          <a:xfrm>
            <a:off x="4846320" y="5669280"/>
            <a:ext cx="173736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CUST100003</a:t>
            </a:r>
            <a:endParaRPr lang="en-US" sz="1150" dirty="0"/>
          </a:p>
        </p:txBody>
      </p:sp>
      <p:sp>
        <p:nvSpPr>
          <p:cNvPr id="35" name="Shape 33"/>
          <p:cNvSpPr/>
          <p:nvPr/>
        </p:nvSpPr>
        <p:spPr>
          <a:xfrm>
            <a:off x="6583680" y="5138928"/>
            <a:ext cx="1554480" cy="0"/>
          </a:xfrm>
          <a:prstGeom prst="line">
            <a:avLst/>
          </a:prstGeom>
          <a:noFill/>
          <a:ln w="19050">
            <a:solidFill>
              <a:srgbClr val="9FB1D6"/>
            </a:solidFill>
            <a:prstDash val="dash"/>
          </a:ln>
        </p:spPr>
      </p:sp>
      <p:sp>
        <p:nvSpPr>
          <p:cNvPr id="36" name="Shape 34"/>
          <p:cNvSpPr/>
          <p:nvPr/>
        </p:nvSpPr>
        <p:spPr>
          <a:xfrm>
            <a:off x="5715000" y="5138928"/>
            <a:ext cx="0" cy="502920"/>
          </a:xfrm>
          <a:prstGeom prst="line">
            <a:avLst/>
          </a:prstGeom>
          <a:noFill/>
          <a:ln w="19050">
            <a:solidFill>
              <a:srgbClr val="9FB1D6"/>
            </a:solidFill>
            <a:prstDash val="dash"/>
          </a:ln>
        </p:spPr>
      </p:sp>
      <p:sp>
        <p:nvSpPr>
          <p:cNvPr id="37" name="Text 35"/>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14 · GRAPH FRAUD DETECTION</a:t>
            </a:r>
            <a:endParaRPr lang="en-US" sz="900" dirty="0"/>
          </a:p>
        </p:txBody>
      </p:sp>
      <p:sp>
        <p:nvSpPr>
          <p:cNvPr id="38" name="Text 36"/>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9" name="Text 3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SECTIONS 15–16</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Fraud Graph Construction &amp; Ring Detection</a:t>
            </a:r>
            <a:endParaRPr lang="en-US" sz="3000" dirty="0"/>
          </a:p>
        </p:txBody>
      </p:sp>
      <p:sp>
        <p:nvSpPr>
          <p:cNvPr id="4" name="Shape 2"/>
          <p:cNvSpPr/>
          <p:nvPr/>
        </p:nvSpPr>
        <p:spPr>
          <a:xfrm>
            <a:off x="502920" y="1417320"/>
            <a:ext cx="5623560" cy="4754880"/>
          </a:xfrm>
          <a:prstGeom prst="roundRect">
            <a:avLst>
              <a:gd name="adj" fmla="val 1538"/>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Text 3"/>
          <p:cNvSpPr/>
          <p:nvPr/>
        </p:nvSpPr>
        <p:spPr>
          <a:xfrm>
            <a:off x="777240" y="1645920"/>
            <a:ext cx="5029200" cy="320040"/>
          </a:xfrm>
          <a:prstGeom prst="rect">
            <a:avLst/>
          </a:prstGeom>
          <a:noFill/>
          <a:ln/>
        </p:spPr>
        <p:txBody>
          <a:bodyPr wrap="square" rtlCol="0" anchor="ctr"/>
          <a:lstStyle/>
          <a:p>
            <a:pPr indent="0" marL="0">
              <a:buNone/>
            </a:pPr>
            <a:r>
              <a:rPr lang="en-US" sz="1300" b="1" spc="100" kern="0" dirty="0">
                <a:solidFill>
                  <a:srgbClr val="3A6FF0"/>
                </a:solidFill>
                <a:latin typeface="Calibri" pitchFamily="34" charset="0"/>
                <a:ea typeface="Calibri" pitchFamily="34" charset="-122"/>
                <a:cs typeface="Calibri" pitchFamily="34" charset="-120"/>
              </a:rPr>
              <a:t>GRAPH CONSTRUCTION</a:t>
            </a:r>
            <a:endParaRPr lang="en-US" sz="1300" dirty="0"/>
          </a:p>
        </p:txBody>
      </p:sp>
      <p:sp>
        <p:nvSpPr>
          <p:cNvPr id="6" name="Text 4"/>
          <p:cNvSpPr/>
          <p:nvPr/>
        </p:nvSpPr>
        <p:spPr>
          <a:xfrm>
            <a:off x="777240" y="2011680"/>
            <a:ext cx="5029200" cy="594360"/>
          </a:xfrm>
          <a:prstGeom prst="rect">
            <a:avLst/>
          </a:prstGeom>
          <a:noFill/>
          <a:ln/>
        </p:spPr>
        <p:txBody>
          <a:bodyPr wrap="square" rtlCol="0" anchor="ctr"/>
          <a:lstStyle/>
          <a:p>
            <a:pPr indent="0" marL="0">
              <a:lnSpc>
                <a:spcPct val="120000"/>
              </a:lnSpc>
              <a:buNone/>
            </a:pPr>
            <a:r>
              <a:rPr lang="en-US" sz="1200" dirty="0">
                <a:solidFill>
                  <a:srgbClr val="5B6B8C"/>
                </a:solidFill>
                <a:latin typeface="Calibri" pitchFamily="34" charset="0"/>
                <a:ea typeface="Calibri" pitchFamily="34" charset="-122"/>
                <a:cs typeface="Calibri" pitchFamily="34" charset="-120"/>
              </a:rPr>
              <a:t>For each customer: create a customer node, then connect it to its device node and payment-instrument node.</a:t>
            </a:r>
            <a:endParaRPr lang="en-US" sz="1200" dirty="0"/>
          </a:p>
        </p:txBody>
      </p:sp>
      <p:sp>
        <p:nvSpPr>
          <p:cNvPr id="7" name="Shape 5"/>
          <p:cNvSpPr/>
          <p:nvPr/>
        </p:nvSpPr>
        <p:spPr>
          <a:xfrm>
            <a:off x="2286000" y="2743200"/>
            <a:ext cx="1645920" cy="502920"/>
          </a:xfrm>
          <a:prstGeom prst="roundRect">
            <a:avLst>
              <a:gd name="adj" fmla="val 18182"/>
            </a:avLst>
          </a:prstGeom>
          <a:solidFill>
            <a:srgbClr val="F0A23A"/>
          </a:solidFill>
          <a:ln/>
        </p:spPr>
      </p:sp>
      <p:sp>
        <p:nvSpPr>
          <p:cNvPr id="8" name="Text 6"/>
          <p:cNvSpPr/>
          <p:nvPr/>
        </p:nvSpPr>
        <p:spPr>
          <a:xfrm>
            <a:off x="2286000" y="2743200"/>
            <a:ext cx="164592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Device D1</a:t>
            </a:r>
            <a:endParaRPr lang="en-US" sz="1150" dirty="0"/>
          </a:p>
        </p:txBody>
      </p:sp>
      <p:sp>
        <p:nvSpPr>
          <p:cNvPr id="9" name="Shape 7"/>
          <p:cNvSpPr/>
          <p:nvPr/>
        </p:nvSpPr>
        <p:spPr>
          <a:xfrm>
            <a:off x="777240" y="3657600"/>
            <a:ext cx="1645920" cy="502920"/>
          </a:xfrm>
          <a:prstGeom prst="roundRect">
            <a:avLst>
              <a:gd name="adj" fmla="val 18182"/>
            </a:avLst>
          </a:prstGeom>
          <a:solidFill>
            <a:srgbClr val="3A6FF0"/>
          </a:solidFill>
          <a:ln/>
        </p:spPr>
      </p:sp>
      <p:sp>
        <p:nvSpPr>
          <p:cNvPr id="10" name="Text 8"/>
          <p:cNvSpPr/>
          <p:nvPr/>
        </p:nvSpPr>
        <p:spPr>
          <a:xfrm>
            <a:off x="777240" y="3657600"/>
            <a:ext cx="164592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Customer A</a:t>
            </a:r>
            <a:endParaRPr lang="en-US" sz="1150" dirty="0"/>
          </a:p>
        </p:txBody>
      </p:sp>
      <p:sp>
        <p:nvSpPr>
          <p:cNvPr id="11" name="Shape 9"/>
          <p:cNvSpPr/>
          <p:nvPr/>
        </p:nvSpPr>
        <p:spPr>
          <a:xfrm>
            <a:off x="3794760" y="3657600"/>
            <a:ext cx="1645920" cy="502920"/>
          </a:xfrm>
          <a:prstGeom prst="roundRect">
            <a:avLst>
              <a:gd name="adj" fmla="val 18182"/>
            </a:avLst>
          </a:prstGeom>
          <a:solidFill>
            <a:srgbClr val="3A6FF0"/>
          </a:solidFill>
          <a:ln/>
        </p:spPr>
      </p:sp>
      <p:sp>
        <p:nvSpPr>
          <p:cNvPr id="12" name="Text 10"/>
          <p:cNvSpPr/>
          <p:nvPr/>
        </p:nvSpPr>
        <p:spPr>
          <a:xfrm>
            <a:off x="3794760" y="3657600"/>
            <a:ext cx="164592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Customer B</a:t>
            </a:r>
            <a:endParaRPr lang="en-US" sz="1150" dirty="0"/>
          </a:p>
        </p:txBody>
      </p:sp>
      <p:sp>
        <p:nvSpPr>
          <p:cNvPr id="13" name="Shape 11"/>
          <p:cNvSpPr/>
          <p:nvPr/>
        </p:nvSpPr>
        <p:spPr>
          <a:xfrm>
            <a:off x="2286000" y="4572000"/>
            <a:ext cx="1645920" cy="502920"/>
          </a:xfrm>
          <a:prstGeom prst="roundRect">
            <a:avLst>
              <a:gd name="adj" fmla="val 18182"/>
            </a:avLst>
          </a:prstGeom>
          <a:solidFill>
            <a:srgbClr val="2E9E62"/>
          </a:solidFill>
          <a:ln/>
        </p:spPr>
      </p:sp>
      <p:sp>
        <p:nvSpPr>
          <p:cNvPr id="14" name="Text 12"/>
          <p:cNvSpPr/>
          <p:nvPr/>
        </p:nvSpPr>
        <p:spPr>
          <a:xfrm>
            <a:off x="2286000" y="4572000"/>
            <a:ext cx="164592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Payment P1</a:t>
            </a:r>
            <a:endParaRPr lang="en-US" sz="1150" dirty="0"/>
          </a:p>
        </p:txBody>
      </p:sp>
      <p:sp>
        <p:nvSpPr>
          <p:cNvPr id="15" name="Shape 13"/>
          <p:cNvSpPr/>
          <p:nvPr/>
        </p:nvSpPr>
        <p:spPr>
          <a:xfrm>
            <a:off x="1600200" y="3246120"/>
            <a:ext cx="594360" cy="411480"/>
          </a:xfrm>
          <a:prstGeom prst="line">
            <a:avLst/>
          </a:prstGeom>
          <a:noFill/>
          <a:ln w="15875">
            <a:solidFill>
              <a:srgbClr val="5B6B8C"/>
            </a:solidFill>
            <a:prstDash val="solid"/>
          </a:ln>
        </p:spPr>
      </p:sp>
      <p:sp>
        <p:nvSpPr>
          <p:cNvPr id="16" name="Shape 14"/>
          <p:cNvSpPr/>
          <p:nvPr/>
        </p:nvSpPr>
        <p:spPr>
          <a:xfrm>
            <a:off x="3108960" y="3246120"/>
            <a:ext cx="594360" cy="411480"/>
          </a:xfrm>
          <a:prstGeom prst="line">
            <a:avLst/>
          </a:prstGeom>
          <a:noFill/>
          <a:ln w="15875">
            <a:solidFill>
              <a:srgbClr val="5B6B8C"/>
            </a:solidFill>
            <a:prstDash val="solid"/>
          </a:ln>
        </p:spPr>
      </p:sp>
      <p:sp>
        <p:nvSpPr>
          <p:cNvPr id="17" name="Shape 15"/>
          <p:cNvSpPr/>
          <p:nvPr/>
        </p:nvSpPr>
        <p:spPr>
          <a:xfrm>
            <a:off x="1600200" y="3886200"/>
            <a:ext cx="594360" cy="685800"/>
          </a:xfrm>
          <a:prstGeom prst="line">
            <a:avLst/>
          </a:prstGeom>
          <a:noFill/>
          <a:ln w="15875">
            <a:solidFill>
              <a:srgbClr val="5B6B8C"/>
            </a:solidFill>
            <a:prstDash val="solid"/>
          </a:ln>
        </p:spPr>
      </p:sp>
      <p:sp>
        <p:nvSpPr>
          <p:cNvPr id="18" name="Shape 16"/>
          <p:cNvSpPr/>
          <p:nvPr/>
        </p:nvSpPr>
        <p:spPr>
          <a:xfrm>
            <a:off x="3108960" y="4160520"/>
            <a:ext cx="594360" cy="411480"/>
          </a:xfrm>
          <a:prstGeom prst="line">
            <a:avLst/>
          </a:prstGeom>
          <a:noFill/>
          <a:ln w="15875">
            <a:solidFill>
              <a:srgbClr val="5B6B8C"/>
            </a:solidFill>
            <a:prstDash val="solid"/>
          </a:ln>
        </p:spPr>
      </p:sp>
      <p:sp>
        <p:nvSpPr>
          <p:cNvPr id="19" name="Text 17"/>
          <p:cNvSpPr/>
          <p:nvPr/>
        </p:nvSpPr>
        <p:spPr>
          <a:xfrm>
            <a:off x="777240" y="5257800"/>
            <a:ext cx="5029200" cy="365760"/>
          </a:xfrm>
          <a:prstGeom prst="rect">
            <a:avLst/>
          </a:prstGeom>
          <a:noFill/>
          <a:ln/>
        </p:spPr>
        <p:txBody>
          <a:bodyPr wrap="square" rtlCol="0" anchor="ctr"/>
          <a:lstStyle/>
          <a:p>
            <a:pPr indent="0" marL="0">
              <a:buNone/>
            </a:pPr>
            <a:r>
              <a:rPr lang="en-US" sz="1150" i="1" dirty="0">
                <a:solidFill>
                  <a:srgbClr val="16234A"/>
                </a:solidFill>
                <a:latin typeface="Calibri" pitchFamily="34" charset="0"/>
                <a:ea typeface="Calibri" pitchFamily="34" charset="-122"/>
                <a:cs typeface="Calibri" pitchFamily="34" charset="-120"/>
              </a:rPr>
              <a:t>→ Customers A &amp; B form a connected network.</a:t>
            </a:r>
            <a:endParaRPr lang="en-US" sz="1150" dirty="0"/>
          </a:p>
        </p:txBody>
      </p:sp>
      <p:sp>
        <p:nvSpPr>
          <p:cNvPr id="20" name="Shape 18"/>
          <p:cNvSpPr/>
          <p:nvPr/>
        </p:nvSpPr>
        <p:spPr>
          <a:xfrm>
            <a:off x="6309360" y="1417320"/>
            <a:ext cx="5349240" cy="4754880"/>
          </a:xfrm>
          <a:prstGeom prst="roundRect">
            <a:avLst>
              <a:gd name="adj" fmla="val 1538"/>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1" name="Text 19"/>
          <p:cNvSpPr/>
          <p:nvPr/>
        </p:nvSpPr>
        <p:spPr>
          <a:xfrm>
            <a:off x="6583680" y="1645920"/>
            <a:ext cx="4846320" cy="320040"/>
          </a:xfrm>
          <a:prstGeom prst="rect">
            <a:avLst/>
          </a:prstGeom>
          <a:noFill/>
          <a:ln/>
        </p:spPr>
        <p:txBody>
          <a:bodyPr wrap="square" rtlCol="0" anchor="ctr"/>
          <a:lstStyle/>
          <a:p>
            <a:pPr indent="0" marL="0">
              <a:buNone/>
            </a:pPr>
            <a:r>
              <a:rPr lang="en-US" sz="1300" b="1" spc="100" kern="0" dirty="0">
                <a:solidFill>
                  <a:srgbClr val="F0A23A"/>
                </a:solidFill>
                <a:latin typeface="Calibri" pitchFamily="34" charset="0"/>
                <a:ea typeface="Calibri" pitchFamily="34" charset="-122"/>
                <a:cs typeface="Calibri" pitchFamily="34" charset="-120"/>
              </a:rPr>
              <a:t>FRAUD RING DETECTION</a:t>
            </a:r>
            <a:endParaRPr lang="en-US" sz="1300" dirty="0"/>
          </a:p>
        </p:txBody>
      </p:sp>
      <p:sp>
        <p:nvSpPr>
          <p:cNvPr id="22" name="Text 20"/>
          <p:cNvSpPr/>
          <p:nvPr/>
        </p:nvSpPr>
        <p:spPr>
          <a:xfrm>
            <a:off x="6583680" y="2011680"/>
            <a:ext cx="4846320" cy="822960"/>
          </a:xfrm>
          <a:prstGeom prst="rect">
            <a:avLst/>
          </a:prstGeom>
          <a:noFill/>
          <a:ln/>
        </p:spPr>
        <p:txBody>
          <a:bodyPr wrap="square" rtlCol="0" anchor="ctr"/>
          <a:lstStyle/>
          <a:p>
            <a:pPr indent="0" marL="0">
              <a:lnSpc>
                <a:spcPct val="125000"/>
              </a:lnSpc>
              <a:buNone/>
            </a:pPr>
            <a:r>
              <a:rPr lang="en-US" sz="1200" dirty="0">
                <a:solidFill>
                  <a:srgbClr val="D8E3F5"/>
                </a:solidFill>
                <a:latin typeface="Calibri" pitchFamily="34" charset="0"/>
                <a:ea typeface="Calibri" pitchFamily="34" charset="-122"/>
                <a:cs typeface="Calibri" pitchFamily="34" charset="-120"/>
              </a:rPr>
              <a:t>Fraud rings are detected by finding connected components in the graph — chains of customers linked through shared devices and payment instruments are grouped and assigned a ring_id.</a:t>
            </a:r>
            <a:endParaRPr lang="en-US" sz="1200" dirty="0"/>
          </a:p>
        </p:txBody>
      </p:sp>
      <p:sp>
        <p:nvSpPr>
          <p:cNvPr id="23" name="Shape 21"/>
          <p:cNvSpPr/>
          <p:nvPr/>
        </p:nvSpPr>
        <p:spPr>
          <a:xfrm>
            <a:off x="6858000" y="3017520"/>
            <a:ext cx="4206240" cy="438912"/>
          </a:xfrm>
          <a:prstGeom prst="roundRect">
            <a:avLst>
              <a:gd name="adj" fmla="val 16667"/>
            </a:avLst>
          </a:prstGeom>
          <a:solidFill>
            <a:srgbClr val="1B2E58"/>
          </a:solidFill>
          <a:ln/>
        </p:spPr>
      </p:sp>
      <p:sp>
        <p:nvSpPr>
          <p:cNvPr id="24" name="Text 22"/>
          <p:cNvSpPr/>
          <p:nvPr/>
        </p:nvSpPr>
        <p:spPr>
          <a:xfrm>
            <a:off x="6858000" y="3017520"/>
            <a:ext cx="4206240"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 A</a:t>
            </a:r>
            <a:endParaRPr lang="en-US" sz="1200" dirty="0"/>
          </a:p>
        </p:txBody>
      </p:sp>
      <p:sp>
        <p:nvSpPr>
          <p:cNvPr id="25" name="Shape 23"/>
          <p:cNvSpPr/>
          <p:nvPr/>
        </p:nvSpPr>
        <p:spPr>
          <a:xfrm>
            <a:off x="8897112" y="3474720"/>
            <a:ext cx="128016" cy="89611"/>
          </a:xfrm>
          <a:prstGeom prst="downArrow">
            <a:avLst/>
          </a:prstGeom>
          <a:solidFill>
            <a:srgbClr val="F0A23A"/>
          </a:solidFill>
          <a:ln/>
        </p:spPr>
      </p:sp>
      <p:sp>
        <p:nvSpPr>
          <p:cNvPr id="26" name="Shape 24"/>
          <p:cNvSpPr/>
          <p:nvPr/>
        </p:nvSpPr>
        <p:spPr>
          <a:xfrm>
            <a:off x="6858000" y="3584448"/>
            <a:ext cx="4206240" cy="438912"/>
          </a:xfrm>
          <a:prstGeom prst="roundRect">
            <a:avLst>
              <a:gd name="adj" fmla="val 16667"/>
            </a:avLst>
          </a:prstGeom>
          <a:solidFill>
            <a:srgbClr val="1B2E58"/>
          </a:solidFill>
          <a:ln/>
        </p:spPr>
      </p:sp>
      <p:sp>
        <p:nvSpPr>
          <p:cNvPr id="27" name="Text 25"/>
          <p:cNvSpPr/>
          <p:nvPr/>
        </p:nvSpPr>
        <p:spPr>
          <a:xfrm>
            <a:off x="6858000" y="3584448"/>
            <a:ext cx="4206240"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Device X</a:t>
            </a:r>
            <a:endParaRPr lang="en-US" sz="1200" dirty="0"/>
          </a:p>
        </p:txBody>
      </p:sp>
      <p:sp>
        <p:nvSpPr>
          <p:cNvPr id="28" name="Shape 26"/>
          <p:cNvSpPr/>
          <p:nvPr/>
        </p:nvSpPr>
        <p:spPr>
          <a:xfrm>
            <a:off x="8897112" y="4041648"/>
            <a:ext cx="128016" cy="89611"/>
          </a:xfrm>
          <a:prstGeom prst="downArrow">
            <a:avLst/>
          </a:prstGeom>
          <a:solidFill>
            <a:srgbClr val="F0A23A"/>
          </a:solidFill>
          <a:ln/>
        </p:spPr>
      </p:sp>
      <p:sp>
        <p:nvSpPr>
          <p:cNvPr id="29" name="Shape 27"/>
          <p:cNvSpPr/>
          <p:nvPr/>
        </p:nvSpPr>
        <p:spPr>
          <a:xfrm>
            <a:off x="6858000" y="4151376"/>
            <a:ext cx="4206240" cy="438912"/>
          </a:xfrm>
          <a:prstGeom prst="roundRect">
            <a:avLst>
              <a:gd name="adj" fmla="val 16667"/>
            </a:avLst>
          </a:prstGeom>
          <a:solidFill>
            <a:srgbClr val="1B2E58"/>
          </a:solidFill>
          <a:ln/>
        </p:spPr>
      </p:sp>
      <p:sp>
        <p:nvSpPr>
          <p:cNvPr id="30" name="Text 28"/>
          <p:cNvSpPr/>
          <p:nvPr/>
        </p:nvSpPr>
        <p:spPr>
          <a:xfrm>
            <a:off x="6858000" y="4151376"/>
            <a:ext cx="4206240"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 B</a:t>
            </a:r>
            <a:endParaRPr lang="en-US" sz="1200" dirty="0"/>
          </a:p>
        </p:txBody>
      </p:sp>
      <p:sp>
        <p:nvSpPr>
          <p:cNvPr id="31" name="Shape 29"/>
          <p:cNvSpPr/>
          <p:nvPr/>
        </p:nvSpPr>
        <p:spPr>
          <a:xfrm>
            <a:off x="8897112" y="4608576"/>
            <a:ext cx="128016" cy="89611"/>
          </a:xfrm>
          <a:prstGeom prst="downArrow">
            <a:avLst/>
          </a:prstGeom>
          <a:solidFill>
            <a:srgbClr val="F0A23A"/>
          </a:solidFill>
          <a:ln/>
        </p:spPr>
      </p:sp>
      <p:sp>
        <p:nvSpPr>
          <p:cNvPr id="32" name="Shape 30"/>
          <p:cNvSpPr/>
          <p:nvPr/>
        </p:nvSpPr>
        <p:spPr>
          <a:xfrm>
            <a:off x="6858000" y="4718304"/>
            <a:ext cx="4206240" cy="438912"/>
          </a:xfrm>
          <a:prstGeom prst="roundRect">
            <a:avLst>
              <a:gd name="adj" fmla="val 16667"/>
            </a:avLst>
          </a:prstGeom>
          <a:solidFill>
            <a:srgbClr val="1B2E58"/>
          </a:solidFill>
          <a:ln/>
        </p:spPr>
      </p:sp>
      <p:sp>
        <p:nvSpPr>
          <p:cNvPr id="33" name="Text 31"/>
          <p:cNvSpPr/>
          <p:nvPr/>
        </p:nvSpPr>
        <p:spPr>
          <a:xfrm>
            <a:off x="6858000" y="4718304"/>
            <a:ext cx="4206240"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Payment Y</a:t>
            </a:r>
            <a:endParaRPr lang="en-US" sz="1200" dirty="0"/>
          </a:p>
        </p:txBody>
      </p:sp>
      <p:sp>
        <p:nvSpPr>
          <p:cNvPr id="34" name="Shape 32"/>
          <p:cNvSpPr/>
          <p:nvPr/>
        </p:nvSpPr>
        <p:spPr>
          <a:xfrm>
            <a:off x="8897112" y="5175504"/>
            <a:ext cx="128016" cy="89611"/>
          </a:xfrm>
          <a:prstGeom prst="downArrow">
            <a:avLst/>
          </a:prstGeom>
          <a:solidFill>
            <a:srgbClr val="F0A23A"/>
          </a:solidFill>
          <a:ln/>
        </p:spPr>
      </p:sp>
      <p:sp>
        <p:nvSpPr>
          <p:cNvPr id="35" name="Shape 33"/>
          <p:cNvSpPr/>
          <p:nvPr/>
        </p:nvSpPr>
        <p:spPr>
          <a:xfrm>
            <a:off x="6858000" y="5285232"/>
            <a:ext cx="4206240" cy="438912"/>
          </a:xfrm>
          <a:prstGeom prst="roundRect">
            <a:avLst>
              <a:gd name="adj" fmla="val 16667"/>
            </a:avLst>
          </a:prstGeom>
          <a:solidFill>
            <a:srgbClr val="1B2E58"/>
          </a:solidFill>
          <a:ln/>
        </p:spPr>
      </p:sp>
      <p:sp>
        <p:nvSpPr>
          <p:cNvPr id="36" name="Text 34"/>
          <p:cNvSpPr/>
          <p:nvPr/>
        </p:nvSpPr>
        <p:spPr>
          <a:xfrm>
            <a:off x="6858000" y="5285232"/>
            <a:ext cx="4206240"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 C</a:t>
            </a:r>
            <a:endParaRPr lang="en-US" sz="1200" dirty="0"/>
          </a:p>
        </p:txBody>
      </p:sp>
      <p:sp>
        <p:nvSpPr>
          <p:cNvPr id="37" name="Shape 35"/>
          <p:cNvSpPr/>
          <p:nvPr/>
        </p:nvSpPr>
        <p:spPr>
          <a:xfrm>
            <a:off x="6858000" y="5852160"/>
            <a:ext cx="4206240" cy="274320"/>
          </a:xfrm>
          <a:prstGeom prst="roundRect">
            <a:avLst>
              <a:gd name="adj" fmla="val 26667"/>
            </a:avLst>
          </a:prstGeom>
          <a:solidFill>
            <a:srgbClr val="F0A23A"/>
          </a:solidFill>
          <a:ln/>
        </p:spPr>
      </p:sp>
      <p:sp>
        <p:nvSpPr>
          <p:cNvPr id="38" name="Text 36"/>
          <p:cNvSpPr/>
          <p:nvPr/>
        </p:nvSpPr>
        <p:spPr>
          <a:xfrm>
            <a:off x="6858000" y="5852160"/>
            <a:ext cx="4206240" cy="274320"/>
          </a:xfrm>
          <a:prstGeom prst="rect">
            <a:avLst/>
          </a:prstGeom>
          <a:noFill/>
          <a:ln/>
        </p:spPr>
        <p:txBody>
          <a:bodyPr wrap="square" rtlCol="0" anchor="ctr"/>
          <a:lstStyle/>
          <a:p>
            <a:pPr algn="ctr" indent="0" marL="0">
              <a:buNone/>
            </a:pPr>
            <a:r>
              <a:rPr lang="en-US" sz="1050" b="1" dirty="0">
                <a:solidFill>
                  <a:srgbClr val="101F3C"/>
                </a:solidFill>
                <a:latin typeface="Calibri" pitchFamily="34" charset="0"/>
                <a:ea typeface="Calibri" pitchFamily="34" charset="-122"/>
                <a:cs typeface="Calibri" pitchFamily="34" charset="-120"/>
              </a:rPr>
              <a:t>→ Assigned ring_id, e.g. "Ring 8"</a:t>
            </a:r>
            <a:endParaRPr lang="en-US" sz="1050" dirty="0"/>
          </a:p>
        </p:txBody>
      </p:sp>
      <p:sp>
        <p:nvSpPr>
          <p:cNvPr id="39" name="Text 3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SECTIONS 15–16 · GRAPH CONSTRUCTION &amp; RING DETECTION</a:t>
            </a:r>
            <a:endParaRPr lang="en-US" sz="900" dirty="0"/>
          </a:p>
        </p:txBody>
      </p:sp>
      <p:sp>
        <p:nvSpPr>
          <p:cNvPr id="40" name="Text 3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41" name="Text 3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17</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Graph Risk Scoring</a:t>
            </a:r>
            <a:endParaRPr lang="en-US" sz="3000" dirty="0"/>
          </a:p>
        </p:txBody>
      </p:sp>
      <p:sp>
        <p:nvSpPr>
          <p:cNvPr id="4" name="Text 2"/>
          <p:cNvSpPr/>
          <p:nvPr/>
        </p:nvSpPr>
        <p:spPr>
          <a:xfrm>
            <a:off x="502920" y="1371600"/>
            <a:ext cx="11155680" cy="457200"/>
          </a:xfrm>
          <a:prstGeom prst="rect">
            <a:avLst/>
          </a:prstGeom>
          <a:noFill/>
          <a:ln/>
        </p:spPr>
        <p:txBody>
          <a:bodyPr wrap="square" rtlCol="0" anchor="ctr"/>
          <a:lstStyle/>
          <a:p>
            <a:pPr indent="0" marL="0">
              <a:buNone/>
            </a:pPr>
            <a:r>
              <a:rPr lang="en-US" sz="1350" dirty="0">
                <a:solidFill>
                  <a:srgbClr val="16234A"/>
                </a:solidFill>
                <a:latin typeface="Calibri" pitchFamily="34" charset="0"/>
                <a:ea typeface="Calibri" pitchFamily="34" charset="-122"/>
                <a:cs typeface="Calibri" pitchFamily="34" charset="-120"/>
              </a:rPr>
              <a:t>The graph engine calculates network-level risk from structural signals rather than individual behavior alone.</a:t>
            </a:r>
            <a:endParaRPr lang="en-US" sz="1350" dirty="0"/>
          </a:p>
        </p:txBody>
      </p:sp>
      <p:sp>
        <p:nvSpPr>
          <p:cNvPr id="5" name="Shape 3"/>
          <p:cNvSpPr/>
          <p:nvPr/>
        </p:nvSpPr>
        <p:spPr>
          <a:xfrm>
            <a:off x="502920" y="2103120"/>
            <a:ext cx="3566160" cy="960120"/>
          </a:xfrm>
          <a:prstGeom prst="roundRect">
            <a:avLst>
              <a:gd name="adj" fmla="val 761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6" name="Shape 4"/>
          <p:cNvSpPr/>
          <p:nvPr/>
        </p:nvSpPr>
        <p:spPr>
          <a:xfrm>
            <a:off x="731520" y="2359152"/>
            <a:ext cx="457200" cy="457200"/>
          </a:xfrm>
          <a:prstGeom prst="ellipse">
            <a:avLst/>
          </a:prstGeom>
          <a:solidFill>
            <a:srgbClr val="F0A23A"/>
          </a:solidFill>
          <a:ln/>
        </p:spPr>
      </p:sp>
      <p:sp>
        <p:nvSpPr>
          <p:cNvPr id="7" name="Text 5"/>
          <p:cNvSpPr/>
          <p:nvPr/>
        </p:nvSpPr>
        <p:spPr>
          <a:xfrm>
            <a:off x="731520" y="2359152"/>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325880" y="2103120"/>
            <a:ext cx="2606040" cy="960120"/>
          </a:xfrm>
          <a:prstGeom prst="rect">
            <a:avLst/>
          </a:prstGeom>
          <a:noFill/>
          <a:ln/>
        </p:spPr>
        <p:txBody>
          <a:bodyPr wrap="square" rtlCol="0" anchor="ctr"/>
          <a:lstStyle/>
          <a:p>
            <a:pPr indent="0" marL="0">
              <a:lnSpc>
                <a:spcPct val="110000"/>
              </a:lnSpc>
              <a:buNone/>
            </a:pPr>
            <a:r>
              <a:rPr lang="en-US" sz="1200" dirty="0">
                <a:solidFill>
                  <a:srgbClr val="16234A"/>
                </a:solidFill>
                <a:latin typeface="Calibri" pitchFamily="34" charset="0"/>
                <a:ea typeface="Calibri" pitchFamily="34" charset="-122"/>
                <a:cs typeface="Calibri" pitchFamily="34" charset="-120"/>
              </a:rPr>
              <a:t>Number of connected customers</a:t>
            </a:r>
            <a:endParaRPr lang="en-US" sz="1200" dirty="0"/>
          </a:p>
        </p:txBody>
      </p:sp>
      <p:sp>
        <p:nvSpPr>
          <p:cNvPr id="9" name="Shape 7"/>
          <p:cNvSpPr/>
          <p:nvPr/>
        </p:nvSpPr>
        <p:spPr>
          <a:xfrm>
            <a:off x="4297680" y="2103120"/>
            <a:ext cx="3566160" cy="960120"/>
          </a:xfrm>
          <a:prstGeom prst="roundRect">
            <a:avLst>
              <a:gd name="adj" fmla="val 761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0" name="Shape 8"/>
          <p:cNvSpPr/>
          <p:nvPr/>
        </p:nvSpPr>
        <p:spPr>
          <a:xfrm>
            <a:off x="4526280" y="2359152"/>
            <a:ext cx="457200" cy="457200"/>
          </a:xfrm>
          <a:prstGeom prst="ellipse">
            <a:avLst/>
          </a:prstGeom>
          <a:solidFill>
            <a:srgbClr val="F0A23A"/>
          </a:solidFill>
          <a:ln/>
        </p:spPr>
      </p:sp>
      <p:sp>
        <p:nvSpPr>
          <p:cNvPr id="11" name="Text 9"/>
          <p:cNvSpPr/>
          <p:nvPr/>
        </p:nvSpPr>
        <p:spPr>
          <a:xfrm>
            <a:off x="4526280" y="2359152"/>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5120640" y="2103120"/>
            <a:ext cx="2606040" cy="960120"/>
          </a:xfrm>
          <a:prstGeom prst="rect">
            <a:avLst/>
          </a:prstGeom>
          <a:noFill/>
          <a:ln/>
        </p:spPr>
        <p:txBody>
          <a:bodyPr wrap="square" rtlCol="0" anchor="ctr"/>
          <a:lstStyle/>
          <a:p>
            <a:pPr indent="0" marL="0">
              <a:lnSpc>
                <a:spcPct val="110000"/>
              </a:lnSpc>
              <a:buNone/>
            </a:pPr>
            <a:r>
              <a:rPr lang="en-US" sz="1200" dirty="0">
                <a:solidFill>
                  <a:srgbClr val="16234A"/>
                </a:solidFill>
                <a:latin typeface="Calibri" pitchFamily="34" charset="0"/>
                <a:ea typeface="Calibri" pitchFamily="34" charset="-122"/>
                <a:cs typeface="Calibri" pitchFamily="34" charset="-120"/>
              </a:rPr>
              <a:t>Shared devices</a:t>
            </a:r>
            <a:endParaRPr lang="en-US" sz="1200" dirty="0"/>
          </a:p>
        </p:txBody>
      </p:sp>
      <p:sp>
        <p:nvSpPr>
          <p:cNvPr id="13" name="Shape 11"/>
          <p:cNvSpPr/>
          <p:nvPr/>
        </p:nvSpPr>
        <p:spPr>
          <a:xfrm>
            <a:off x="8092440" y="2103120"/>
            <a:ext cx="3566160" cy="960120"/>
          </a:xfrm>
          <a:prstGeom prst="roundRect">
            <a:avLst>
              <a:gd name="adj" fmla="val 761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4" name="Shape 12"/>
          <p:cNvSpPr/>
          <p:nvPr/>
        </p:nvSpPr>
        <p:spPr>
          <a:xfrm>
            <a:off x="8321040" y="2359152"/>
            <a:ext cx="457200" cy="457200"/>
          </a:xfrm>
          <a:prstGeom prst="ellipse">
            <a:avLst/>
          </a:prstGeom>
          <a:solidFill>
            <a:srgbClr val="F0A23A"/>
          </a:solidFill>
          <a:ln/>
        </p:spPr>
      </p:sp>
      <p:sp>
        <p:nvSpPr>
          <p:cNvPr id="15" name="Text 13"/>
          <p:cNvSpPr/>
          <p:nvPr/>
        </p:nvSpPr>
        <p:spPr>
          <a:xfrm>
            <a:off x="8321040" y="2359152"/>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8915400" y="2103120"/>
            <a:ext cx="2606040" cy="960120"/>
          </a:xfrm>
          <a:prstGeom prst="rect">
            <a:avLst/>
          </a:prstGeom>
          <a:noFill/>
          <a:ln/>
        </p:spPr>
        <p:txBody>
          <a:bodyPr wrap="square" rtlCol="0" anchor="ctr"/>
          <a:lstStyle/>
          <a:p>
            <a:pPr indent="0" marL="0">
              <a:lnSpc>
                <a:spcPct val="110000"/>
              </a:lnSpc>
              <a:buNone/>
            </a:pPr>
            <a:r>
              <a:rPr lang="en-US" sz="1200" dirty="0">
                <a:solidFill>
                  <a:srgbClr val="16234A"/>
                </a:solidFill>
                <a:latin typeface="Calibri" pitchFamily="34" charset="0"/>
                <a:ea typeface="Calibri" pitchFamily="34" charset="-122"/>
                <a:cs typeface="Calibri" pitchFamily="34" charset="-120"/>
              </a:rPr>
              <a:t>Shared payment instruments</a:t>
            </a:r>
            <a:endParaRPr lang="en-US" sz="1200" dirty="0"/>
          </a:p>
        </p:txBody>
      </p:sp>
      <p:sp>
        <p:nvSpPr>
          <p:cNvPr id="17" name="Shape 15"/>
          <p:cNvSpPr/>
          <p:nvPr/>
        </p:nvSpPr>
        <p:spPr>
          <a:xfrm>
            <a:off x="502920" y="3291840"/>
            <a:ext cx="3566160" cy="960120"/>
          </a:xfrm>
          <a:prstGeom prst="roundRect">
            <a:avLst>
              <a:gd name="adj" fmla="val 761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8" name="Shape 16"/>
          <p:cNvSpPr/>
          <p:nvPr/>
        </p:nvSpPr>
        <p:spPr>
          <a:xfrm>
            <a:off x="731520" y="3547872"/>
            <a:ext cx="457200" cy="457200"/>
          </a:xfrm>
          <a:prstGeom prst="ellipse">
            <a:avLst/>
          </a:prstGeom>
          <a:solidFill>
            <a:srgbClr val="F0A23A"/>
          </a:solidFill>
          <a:ln/>
        </p:spPr>
      </p:sp>
      <p:sp>
        <p:nvSpPr>
          <p:cNvPr id="19" name="Text 17"/>
          <p:cNvSpPr/>
          <p:nvPr/>
        </p:nvSpPr>
        <p:spPr>
          <a:xfrm>
            <a:off x="731520" y="3547872"/>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1325880" y="3291840"/>
            <a:ext cx="2606040" cy="960120"/>
          </a:xfrm>
          <a:prstGeom prst="rect">
            <a:avLst/>
          </a:prstGeom>
          <a:noFill/>
          <a:ln/>
        </p:spPr>
        <p:txBody>
          <a:bodyPr wrap="square" rtlCol="0" anchor="ctr"/>
          <a:lstStyle/>
          <a:p>
            <a:pPr indent="0" marL="0">
              <a:lnSpc>
                <a:spcPct val="110000"/>
              </a:lnSpc>
              <a:buNone/>
            </a:pPr>
            <a:r>
              <a:rPr lang="en-US" sz="1200" dirty="0">
                <a:solidFill>
                  <a:srgbClr val="16234A"/>
                </a:solidFill>
                <a:latin typeface="Calibri" pitchFamily="34" charset="0"/>
                <a:ea typeface="Calibri" pitchFamily="34" charset="-122"/>
                <a:cs typeface="Calibri" pitchFamily="34" charset="-120"/>
              </a:rPr>
              <a:t>Network size</a:t>
            </a:r>
            <a:endParaRPr lang="en-US" sz="1200" dirty="0"/>
          </a:p>
        </p:txBody>
      </p:sp>
      <p:sp>
        <p:nvSpPr>
          <p:cNvPr id="21" name="Shape 19"/>
          <p:cNvSpPr/>
          <p:nvPr/>
        </p:nvSpPr>
        <p:spPr>
          <a:xfrm>
            <a:off x="4297680" y="3291840"/>
            <a:ext cx="3566160" cy="960120"/>
          </a:xfrm>
          <a:prstGeom prst="roundRect">
            <a:avLst>
              <a:gd name="adj" fmla="val 761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2" name="Shape 20"/>
          <p:cNvSpPr/>
          <p:nvPr/>
        </p:nvSpPr>
        <p:spPr>
          <a:xfrm>
            <a:off x="4526280" y="3547872"/>
            <a:ext cx="457200" cy="457200"/>
          </a:xfrm>
          <a:prstGeom prst="ellipse">
            <a:avLst/>
          </a:prstGeom>
          <a:solidFill>
            <a:srgbClr val="F0A23A"/>
          </a:solidFill>
          <a:ln/>
        </p:spPr>
      </p:sp>
      <p:sp>
        <p:nvSpPr>
          <p:cNvPr id="23" name="Text 21"/>
          <p:cNvSpPr/>
          <p:nvPr/>
        </p:nvSpPr>
        <p:spPr>
          <a:xfrm>
            <a:off x="4526280" y="3547872"/>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5120640" y="3291840"/>
            <a:ext cx="2606040" cy="960120"/>
          </a:xfrm>
          <a:prstGeom prst="rect">
            <a:avLst/>
          </a:prstGeom>
          <a:noFill/>
          <a:ln/>
        </p:spPr>
        <p:txBody>
          <a:bodyPr wrap="square" rtlCol="0" anchor="ctr"/>
          <a:lstStyle/>
          <a:p>
            <a:pPr indent="0" marL="0">
              <a:lnSpc>
                <a:spcPct val="110000"/>
              </a:lnSpc>
              <a:buNone/>
            </a:pPr>
            <a:r>
              <a:rPr lang="en-US" sz="1200" dirty="0">
                <a:solidFill>
                  <a:srgbClr val="16234A"/>
                </a:solidFill>
                <a:latin typeface="Calibri" pitchFamily="34" charset="0"/>
                <a:ea typeface="Calibri" pitchFamily="34" charset="-122"/>
                <a:cs typeface="Calibri" pitchFamily="34" charset="-120"/>
              </a:rPr>
              <a:t>Suspicious cluster behavior</a:t>
            </a:r>
            <a:endParaRPr lang="en-US" sz="1200" dirty="0"/>
          </a:p>
        </p:txBody>
      </p:sp>
      <p:sp>
        <p:nvSpPr>
          <p:cNvPr id="25" name="Text 23"/>
          <p:cNvSpPr/>
          <p:nvPr/>
        </p:nvSpPr>
        <p:spPr>
          <a:xfrm>
            <a:off x="502920" y="4434840"/>
            <a:ext cx="3657600" cy="320040"/>
          </a:xfrm>
          <a:prstGeom prst="rect">
            <a:avLst/>
          </a:prstGeom>
          <a:noFill/>
          <a:ln/>
        </p:spPr>
        <p:txBody>
          <a:bodyPr wrap="square" rtlCol="0" anchor="ctr"/>
          <a:lstStyle/>
          <a:p>
            <a:pPr indent="0" marL="0">
              <a:buNone/>
            </a:pPr>
            <a:r>
              <a:rPr lang="en-US" sz="1250" b="1" spc="100" kern="0" dirty="0">
                <a:solidFill>
                  <a:srgbClr val="3A6FF0"/>
                </a:solidFill>
                <a:latin typeface="Calibri" pitchFamily="34" charset="0"/>
                <a:ea typeface="Calibri" pitchFamily="34" charset="-122"/>
                <a:cs typeface="Calibri" pitchFamily="34" charset="-120"/>
              </a:rPr>
              <a:t>OUTPUT FLOW</a:t>
            </a:r>
            <a:endParaRPr lang="en-US" sz="1250" dirty="0"/>
          </a:p>
        </p:txBody>
      </p:sp>
      <p:sp>
        <p:nvSpPr>
          <p:cNvPr id="26" name="Shape 24"/>
          <p:cNvSpPr/>
          <p:nvPr/>
        </p:nvSpPr>
        <p:spPr>
          <a:xfrm>
            <a:off x="502920" y="4800600"/>
            <a:ext cx="3291840" cy="548640"/>
          </a:xfrm>
          <a:prstGeom prst="roundRect">
            <a:avLst>
              <a:gd name="adj" fmla="val 13333"/>
            </a:avLst>
          </a:prstGeom>
          <a:solidFill>
            <a:srgbClr val="101F3C"/>
          </a:solidFill>
          <a:ln/>
        </p:spPr>
      </p:sp>
      <p:sp>
        <p:nvSpPr>
          <p:cNvPr id="27" name="Text 25"/>
          <p:cNvSpPr/>
          <p:nvPr/>
        </p:nvSpPr>
        <p:spPr>
          <a:xfrm>
            <a:off x="502920" y="4800600"/>
            <a:ext cx="3291840" cy="54864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graph_risk_score</a:t>
            </a:r>
            <a:endParaRPr lang="en-US" sz="1300" dirty="0"/>
          </a:p>
        </p:txBody>
      </p:sp>
      <p:sp>
        <p:nvSpPr>
          <p:cNvPr id="28" name="Shape 26"/>
          <p:cNvSpPr/>
          <p:nvPr/>
        </p:nvSpPr>
        <p:spPr>
          <a:xfrm>
            <a:off x="3886200" y="4937760"/>
            <a:ext cx="320040" cy="274320"/>
          </a:xfrm>
          <a:prstGeom prst="rightArrow">
            <a:avLst/>
          </a:prstGeom>
          <a:solidFill>
            <a:srgbClr val="F0A23A"/>
          </a:solidFill>
          <a:ln/>
        </p:spPr>
      </p:sp>
      <p:sp>
        <p:nvSpPr>
          <p:cNvPr id="29" name="Shape 27"/>
          <p:cNvSpPr/>
          <p:nvPr/>
        </p:nvSpPr>
        <p:spPr>
          <a:xfrm>
            <a:off x="4297680" y="4800600"/>
            <a:ext cx="3017520" cy="548640"/>
          </a:xfrm>
          <a:prstGeom prst="roundRect">
            <a:avLst>
              <a:gd name="adj" fmla="val 13333"/>
            </a:avLst>
          </a:prstGeom>
          <a:solidFill>
            <a:srgbClr val="101F3C"/>
          </a:solidFill>
          <a:ln/>
        </p:spPr>
      </p:sp>
      <p:sp>
        <p:nvSpPr>
          <p:cNvPr id="30" name="Text 28"/>
          <p:cNvSpPr/>
          <p:nvPr/>
        </p:nvSpPr>
        <p:spPr>
          <a:xfrm>
            <a:off x="4297680" y="4800600"/>
            <a:ext cx="3017520" cy="548640"/>
          </a:xfrm>
          <a:prstGeom prst="rect">
            <a:avLst/>
          </a:prstGeom>
          <a:noFill/>
          <a:ln/>
        </p:spPr>
        <p:txBody>
          <a:bodyPr wrap="square"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graph_risk_level</a:t>
            </a:r>
            <a:endParaRPr lang="en-US" sz="1300" dirty="0"/>
          </a:p>
        </p:txBody>
      </p:sp>
      <p:sp>
        <p:nvSpPr>
          <p:cNvPr id="31" name="Shape 29"/>
          <p:cNvSpPr/>
          <p:nvPr/>
        </p:nvSpPr>
        <p:spPr>
          <a:xfrm>
            <a:off x="7863840" y="4800600"/>
            <a:ext cx="1143000" cy="548640"/>
          </a:xfrm>
          <a:prstGeom prst="roundRect">
            <a:avLst>
              <a:gd name="adj" fmla="val 13333"/>
            </a:avLst>
          </a:prstGeom>
          <a:solidFill>
            <a:srgbClr val="2E9E62"/>
          </a:solidFill>
          <a:ln/>
        </p:spPr>
      </p:sp>
      <p:sp>
        <p:nvSpPr>
          <p:cNvPr id="32" name="Text 30"/>
          <p:cNvSpPr/>
          <p:nvPr/>
        </p:nvSpPr>
        <p:spPr>
          <a:xfrm>
            <a:off x="7863840" y="4800600"/>
            <a:ext cx="1143000"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LOW</a:t>
            </a:r>
            <a:endParaRPr lang="en-US" sz="1150" dirty="0"/>
          </a:p>
        </p:txBody>
      </p:sp>
      <p:sp>
        <p:nvSpPr>
          <p:cNvPr id="33" name="Shape 31"/>
          <p:cNvSpPr/>
          <p:nvPr/>
        </p:nvSpPr>
        <p:spPr>
          <a:xfrm>
            <a:off x="9189720" y="4800600"/>
            <a:ext cx="1143000" cy="548640"/>
          </a:xfrm>
          <a:prstGeom prst="roundRect">
            <a:avLst>
              <a:gd name="adj" fmla="val 13333"/>
            </a:avLst>
          </a:prstGeom>
          <a:solidFill>
            <a:srgbClr val="E19A2E"/>
          </a:solidFill>
          <a:ln/>
        </p:spPr>
      </p:sp>
      <p:sp>
        <p:nvSpPr>
          <p:cNvPr id="34" name="Text 32"/>
          <p:cNvSpPr/>
          <p:nvPr/>
        </p:nvSpPr>
        <p:spPr>
          <a:xfrm>
            <a:off x="9189720" y="4800600"/>
            <a:ext cx="1143000"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MEDIUM</a:t>
            </a:r>
            <a:endParaRPr lang="en-US" sz="1150" dirty="0"/>
          </a:p>
        </p:txBody>
      </p:sp>
      <p:sp>
        <p:nvSpPr>
          <p:cNvPr id="35" name="Shape 33"/>
          <p:cNvSpPr/>
          <p:nvPr/>
        </p:nvSpPr>
        <p:spPr>
          <a:xfrm>
            <a:off x="10515600" y="4800600"/>
            <a:ext cx="1143000" cy="548640"/>
          </a:xfrm>
          <a:prstGeom prst="roundRect">
            <a:avLst>
              <a:gd name="adj" fmla="val 13333"/>
            </a:avLst>
          </a:prstGeom>
          <a:solidFill>
            <a:srgbClr val="D14343"/>
          </a:solidFill>
          <a:ln/>
        </p:spPr>
      </p:sp>
      <p:sp>
        <p:nvSpPr>
          <p:cNvPr id="36" name="Text 34"/>
          <p:cNvSpPr/>
          <p:nvPr/>
        </p:nvSpPr>
        <p:spPr>
          <a:xfrm>
            <a:off x="10515600" y="4800600"/>
            <a:ext cx="1143000"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HIGH</a:t>
            </a:r>
            <a:endParaRPr lang="en-US" sz="1150" dirty="0"/>
          </a:p>
        </p:txBody>
      </p:sp>
      <p:sp>
        <p:nvSpPr>
          <p:cNvPr id="37" name="Text 35"/>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17 · GRAPH RISK SCORING</a:t>
            </a:r>
            <a:endParaRPr lang="en-US" sz="900" dirty="0"/>
          </a:p>
        </p:txBody>
      </p:sp>
      <p:sp>
        <p:nvSpPr>
          <p:cNvPr id="38" name="Text 36"/>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9" name="Text 3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F3C"/>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F0A23A"/>
                </a:solidFill>
                <a:latin typeface="Calibri" pitchFamily="34" charset="0"/>
                <a:ea typeface="Calibri" pitchFamily="34" charset="-122"/>
                <a:cs typeface="Calibri" pitchFamily="34" charset="-120"/>
              </a:rPr>
              <a:t>SECTION 18</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Fraud Ring Classification</a:t>
            </a:r>
            <a:endParaRPr lang="en-US" sz="3000" dirty="0"/>
          </a:p>
        </p:txBody>
      </p:sp>
      <p:sp>
        <p:nvSpPr>
          <p:cNvPr id="4" name="Text 2"/>
          <p:cNvSpPr/>
          <p:nvPr/>
        </p:nvSpPr>
        <p:spPr>
          <a:xfrm>
            <a:off x="502920" y="1371600"/>
            <a:ext cx="11155680" cy="548640"/>
          </a:xfrm>
          <a:prstGeom prst="rect">
            <a:avLst/>
          </a:prstGeom>
          <a:noFill/>
          <a:ln/>
        </p:spPr>
        <p:txBody>
          <a:bodyPr wrap="square" rtlCol="0" anchor="ctr"/>
          <a:lstStyle/>
          <a:p>
            <a:pPr indent="0" marL="0">
              <a:buNone/>
            </a:pPr>
            <a:r>
              <a:rPr lang="en-US" sz="1400" dirty="0">
                <a:solidFill>
                  <a:srgbClr val="D8E3F5"/>
                </a:solidFill>
                <a:latin typeface="Calibri" pitchFamily="34" charset="0"/>
                <a:ea typeface="Calibri" pitchFamily="34" charset="-122"/>
                <a:cs typeface="Calibri" pitchFamily="34" charset="-120"/>
              </a:rPr>
              <a:t>RISKNET AI supports three major fraud patterns, each identified by a distinct signature of connected accounts and behavior.</a:t>
            </a:r>
            <a:endParaRPr lang="en-US" sz="1400" dirty="0"/>
          </a:p>
        </p:txBody>
      </p:sp>
      <p:sp>
        <p:nvSpPr>
          <p:cNvPr id="5" name="Shape 3"/>
          <p:cNvSpPr/>
          <p:nvPr/>
        </p:nvSpPr>
        <p:spPr>
          <a:xfrm>
            <a:off x="502920" y="2286000"/>
            <a:ext cx="3566160" cy="3566160"/>
          </a:xfrm>
          <a:prstGeom prst="roundRect">
            <a:avLst>
              <a:gd name="adj" fmla="val 2051"/>
            </a:avLst>
          </a:prstGeom>
          <a:solidFill>
            <a:srgbClr val="1B2E58"/>
          </a:solidFill>
          <a:ln/>
        </p:spPr>
      </p:sp>
      <p:sp>
        <p:nvSpPr>
          <p:cNvPr id="6" name="Shape 4"/>
          <p:cNvSpPr/>
          <p:nvPr/>
        </p:nvSpPr>
        <p:spPr>
          <a:xfrm>
            <a:off x="1897380" y="2491740"/>
            <a:ext cx="777240" cy="777240"/>
          </a:xfrm>
          <a:prstGeom prst="ellipse">
            <a:avLst/>
          </a:prstGeom>
          <a:solidFill>
            <a:srgbClr val="F0A23A"/>
          </a:solidFill>
          <a:ln/>
        </p:spPr>
      </p:sp>
      <p:sp>
        <p:nvSpPr>
          <p:cNvPr id="7" name="Text 5"/>
          <p:cNvSpPr/>
          <p:nvPr/>
        </p:nvSpPr>
        <p:spPr>
          <a:xfrm>
            <a:off x="1897380" y="2491740"/>
            <a:ext cx="777240" cy="777240"/>
          </a:xfrm>
          <a:prstGeom prst="rect">
            <a:avLst/>
          </a:prstGeom>
          <a:noFill/>
          <a:ln/>
        </p:spPr>
        <p:txBody>
          <a:bodyPr wrap="square" rtlCol="0" anchor="ctr"/>
          <a:lstStyle/>
          <a:p>
            <a:pPr algn="ctr" indent="0" marL="0">
              <a:buNone/>
            </a:pPr>
            <a:r>
              <a:rPr lang="en-US" sz="2210" b="1" dirty="0">
                <a:solidFill>
                  <a:srgbClr val="FFFFFF"/>
                </a:solidFill>
                <a:latin typeface="Calibri" pitchFamily="34" charset="0"/>
                <a:ea typeface="Calibri" pitchFamily="34" charset="-122"/>
                <a:cs typeface="Calibri" pitchFamily="34" charset="-120"/>
              </a:rPr>
              <a:t>1</a:t>
            </a:r>
            <a:endParaRPr lang="en-US" sz="2210" dirty="0"/>
          </a:p>
        </p:txBody>
      </p:sp>
      <p:sp>
        <p:nvSpPr>
          <p:cNvPr id="8" name="Text 6"/>
          <p:cNvSpPr/>
          <p:nvPr/>
        </p:nvSpPr>
        <p:spPr>
          <a:xfrm>
            <a:off x="685800" y="3429000"/>
            <a:ext cx="3200400" cy="6858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Coupon / Referral</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Abuse Ring</a:t>
            </a:r>
            <a:endParaRPr lang="en-US" sz="1600" dirty="0"/>
          </a:p>
        </p:txBody>
      </p:sp>
      <p:sp>
        <p:nvSpPr>
          <p:cNvPr id="9" name="Text 7"/>
          <p:cNvSpPr/>
          <p:nvPr/>
        </p:nvSpPr>
        <p:spPr>
          <a:xfrm>
            <a:off x="822960" y="4160520"/>
            <a:ext cx="2926080" cy="1463040"/>
          </a:xfrm>
          <a:prstGeom prst="rect">
            <a:avLst/>
          </a:prstGeom>
          <a:noFill/>
          <a:ln/>
        </p:spPr>
        <p:txBody>
          <a:bodyPr wrap="square" rtlCol="0" anchor="ctr"/>
          <a:lstStyle/>
          <a:p>
            <a:pPr algn="ctr" indent="0" marL="0">
              <a:lnSpc>
                <a:spcPct val="125000"/>
              </a:lnSpc>
              <a:buNone/>
            </a:pPr>
            <a:r>
              <a:rPr lang="en-US" sz="1200" dirty="0">
                <a:solidFill>
                  <a:srgbClr val="D8E3F5"/>
                </a:solidFill>
                <a:latin typeface="Calibri" pitchFamily="34" charset="0"/>
                <a:ea typeface="Calibri" pitchFamily="34" charset="-122"/>
                <a:cs typeface="Calibri" pitchFamily="34" charset="-120"/>
              </a:rPr>
              <a:t>Multiple accounts created to exploit new-user offers, referral bonuses, and coupons</a:t>
            </a:r>
            <a:endParaRPr lang="en-US" sz="1200" dirty="0"/>
          </a:p>
        </p:txBody>
      </p:sp>
      <p:sp>
        <p:nvSpPr>
          <p:cNvPr id="10" name="Shape 8"/>
          <p:cNvSpPr/>
          <p:nvPr/>
        </p:nvSpPr>
        <p:spPr>
          <a:xfrm>
            <a:off x="4297680" y="2286000"/>
            <a:ext cx="3566160" cy="3566160"/>
          </a:xfrm>
          <a:prstGeom prst="roundRect">
            <a:avLst>
              <a:gd name="adj" fmla="val 2051"/>
            </a:avLst>
          </a:prstGeom>
          <a:solidFill>
            <a:srgbClr val="1B2E58"/>
          </a:solidFill>
          <a:ln/>
        </p:spPr>
      </p:sp>
      <p:sp>
        <p:nvSpPr>
          <p:cNvPr id="11" name="Shape 9"/>
          <p:cNvSpPr/>
          <p:nvPr/>
        </p:nvSpPr>
        <p:spPr>
          <a:xfrm>
            <a:off x="5692140" y="2491740"/>
            <a:ext cx="777240" cy="777240"/>
          </a:xfrm>
          <a:prstGeom prst="ellipse">
            <a:avLst/>
          </a:prstGeom>
          <a:solidFill>
            <a:srgbClr val="D14343"/>
          </a:solidFill>
          <a:ln/>
        </p:spPr>
      </p:sp>
      <p:sp>
        <p:nvSpPr>
          <p:cNvPr id="12" name="Text 10"/>
          <p:cNvSpPr/>
          <p:nvPr/>
        </p:nvSpPr>
        <p:spPr>
          <a:xfrm>
            <a:off x="5692140" y="2491740"/>
            <a:ext cx="777240" cy="777240"/>
          </a:xfrm>
          <a:prstGeom prst="rect">
            <a:avLst/>
          </a:prstGeom>
          <a:noFill/>
          <a:ln/>
        </p:spPr>
        <p:txBody>
          <a:bodyPr wrap="square" rtlCol="0" anchor="ctr"/>
          <a:lstStyle/>
          <a:p>
            <a:pPr algn="ctr" indent="0" marL="0">
              <a:buNone/>
            </a:pPr>
            <a:r>
              <a:rPr lang="en-US" sz="2210" b="1" dirty="0">
                <a:solidFill>
                  <a:srgbClr val="FFFFFF"/>
                </a:solidFill>
                <a:latin typeface="Calibri" pitchFamily="34" charset="0"/>
                <a:ea typeface="Calibri" pitchFamily="34" charset="-122"/>
                <a:cs typeface="Calibri" pitchFamily="34" charset="-120"/>
              </a:rPr>
              <a:t>2</a:t>
            </a:r>
            <a:endParaRPr lang="en-US" sz="2210" dirty="0"/>
          </a:p>
        </p:txBody>
      </p:sp>
      <p:sp>
        <p:nvSpPr>
          <p:cNvPr id="13" name="Text 11"/>
          <p:cNvSpPr/>
          <p:nvPr/>
        </p:nvSpPr>
        <p:spPr>
          <a:xfrm>
            <a:off x="4480560" y="3429000"/>
            <a:ext cx="3200400" cy="6858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Card Testing</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Fraud Ring</a:t>
            </a:r>
            <a:endParaRPr lang="en-US" sz="1600" dirty="0"/>
          </a:p>
        </p:txBody>
      </p:sp>
      <p:sp>
        <p:nvSpPr>
          <p:cNvPr id="14" name="Text 12"/>
          <p:cNvSpPr/>
          <p:nvPr/>
        </p:nvSpPr>
        <p:spPr>
          <a:xfrm>
            <a:off x="4617720" y="4160520"/>
            <a:ext cx="2926080" cy="1463040"/>
          </a:xfrm>
          <a:prstGeom prst="rect">
            <a:avLst/>
          </a:prstGeom>
          <a:noFill/>
          <a:ln/>
        </p:spPr>
        <p:txBody>
          <a:bodyPr wrap="square" rtlCol="0" anchor="ctr"/>
          <a:lstStyle/>
          <a:p>
            <a:pPr algn="ctr" indent="0" marL="0">
              <a:lnSpc>
                <a:spcPct val="125000"/>
              </a:lnSpc>
              <a:buNone/>
            </a:pPr>
            <a:r>
              <a:rPr lang="en-US" sz="1200" dirty="0">
                <a:solidFill>
                  <a:srgbClr val="D8E3F5"/>
                </a:solidFill>
                <a:latin typeface="Calibri" pitchFamily="34" charset="0"/>
                <a:ea typeface="Calibri" pitchFamily="34" charset="-122"/>
                <a:cs typeface="Calibri" pitchFamily="34" charset="-120"/>
              </a:rPr>
              <a:t>Payment instruments tested via multiple small or repeated transactions</a:t>
            </a:r>
            <a:endParaRPr lang="en-US" sz="1200" dirty="0"/>
          </a:p>
        </p:txBody>
      </p:sp>
      <p:sp>
        <p:nvSpPr>
          <p:cNvPr id="15" name="Shape 13"/>
          <p:cNvSpPr/>
          <p:nvPr/>
        </p:nvSpPr>
        <p:spPr>
          <a:xfrm>
            <a:off x="8092440" y="2286000"/>
            <a:ext cx="3566160" cy="3566160"/>
          </a:xfrm>
          <a:prstGeom prst="roundRect">
            <a:avLst>
              <a:gd name="adj" fmla="val 2051"/>
            </a:avLst>
          </a:prstGeom>
          <a:solidFill>
            <a:srgbClr val="1B2E58"/>
          </a:solidFill>
          <a:ln/>
        </p:spPr>
      </p:sp>
      <p:sp>
        <p:nvSpPr>
          <p:cNvPr id="16" name="Shape 14"/>
          <p:cNvSpPr/>
          <p:nvPr/>
        </p:nvSpPr>
        <p:spPr>
          <a:xfrm>
            <a:off x="9486900" y="2491740"/>
            <a:ext cx="777240" cy="777240"/>
          </a:xfrm>
          <a:prstGeom prst="ellipse">
            <a:avLst/>
          </a:prstGeom>
          <a:solidFill>
            <a:srgbClr val="8E5FD1"/>
          </a:solidFill>
          <a:ln/>
        </p:spPr>
      </p:sp>
      <p:sp>
        <p:nvSpPr>
          <p:cNvPr id="17" name="Text 15"/>
          <p:cNvSpPr/>
          <p:nvPr/>
        </p:nvSpPr>
        <p:spPr>
          <a:xfrm>
            <a:off x="9486900" y="2491740"/>
            <a:ext cx="777240" cy="777240"/>
          </a:xfrm>
          <a:prstGeom prst="rect">
            <a:avLst/>
          </a:prstGeom>
          <a:noFill/>
          <a:ln/>
        </p:spPr>
        <p:txBody>
          <a:bodyPr wrap="square" rtlCol="0" anchor="ctr"/>
          <a:lstStyle/>
          <a:p>
            <a:pPr algn="ctr" indent="0" marL="0">
              <a:buNone/>
            </a:pPr>
            <a:r>
              <a:rPr lang="en-US" sz="2210" b="1" dirty="0">
                <a:solidFill>
                  <a:srgbClr val="FFFFFF"/>
                </a:solidFill>
                <a:latin typeface="Calibri" pitchFamily="34" charset="0"/>
                <a:ea typeface="Calibri" pitchFamily="34" charset="-122"/>
                <a:cs typeface="Calibri" pitchFamily="34" charset="-120"/>
              </a:rPr>
              <a:t>3</a:t>
            </a:r>
            <a:endParaRPr lang="en-US" sz="2210" dirty="0"/>
          </a:p>
        </p:txBody>
      </p:sp>
      <p:sp>
        <p:nvSpPr>
          <p:cNvPr id="18" name="Text 16"/>
          <p:cNvSpPr/>
          <p:nvPr/>
        </p:nvSpPr>
        <p:spPr>
          <a:xfrm>
            <a:off x="8275320" y="3429000"/>
            <a:ext cx="3200400" cy="6858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Chargeback</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Fraud Ring</a:t>
            </a:r>
            <a:endParaRPr lang="en-US" sz="1600" dirty="0"/>
          </a:p>
        </p:txBody>
      </p:sp>
      <p:sp>
        <p:nvSpPr>
          <p:cNvPr id="19" name="Text 17"/>
          <p:cNvSpPr/>
          <p:nvPr/>
        </p:nvSpPr>
        <p:spPr>
          <a:xfrm>
            <a:off x="8412480" y="4160520"/>
            <a:ext cx="2926080" cy="1463040"/>
          </a:xfrm>
          <a:prstGeom prst="rect">
            <a:avLst/>
          </a:prstGeom>
          <a:noFill/>
          <a:ln/>
        </p:spPr>
        <p:txBody>
          <a:bodyPr wrap="square" rtlCol="0" anchor="ctr"/>
          <a:lstStyle/>
          <a:p>
            <a:pPr algn="ctr" indent="0" marL="0">
              <a:lnSpc>
                <a:spcPct val="125000"/>
              </a:lnSpc>
              <a:buNone/>
            </a:pPr>
            <a:r>
              <a:rPr lang="en-US" sz="1200" dirty="0">
                <a:solidFill>
                  <a:srgbClr val="D8E3F5"/>
                </a:solidFill>
                <a:latin typeface="Calibri" pitchFamily="34" charset="0"/>
                <a:ea typeface="Calibri" pitchFamily="34" charset="-122"/>
                <a:cs typeface="Calibri" pitchFamily="34" charset="-120"/>
              </a:rPr>
              <a:t>Transactions performed and later disputed across connected accounts</a:t>
            </a:r>
            <a:endParaRPr lang="en-US" sz="1200" dirty="0"/>
          </a:p>
        </p:txBody>
      </p:sp>
      <p:sp>
        <p:nvSpPr>
          <p:cNvPr id="20" name="Text 18"/>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SECTION 18 · FRAUD RING CLASSIFICATION</a:t>
            </a:r>
            <a:endParaRPr lang="en-US" sz="900" dirty="0"/>
          </a:p>
        </p:txBody>
      </p:sp>
      <p:sp>
        <p:nvSpPr>
          <p:cNvPr id="21" name="Text 19"/>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22" name="Text 20"/>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18.1</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Coupon / Referral Abuse Ring</a:t>
            </a:r>
            <a:endParaRPr lang="en-US" sz="3000" dirty="0"/>
          </a:p>
        </p:txBody>
      </p:sp>
      <p:sp>
        <p:nvSpPr>
          <p:cNvPr id="4" name="Shape 2"/>
          <p:cNvSpPr/>
          <p:nvPr/>
        </p:nvSpPr>
        <p:spPr>
          <a:xfrm>
            <a:off x="502920" y="1417320"/>
            <a:ext cx="6675120" cy="1051560"/>
          </a:xfrm>
          <a:prstGeom prst="roundRect">
            <a:avLst>
              <a:gd name="adj" fmla="val 6957"/>
            </a:avLst>
          </a:prstGeom>
          <a:solidFill>
            <a:srgbClr val="F0A23A"/>
          </a:solidFill>
          <a:ln/>
        </p:spPr>
      </p:sp>
      <p:sp>
        <p:nvSpPr>
          <p:cNvPr id="5" name="Text 3"/>
          <p:cNvSpPr/>
          <p:nvPr/>
        </p:nvSpPr>
        <p:spPr>
          <a:xfrm>
            <a:off x="777240" y="1417320"/>
            <a:ext cx="6217920" cy="1051560"/>
          </a:xfrm>
          <a:prstGeom prst="rect">
            <a:avLst/>
          </a:prstGeom>
          <a:noFill/>
          <a:ln/>
        </p:spPr>
        <p:txBody>
          <a:bodyPr wrap="square" rtlCol="0" anchor="ctr"/>
          <a:lstStyle/>
          <a:p>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Fraudsters create multiple accounts to exploit new-user offers, referral bonuses, coupons, and promotional campaigns.</a:t>
            </a:r>
            <a:endParaRPr lang="en-US" sz="1300" dirty="0"/>
          </a:p>
        </p:txBody>
      </p:sp>
      <p:sp>
        <p:nvSpPr>
          <p:cNvPr id="6" name="Text 4"/>
          <p:cNvSpPr/>
          <p:nvPr/>
        </p:nvSpPr>
        <p:spPr>
          <a:xfrm>
            <a:off x="502920" y="2651760"/>
            <a:ext cx="5486400" cy="320040"/>
          </a:xfrm>
          <a:prstGeom prst="rect">
            <a:avLst/>
          </a:prstGeom>
          <a:noFill/>
          <a:ln/>
        </p:spPr>
        <p:txBody>
          <a:bodyPr wrap="square" rtlCol="0" anchor="ctr"/>
          <a:lstStyle/>
          <a:p>
            <a:pPr indent="0" marL="0">
              <a:buNone/>
            </a:pPr>
            <a:r>
              <a:rPr lang="en-US" sz="1250" b="1" spc="100" kern="0" dirty="0">
                <a:solidFill>
                  <a:srgbClr val="3A6FF0"/>
                </a:solidFill>
                <a:latin typeface="Calibri" pitchFamily="34" charset="0"/>
                <a:ea typeface="Calibri" pitchFamily="34" charset="-122"/>
                <a:cs typeface="Calibri" pitchFamily="34" charset="-120"/>
              </a:rPr>
              <a:t>DETECTION INDICATORS</a:t>
            </a:r>
            <a:endParaRPr lang="en-US" sz="1250" dirty="0"/>
          </a:p>
        </p:txBody>
      </p:sp>
      <p:sp>
        <p:nvSpPr>
          <p:cNvPr id="7" name="Shape 5"/>
          <p:cNvSpPr/>
          <p:nvPr/>
        </p:nvSpPr>
        <p:spPr>
          <a:xfrm>
            <a:off x="548640" y="3127248"/>
            <a:ext cx="128016" cy="128016"/>
          </a:xfrm>
          <a:prstGeom prst="ellipse">
            <a:avLst/>
          </a:prstGeom>
          <a:solidFill>
            <a:srgbClr val="F0A23A"/>
          </a:solidFill>
          <a:ln/>
        </p:spPr>
      </p:sp>
      <p:sp>
        <p:nvSpPr>
          <p:cNvPr id="8" name="Text 6"/>
          <p:cNvSpPr/>
          <p:nvPr/>
        </p:nvSpPr>
        <p:spPr>
          <a:xfrm>
            <a:off x="822960" y="3017520"/>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Multiple connected accounts</a:t>
            </a:r>
            <a:endParaRPr lang="en-US" sz="1250" dirty="0"/>
          </a:p>
        </p:txBody>
      </p:sp>
      <p:sp>
        <p:nvSpPr>
          <p:cNvPr id="9" name="Shape 7"/>
          <p:cNvSpPr/>
          <p:nvPr/>
        </p:nvSpPr>
        <p:spPr>
          <a:xfrm>
            <a:off x="548640" y="3566160"/>
            <a:ext cx="128016" cy="128016"/>
          </a:xfrm>
          <a:prstGeom prst="ellipse">
            <a:avLst/>
          </a:prstGeom>
          <a:solidFill>
            <a:srgbClr val="F0A23A"/>
          </a:solidFill>
          <a:ln/>
        </p:spPr>
      </p:sp>
      <p:sp>
        <p:nvSpPr>
          <p:cNvPr id="10" name="Text 8"/>
          <p:cNvSpPr/>
          <p:nvPr/>
        </p:nvSpPr>
        <p:spPr>
          <a:xfrm>
            <a:off x="822960" y="3456432"/>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Shared devices</a:t>
            </a:r>
            <a:endParaRPr lang="en-US" sz="1250" dirty="0"/>
          </a:p>
        </p:txBody>
      </p:sp>
      <p:sp>
        <p:nvSpPr>
          <p:cNvPr id="11" name="Shape 9"/>
          <p:cNvSpPr/>
          <p:nvPr/>
        </p:nvSpPr>
        <p:spPr>
          <a:xfrm>
            <a:off x="548640" y="4005072"/>
            <a:ext cx="128016" cy="128016"/>
          </a:xfrm>
          <a:prstGeom prst="ellipse">
            <a:avLst/>
          </a:prstGeom>
          <a:solidFill>
            <a:srgbClr val="F0A23A"/>
          </a:solidFill>
          <a:ln/>
        </p:spPr>
      </p:sp>
      <p:sp>
        <p:nvSpPr>
          <p:cNvPr id="12" name="Text 10"/>
          <p:cNvSpPr/>
          <p:nvPr/>
        </p:nvSpPr>
        <p:spPr>
          <a:xfrm>
            <a:off x="822960" y="3895344"/>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High promotional usage</a:t>
            </a:r>
            <a:endParaRPr lang="en-US" sz="1250" dirty="0"/>
          </a:p>
        </p:txBody>
      </p:sp>
      <p:sp>
        <p:nvSpPr>
          <p:cNvPr id="13" name="Shape 11"/>
          <p:cNvSpPr/>
          <p:nvPr/>
        </p:nvSpPr>
        <p:spPr>
          <a:xfrm>
            <a:off x="548640" y="4443984"/>
            <a:ext cx="128016" cy="128016"/>
          </a:xfrm>
          <a:prstGeom prst="ellipse">
            <a:avLst/>
          </a:prstGeom>
          <a:solidFill>
            <a:srgbClr val="F0A23A"/>
          </a:solidFill>
          <a:ln/>
        </p:spPr>
      </p:sp>
      <p:sp>
        <p:nvSpPr>
          <p:cNvPr id="14" name="Text 12"/>
          <p:cNvSpPr/>
          <p:nvPr/>
        </p:nvSpPr>
        <p:spPr>
          <a:xfrm>
            <a:off x="822960" y="4334256"/>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Shared payment instruments</a:t>
            </a:r>
            <a:endParaRPr lang="en-US" sz="1250" dirty="0"/>
          </a:p>
        </p:txBody>
      </p:sp>
      <p:sp>
        <p:nvSpPr>
          <p:cNvPr id="15" name="Shape 13"/>
          <p:cNvSpPr/>
          <p:nvPr/>
        </p:nvSpPr>
        <p:spPr>
          <a:xfrm>
            <a:off x="502920" y="4956048"/>
            <a:ext cx="6675120" cy="640080"/>
          </a:xfrm>
          <a:prstGeom prst="roundRect">
            <a:avLst>
              <a:gd name="adj" fmla="val 11429"/>
            </a:avLst>
          </a:prstGeom>
          <a:solidFill>
            <a:srgbClr val="101F3C"/>
          </a:solidFill>
          <a:ln/>
        </p:spPr>
      </p:sp>
      <p:sp>
        <p:nvSpPr>
          <p:cNvPr id="16" name="Text 14"/>
          <p:cNvSpPr/>
          <p:nvPr/>
        </p:nvSpPr>
        <p:spPr>
          <a:xfrm>
            <a:off x="777240" y="4956048"/>
            <a:ext cx="6217920" cy="6400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CLASSIFICATION →  Coupon / Referral Abuse Ring</a:t>
            </a:r>
            <a:endParaRPr lang="en-US" sz="1400" dirty="0"/>
          </a:p>
        </p:txBody>
      </p:sp>
      <p:sp>
        <p:nvSpPr>
          <p:cNvPr id="17" name="Shape 15"/>
          <p:cNvSpPr/>
          <p:nvPr/>
        </p:nvSpPr>
        <p:spPr>
          <a:xfrm>
            <a:off x="7452360" y="1417320"/>
            <a:ext cx="4251960" cy="4663440"/>
          </a:xfrm>
          <a:prstGeom prst="roundRect">
            <a:avLst>
              <a:gd name="adj" fmla="val 1720"/>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8" name="Text 16"/>
          <p:cNvSpPr/>
          <p:nvPr/>
        </p:nvSpPr>
        <p:spPr>
          <a:xfrm>
            <a:off x="7726680" y="1645920"/>
            <a:ext cx="3657600" cy="274320"/>
          </a:xfrm>
          <a:prstGeom prst="rect">
            <a:avLst/>
          </a:prstGeom>
          <a:noFill/>
          <a:ln/>
        </p:spPr>
        <p:txBody>
          <a:bodyPr wrap="square" rtlCol="0" anchor="ctr"/>
          <a:lstStyle/>
          <a:p>
            <a:pPr indent="0" marL="0">
              <a:buNone/>
            </a:pPr>
            <a:r>
              <a:rPr lang="en-US" sz="1150" b="1" spc="100" kern="0" dirty="0">
                <a:solidFill>
                  <a:srgbClr val="5B6B8C"/>
                </a:solidFill>
                <a:latin typeface="Calibri" pitchFamily="34" charset="0"/>
                <a:ea typeface="Calibri" pitchFamily="34" charset="-122"/>
                <a:cs typeface="Calibri" pitchFamily="34" charset="-120"/>
              </a:rPr>
              <a:t>EXAMPLE PATTERN</a:t>
            </a:r>
            <a:endParaRPr lang="en-US" sz="1150" dirty="0"/>
          </a:p>
        </p:txBody>
      </p:sp>
      <p:sp>
        <p:nvSpPr>
          <p:cNvPr id="19" name="Shape 17"/>
          <p:cNvSpPr/>
          <p:nvPr/>
        </p:nvSpPr>
        <p:spPr>
          <a:xfrm>
            <a:off x="7726680" y="2103120"/>
            <a:ext cx="3703320" cy="384048"/>
          </a:xfrm>
          <a:prstGeom prst="roundRect">
            <a:avLst>
              <a:gd name="adj" fmla="val 19048"/>
            </a:avLst>
          </a:prstGeom>
          <a:solidFill>
            <a:srgbClr val="F5F7FB"/>
          </a:solidFill>
          <a:ln w="12700">
            <a:solidFill>
              <a:srgbClr val="E2E7F1"/>
            </a:solidFill>
            <a:prstDash val="solid"/>
          </a:ln>
        </p:spPr>
      </p:sp>
      <p:sp>
        <p:nvSpPr>
          <p:cNvPr id="20" name="Text 18"/>
          <p:cNvSpPr/>
          <p:nvPr/>
        </p:nvSpPr>
        <p:spPr>
          <a:xfrm>
            <a:off x="7726680" y="210312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Customer A</a:t>
            </a:r>
            <a:endParaRPr lang="en-US" sz="1150" dirty="0"/>
          </a:p>
        </p:txBody>
      </p:sp>
      <p:sp>
        <p:nvSpPr>
          <p:cNvPr id="21" name="Shape 19"/>
          <p:cNvSpPr/>
          <p:nvPr/>
        </p:nvSpPr>
        <p:spPr>
          <a:xfrm>
            <a:off x="9514332" y="2505456"/>
            <a:ext cx="128016" cy="89611"/>
          </a:xfrm>
          <a:prstGeom prst="downArrow">
            <a:avLst/>
          </a:prstGeom>
          <a:solidFill>
            <a:srgbClr val="F0A23A"/>
          </a:solidFill>
          <a:ln/>
        </p:spPr>
      </p:sp>
      <p:sp>
        <p:nvSpPr>
          <p:cNvPr id="22" name="Shape 20"/>
          <p:cNvSpPr/>
          <p:nvPr/>
        </p:nvSpPr>
        <p:spPr>
          <a:xfrm>
            <a:off x="7726680" y="2606040"/>
            <a:ext cx="3703320" cy="384048"/>
          </a:xfrm>
          <a:prstGeom prst="roundRect">
            <a:avLst>
              <a:gd name="adj" fmla="val 19048"/>
            </a:avLst>
          </a:prstGeom>
          <a:solidFill>
            <a:srgbClr val="F5F7FB"/>
          </a:solidFill>
          <a:ln w="12700">
            <a:solidFill>
              <a:srgbClr val="E2E7F1"/>
            </a:solidFill>
            <a:prstDash val="solid"/>
          </a:ln>
        </p:spPr>
      </p:sp>
      <p:sp>
        <p:nvSpPr>
          <p:cNvPr id="23" name="Text 21"/>
          <p:cNvSpPr/>
          <p:nvPr/>
        </p:nvSpPr>
        <p:spPr>
          <a:xfrm>
            <a:off x="7726680" y="260604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Customer B  →  Shared Device</a:t>
            </a:r>
            <a:endParaRPr lang="en-US" sz="1150" dirty="0"/>
          </a:p>
        </p:txBody>
      </p:sp>
      <p:sp>
        <p:nvSpPr>
          <p:cNvPr id="24" name="Shape 22"/>
          <p:cNvSpPr/>
          <p:nvPr/>
        </p:nvSpPr>
        <p:spPr>
          <a:xfrm>
            <a:off x="9514332" y="3008376"/>
            <a:ext cx="128016" cy="89611"/>
          </a:xfrm>
          <a:prstGeom prst="downArrow">
            <a:avLst/>
          </a:prstGeom>
          <a:solidFill>
            <a:srgbClr val="F0A23A"/>
          </a:solidFill>
          <a:ln/>
        </p:spPr>
      </p:sp>
      <p:sp>
        <p:nvSpPr>
          <p:cNvPr id="25" name="Shape 23"/>
          <p:cNvSpPr/>
          <p:nvPr/>
        </p:nvSpPr>
        <p:spPr>
          <a:xfrm>
            <a:off x="7726680" y="3108960"/>
            <a:ext cx="3703320" cy="384048"/>
          </a:xfrm>
          <a:prstGeom prst="roundRect">
            <a:avLst>
              <a:gd name="adj" fmla="val 19048"/>
            </a:avLst>
          </a:prstGeom>
          <a:solidFill>
            <a:srgbClr val="F5F7FB"/>
          </a:solidFill>
          <a:ln w="12700">
            <a:solidFill>
              <a:srgbClr val="E2E7F1"/>
            </a:solidFill>
            <a:prstDash val="solid"/>
          </a:ln>
        </p:spPr>
      </p:sp>
      <p:sp>
        <p:nvSpPr>
          <p:cNvPr id="26" name="Text 24"/>
          <p:cNvSpPr/>
          <p:nvPr/>
        </p:nvSpPr>
        <p:spPr>
          <a:xfrm>
            <a:off x="7726680" y="310896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Customer C</a:t>
            </a:r>
            <a:endParaRPr lang="en-US" sz="1150" dirty="0"/>
          </a:p>
        </p:txBody>
      </p:sp>
      <p:sp>
        <p:nvSpPr>
          <p:cNvPr id="27" name="Shape 25"/>
          <p:cNvSpPr/>
          <p:nvPr/>
        </p:nvSpPr>
        <p:spPr>
          <a:xfrm>
            <a:off x="9514332" y="3511296"/>
            <a:ext cx="128016" cy="89611"/>
          </a:xfrm>
          <a:prstGeom prst="downArrow">
            <a:avLst/>
          </a:prstGeom>
          <a:solidFill>
            <a:srgbClr val="F0A23A"/>
          </a:solidFill>
          <a:ln/>
        </p:spPr>
      </p:sp>
      <p:sp>
        <p:nvSpPr>
          <p:cNvPr id="28" name="Shape 26"/>
          <p:cNvSpPr/>
          <p:nvPr/>
        </p:nvSpPr>
        <p:spPr>
          <a:xfrm>
            <a:off x="7726680" y="3611880"/>
            <a:ext cx="3703320" cy="384048"/>
          </a:xfrm>
          <a:prstGeom prst="roundRect">
            <a:avLst>
              <a:gd name="adj" fmla="val 19048"/>
            </a:avLst>
          </a:prstGeom>
          <a:solidFill>
            <a:srgbClr val="F5F7FB"/>
          </a:solidFill>
          <a:ln w="12700">
            <a:solidFill>
              <a:srgbClr val="E2E7F1"/>
            </a:solidFill>
            <a:prstDash val="solid"/>
          </a:ln>
        </p:spPr>
      </p:sp>
      <p:sp>
        <p:nvSpPr>
          <p:cNvPr id="29" name="Text 27"/>
          <p:cNvSpPr/>
          <p:nvPr/>
        </p:nvSpPr>
        <p:spPr>
          <a:xfrm>
            <a:off x="7726680" y="361188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(all use promotional offers)</a:t>
            </a:r>
            <a:endParaRPr lang="en-US" sz="1150" dirty="0"/>
          </a:p>
        </p:txBody>
      </p:sp>
      <p:sp>
        <p:nvSpPr>
          <p:cNvPr id="30" name="Text 28"/>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18.1</a:t>
            </a:r>
            <a:endParaRPr lang="en-US" sz="900" dirty="0"/>
          </a:p>
        </p:txBody>
      </p:sp>
      <p:sp>
        <p:nvSpPr>
          <p:cNvPr id="31" name="Text 29"/>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2" name="Text 30"/>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18.2</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Card Testing Fraud Ring</a:t>
            </a:r>
            <a:endParaRPr lang="en-US" sz="3000" dirty="0"/>
          </a:p>
        </p:txBody>
      </p:sp>
      <p:sp>
        <p:nvSpPr>
          <p:cNvPr id="4" name="Shape 2"/>
          <p:cNvSpPr/>
          <p:nvPr/>
        </p:nvSpPr>
        <p:spPr>
          <a:xfrm>
            <a:off x="502920" y="1417320"/>
            <a:ext cx="6675120" cy="1051560"/>
          </a:xfrm>
          <a:prstGeom prst="roundRect">
            <a:avLst>
              <a:gd name="adj" fmla="val 6957"/>
            </a:avLst>
          </a:prstGeom>
          <a:solidFill>
            <a:srgbClr val="D14343"/>
          </a:solidFill>
          <a:ln/>
        </p:spPr>
      </p:sp>
      <p:sp>
        <p:nvSpPr>
          <p:cNvPr id="5" name="Text 3"/>
          <p:cNvSpPr/>
          <p:nvPr/>
        </p:nvSpPr>
        <p:spPr>
          <a:xfrm>
            <a:off x="777240" y="1417320"/>
            <a:ext cx="6217920" cy="1051560"/>
          </a:xfrm>
          <a:prstGeom prst="rect">
            <a:avLst/>
          </a:prstGeom>
          <a:noFill/>
          <a:ln/>
        </p:spPr>
        <p:txBody>
          <a:bodyPr wrap="square" rtlCol="0" anchor="ctr"/>
          <a:lstStyle/>
          <a:p>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Fraudsters test payment instruments using multiple small or repeated transactions — many attempts fail before successful ones occur.</a:t>
            </a:r>
            <a:endParaRPr lang="en-US" sz="1300" dirty="0"/>
          </a:p>
        </p:txBody>
      </p:sp>
      <p:sp>
        <p:nvSpPr>
          <p:cNvPr id="6" name="Text 4"/>
          <p:cNvSpPr/>
          <p:nvPr/>
        </p:nvSpPr>
        <p:spPr>
          <a:xfrm>
            <a:off x="502920" y="2651760"/>
            <a:ext cx="5486400" cy="320040"/>
          </a:xfrm>
          <a:prstGeom prst="rect">
            <a:avLst/>
          </a:prstGeom>
          <a:noFill/>
          <a:ln/>
        </p:spPr>
        <p:txBody>
          <a:bodyPr wrap="square" rtlCol="0" anchor="ctr"/>
          <a:lstStyle/>
          <a:p>
            <a:pPr indent="0" marL="0">
              <a:buNone/>
            </a:pPr>
            <a:r>
              <a:rPr lang="en-US" sz="1250" b="1" spc="100" kern="0" dirty="0">
                <a:solidFill>
                  <a:srgbClr val="3A6FF0"/>
                </a:solidFill>
                <a:latin typeface="Calibri" pitchFamily="34" charset="0"/>
                <a:ea typeface="Calibri" pitchFamily="34" charset="-122"/>
                <a:cs typeface="Calibri" pitchFamily="34" charset="-120"/>
              </a:rPr>
              <a:t>DETECTION INDICATORS</a:t>
            </a:r>
            <a:endParaRPr lang="en-US" sz="1250" dirty="0"/>
          </a:p>
        </p:txBody>
      </p:sp>
      <p:sp>
        <p:nvSpPr>
          <p:cNvPr id="7" name="Shape 5"/>
          <p:cNvSpPr/>
          <p:nvPr/>
        </p:nvSpPr>
        <p:spPr>
          <a:xfrm>
            <a:off x="548640" y="3127248"/>
            <a:ext cx="128016" cy="128016"/>
          </a:xfrm>
          <a:prstGeom prst="ellipse">
            <a:avLst/>
          </a:prstGeom>
          <a:solidFill>
            <a:srgbClr val="D14343"/>
          </a:solidFill>
          <a:ln/>
        </p:spPr>
      </p:sp>
      <p:sp>
        <p:nvSpPr>
          <p:cNvPr id="8" name="Text 6"/>
          <p:cNvSpPr/>
          <p:nvPr/>
        </p:nvSpPr>
        <p:spPr>
          <a:xfrm>
            <a:off x="822960" y="3017520"/>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High transaction attempts</a:t>
            </a:r>
            <a:endParaRPr lang="en-US" sz="1250" dirty="0"/>
          </a:p>
        </p:txBody>
      </p:sp>
      <p:sp>
        <p:nvSpPr>
          <p:cNvPr id="9" name="Shape 7"/>
          <p:cNvSpPr/>
          <p:nvPr/>
        </p:nvSpPr>
        <p:spPr>
          <a:xfrm>
            <a:off x="548640" y="3566160"/>
            <a:ext cx="128016" cy="128016"/>
          </a:xfrm>
          <a:prstGeom prst="ellipse">
            <a:avLst/>
          </a:prstGeom>
          <a:solidFill>
            <a:srgbClr val="D14343"/>
          </a:solidFill>
          <a:ln/>
        </p:spPr>
      </p:sp>
      <p:sp>
        <p:nvSpPr>
          <p:cNvPr id="10" name="Text 8"/>
          <p:cNvSpPr/>
          <p:nvPr/>
        </p:nvSpPr>
        <p:spPr>
          <a:xfrm>
            <a:off x="822960" y="3456432"/>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High declined transactions</a:t>
            </a:r>
            <a:endParaRPr lang="en-US" sz="1250" dirty="0"/>
          </a:p>
        </p:txBody>
      </p:sp>
      <p:sp>
        <p:nvSpPr>
          <p:cNvPr id="11" name="Shape 9"/>
          <p:cNvSpPr/>
          <p:nvPr/>
        </p:nvSpPr>
        <p:spPr>
          <a:xfrm>
            <a:off x="548640" y="4005072"/>
            <a:ext cx="128016" cy="128016"/>
          </a:xfrm>
          <a:prstGeom prst="ellipse">
            <a:avLst/>
          </a:prstGeom>
          <a:solidFill>
            <a:srgbClr val="D14343"/>
          </a:solidFill>
          <a:ln/>
        </p:spPr>
      </p:sp>
      <p:sp>
        <p:nvSpPr>
          <p:cNvPr id="12" name="Text 10"/>
          <p:cNvSpPr/>
          <p:nvPr/>
        </p:nvSpPr>
        <p:spPr>
          <a:xfrm>
            <a:off x="822960" y="3895344"/>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High decline rate</a:t>
            </a:r>
            <a:endParaRPr lang="en-US" sz="1250" dirty="0"/>
          </a:p>
        </p:txBody>
      </p:sp>
      <p:sp>
        <p:nvSpPr>
          <p:cNvPr id="13" name="Shape 11"/>
          <p:cNvSpPr/>
          <p:nvPr/>
        </p:nvSpPr>
        <p:spPr>
          <a:xfrm>
            <a:off x="548640" y="4443984"/>
            <a:ext cx="128016" cy="128016"/>
          </a:xfrm>
          <a:prstGeom prst="ellipse">
            <a:avLst/>
          </a:prstGeom>
          <a:solidFill>
            <a:srgbClr val="D14343"/>
          </a:solidFill>
          <a:ln/>
        </p:spPr>
      </p:sp>
      <p:sp>
        <p:nvSpPr>
          <p:cNvPr id="14" name="Text 12"/>
          <p:cNvSpPr/>
          <p:nvPr/>
        </p:nvSpPr>
        <p:spPr>
          <a:xfrm>
            <a:off x="822960" y="4334256"/>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Shared payment instruments</a:t>
            </a:r>
            <a:endParaRPr lang="en-US" sz="1250" dirty="0"/>
          </a:p>
        </p:txBody>
      </p:sp>
      <p:sp>
        <p:nvSpPr>
          <p:cNvPr id="15" name="Shape 13"/>
          <p:cNvSpPr/>
          <p:nvPr/>
        </p:nvSpPr>
        <p:spPr>
          <a:xfrm>
            <a:off x="548640" y="4882896"/>
            <a:ext cx="128016" cy="128016"/>
          </a:xfrm>
          <a:prstGeom prst="ellipse">
            <a:avLst/>
          </a:prstGeom>
          <a:solidFill>
            <a:srgbClr val="D14343"/>
          </a:solidFill>
          <a:ln/>
        </p:spPr>
      </p:sp>
      <p:sp>
        <p:nvSpPr>
          <p:cNvPr id="16" name="Text 14"/>
          <p:cNvSpPr/>
          <p:nvPr/>
        </p:nvSpPr>
        <p:spPr>
          <a:xfrm>
            <a:off x="822960" y="4773168"/>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Connected accounts</a:t>
            </a:r>
            <a:endParaRPr lang="en-US" sz="1250" dirty="0"/>
          </a:p>
        </p:txBody>
      </p:sp>
      <p:sp>
        <p:nvSpPr>
          <p:cNvPr id="17" name="Shape 15"/>
          <p:cNvSpPr/>
          <p:nvPr/>
        </p:nvSpPr>
        <p:spPr>
          <a:xfrm>
            <a:off x="502920" y="5394960"/>
            <a:ext cx="6675120" cy="640080"/>
          </a:xfrm>
          <a:prstGeom prst="roundRect">
            <a:avLst>
              <a:gd name="adj" fmla="val 11429"/>
            </a:avLst>
          </a:prstGeom>
          <a:solidFill>
            <a:srgbClr val="101F3C"/>
          </a:solidFill>
          <a:ln/>
        </p:spPr>
      </p:sp>
      <p:sp>
        <p:nvSpPr>
          <p:cNvPr id="18" name="Text 16"/>
          <p:cNvSpPr/>
          <p:nvPr/>
        </p:nvSpPr>
        <p:spPr>
          <a:xfrm>
            <a:off x="777240" y="5394960"/>
            <a:ext cx="6217920" cy="6400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CLASSIFICATION →  Card Testing Ring</a:t>
            </a:r>
            <a:endParaRPr lang="en-US" sz="1400" dirty="0"/>
          </a:p>
        </p:txBody>
      </p:sp>
      <p:sp>
        <p:nvSpPr>
          <p:cNvPr id="19" name="Shape 17"/>
          <p:cNvSpPr/>
          <p:nvPr/>
        </p:nvSpPr>
        <p:spPr>
          <a:xfrm>
            <a:off x="7452360" y="1417320"/>
            <a:ext cx="4251960" cy="4663440"/>
          </a:xfrm>
          <a:prstGeom prst="roundRect">
            <a:avLst>
              <a:gd name="adj" fmla="val 1720"/>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0" name="Text 18"/>
          <p:cNvSpPr/>
          <p:nvPr/>
        </p:nvSpPr>
        <p:spPr>
          <a:xfrm>
            <a:off x="7726680" y="1645920"/>
            <a:ext cx="3657600" cy="274320"/>
          </a:xfrm>
          <a:prstGeom prst="rect">
            <a:avLst/>
          </a:prstGeom>
          <a:noFill/>
          <a:ln/>
        </p:spPr>
        <p:txBody>
          <a:bodyPr wrap="square" rtlCol="0" anchor="ctr"/>
          <a:lstStyle/>
          <a:p>
            <a:pPr indent="0" marL="0">
              <a:buNone/>
            </a:pPr>
            <a:r>
              <a:rPr lang="en-US" sz="1150" b="1" spc="100" kern="0" dirty="0">
                <a:solidFill>
                  <a:srgbClr val="5B6B8C"/>
                </a:solidFill>
                <a:latin typeface="Calibri" pitchFamily="34" charset="0"/>
                <a:ea typeface="Calibri" pitchFamily="34" charset="-122"/>
                <a:cs typeface="Calibri" pitchFamily="34" charset="-120"/>
              </a:rPr>
              <a:t>EXAMPLE PATTERN</a:t>
            </a:r>
            <a:endParaRPr lang="en-US" sz="1150" dirty="0"/>
          </a:p>
        </p:txBody>
      </p:sp>
      <p:sp>
        <p:nvSpPr>
          <p:cNvPr id="21" name="Shape 19"/>
          <p:cNvSpPr/>
          <p:nvPr/>
        </p:nvSpPr>
        <p:spPr>
          <a:xfrm>
            <a:off x="7726680" y="2103120"/>
            <a:ext cx="3703320" cy="384048"/>
          </a:xfrm>
          <a:prstGeom prst="roundRect">
            <a:avLst>
              <a:gd name="adj" fmla="val 19048"/>
            </a:avLst>
          </a:prstGeom>
          <a:solidFill>
            <a:srgbClr val="F5F7FB"/>
          </a:solidFill>
          <a:ln w="12700">
            <a:solidFill>
              <a:srgbClr val="E2E7F1"/>
            </a:solidFill>
            <a:prstDash val="solid"/>
          </a:ln>
        </p:spPr>
      </p:sp>
      <p:sp>
        <p:nvSpPr>
          <p:cNvPr id="22" name="Text 20"/>
          <p:cNvSpPr/>
          <p:nvPr/>
        </p:nvSpPr>
        <p:spPr>
          <a:xfrm>
            <a:off x="7726680" y="210312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Payment Card X</a:t>
            </a:r>
            <a:endParaRPr lang="en-US" sz="1150" dirty="0"/>
          </a:p>
        </p:txBody>
      </p:sp>
      <p:sp>
        <p:nvSpPr>
          <p:cNvPr id="23" name="Shape 21"/>
          <p:cNvSpPr/>
          <p:nvPr/>
        </p:nvSpPr>
        <p:spPr>
          <a:xfrm>
            <a:off x="9514332" y="2505456"/>
            <a:ext cx="128016" cy="89611"/>
          </a:xfrm>
          <a:prstGeom prst="downArrow">
            <a:avLst/>
          </a:prstGeom>
          <a:solidFill>
            <a:srgbClr val="D14343"/>
          </a:solidFill>
          <a:ln/>
        </p:spPr>
      </p:sp>
      <p:sp>
        <p:nvSpPr>
          <p:cNvPr id="24" name="Shape 22"/>
          <p:cNvSpPr/>
          <p:nvPr/>
        </p:nvSpPr>
        <p:spPr>
          <a:xfrm>
            <a:off x="7726680" y="2606040"/>
            <a:ext cx="3703320" cy="384048"/>
          </a:xfrm>
          <a:prstGeom prst="roundRect">
            <a:avLst>
              <a:gd name="adj" fmla="val 19048"/>
            </a:avLst>
          </a:prstGeom>
          <a:solidFill>
            <a:srgbClr val="F5F7FB"/>
          </a:solidFill>
          <a:ln w="12700">
            <a:solidFill>
              <a:srgbClr val="E2E7F1"/>
            </a:solidFill>
            <a:prstDash val="solid"/>
          </a:ln>
        </p:spPr>
      </p:sp>
      <p:sp>
        <p:nvSpPr>
          <p:cNvPr id="25" name="Text 23"/>
          <p:cNvSpPr/>
          <p:nvPr/>
        </p:nvSpPr>
        <p:spPr>
          <a:xfrm>
            <a:off x="7726680" y="260604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A1  ·  A2  ·  A3</a:t>
            </a:r>
            <a:endParaRPr lang="en-US" sz="1150" dirty="0"/>
          </a:p>
        </p:txBody>
      </p:sp>
      <p:sp>
        <p:nvSpPr>
          <p:cNvPr id="26" name="Shape 24"/>
          <p:cNvSpPr/>
          <p:nvPr/>
        </p:nvSpPr>
        <p:spPr>
          <a:xfrm>
            <a:off x="9514332" y="3008376"/>
            <a:ext cx="128016" cy="89611"/>
          </a:xfrm>
          <a:prstGeom prst="downArrow">
            <a:avLst/>
          </a:prstGeom>
          <a:solidFill>
            <a:srgbClr val="D14343"/>
          </a:solidFill>
          <a:ln/>
        </p:spPr>
      </p:sp>
      <p:sp>
        <p:nvSpPr>
          <p:cNvPr id="27" name="Shape 25"/>
          <p:cNvSpPr/>
          <p:nvPr/>
        </p:nvSpPr>
        <p:spPr>
          <a:xfrm>
            <a:off x="7726680" y="3108960"/>
            <a:ext cx="3703320" cy="384048"/>
          </a:xfrm>
          <a:prstGeom prst="roundRect">
            <a:avLst>
              <a:gd name="adj" fmla="val 19048"/>
            </a:avLst>
          </a:prstGeom>
          <a:solidFill>
            <a:srgbClr val="F5F7FB"/>
          </a:solidFill>
          <a:ln w="12700">
            <a:solidFill>
              <a:srgbClr val="E2E7F1"/>
            </a:solidFill>
            <a:prstDash val="solid"/>
          </a:ln>
        </p:spPr>
      </p:sp>
      <p:sp>
        <p:nvSpPr>
          <p:cNvPr id="28" name="Text 26"/>
          <p:cNvSpPr/>
          <p:nvPr/>
        </p:nvSpPr>
        <p:spPr>
          <a:xfrm>
            <a:off x="7726680" y="310896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(multiple suspicious attempts)</a:t>
            </a:r>
            <a:endParaRPr lang="en-US" sz="1150" dirty="0"/>
          </a:p>
        </p:txBody>
      </p:sp>
      <p:sp>
        <p:nvSpPr>
          <p:cNvPr id="29" name="Text 2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18.2</a:t>
            </a:r>
            <a:endParaRPr lang="en-US" sz="900" dirty="0"/>
          </a:p>
        </p:txBody>
      </p:sp>
      <p:sp>
        <p:nvSpPr>
          <p:cNvPr id="30" name="Text 2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1" name="Text 2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18.3</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Chargeback Fraud Ring</a:t>
            </a:r>
            <a:endParaRPr lang="en-US" sz="3000" dirty="0"/>
          </a:p>
        </p:txBody>
      </p:sp>
      <p:sp>
        <p:nvSpPr>
          <p:cNvPr id="4" name="Shape 2"/>
          <p:cNvSpPr/>
          <p:nvPr/>
        </p:nvSpPr>
        <p:spPr>
          <a:xfrm>
            <a:off x="502920" y="1417320"/>
            <a:ext cx="6675120" cy="1051560"/>
          </a:xfrm>
          <a:prstGeom prst="roundRect">
            <a:avLst>
              <a:gd name="adj" fmla="val 6957"/>
            </a:avLst>
          </a:prstGeom>
          <a:solidFill>
            <a:srgbClr val="8E5FD1"/>
          </a:solidFill>
          <a:ln/>
        </p:spPr>
      </p:sp>
      <p:sp>
        <p:nvSpPr>
          <p:cNvPr id="5" name="Text 3"/>
          <p:cNvSpPr/>
          <p:nvPr/>
        </p:nvSpPr>
        <p:spPr>
          <a:xfrm>
            <a:off x="777240" y="1417320"/>
            <a:ext cx="6217920" cy="1051560"/>
          </a:xfrm>
          <a:prstGeom prst="rect">
            <a:avLst/>
          </a:prstGeom>
          <a:noFill/>
          <a:ln/>
        </p:spPr>
        <p:txBody>
          <a:bodyPr wrap="square" rtlCol="0" anchor="ctr"/>
          <a:lstStyle/>
          <a:p>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Fraudsters perform transactions and later dispute the payments, generating losses across connected accounts.</a:t>
            </a:r>
            <a:endParaRPr lang="en-US" sz="1300" dirty="0"/>
          </a:p>
        </p:txBody>
      </p:sp>
      <p:sp>
        <p:nvSpPr>
          <p:cNvPr id="6" name="Text 4"/>
          <p:cNvSpPr/>
          <p:nvPr/>
        </p:nvSpPr>
        <p:spPr>
          <a:xfrm>
            <a:off x="502920" y="2651760"/>
            <a:ext cx="5486400" cy="320040"/>
          </a:xfrm>
          <a:prstGeom prst="rect">
            <a:avLst/>
          </a:prstGeom>
          <a:noFill/>
          <a:ln/>
        </p:spPr>
        <p:txBody>
          <a:bodyPr wrap="square" rtlCol="0" anchor="ctr"/>
          <a:lstStyle/>
          <a:p>
            <a:pPr indent="0" marL="0">
              <a:buNone/>
            </a:pPr>
            <a:r>
              <a:rPr lang="en-US" sz="1250" b="1" spc="100" kern="0" dirty="0">
                <a:solidFill>
                  <a:srgbClr val="3A6FF0"/>
                </a:solidFill>
                <a:latin typeface="Calibri" pitchFamily="34" charset="0"/>
                <a:ea typeface="Calibri" pitchFamily="34" charset="-122"/>
                <a:cs typeface="Calibri" pitchFamily="34" charset="-120"/>
              </a:rPr>
              <a:t>DETECTION INDICATORS</a:t>
            </a:r>
            <a:endParaRPr lang="en-US" sz="1250" dirty="0"/>
          </a:p>
        </p:txBody>
      </p:sp>
      <p:sp>
        <p:nvSpPr>
          <p:cNvPr id="7" name="Shape 5"/>
          <p:cNvSpPr/>
          <p:nvPr/>
        </p:nvSpPr>
        <p:spPr>
          <a:xfrm>
            <a:off x="548640" y="3127248"/>
            <a:ext cx="128016" cy="128016"/>
          </a:xfrm>
          <a:prstGeom prst="ellipse">
            <a:avLst/>
          </a:prstGeom>
          <a:solidFill>
            <a:srgbClr val="8E5FD1"/>
          </a:solidFill>
          <a:ln/>
        </p:spPr>
      </p:sp>
      <p:sp>
        <p:nvSpPr>
          <p:cNvPr id="8" name="Text 6"/>
          <p:cNvSpPr/>
          <p:nvPr/>
        </p:nvSpPr>
        <p:spPr>
          <a:xfrm>
            <a:off x="822960" y="3017520"/>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High chargeback count</a:t>
            </a:r>
            <a:endParaRPr lang="en-US" sz="1250" dirty="0"/>
          </a:p>
        </p:txBody>
      </p:sp>
      <p:sp>
        <p:nvSpPr>
          <p:cNvPr id="9" name="Shape 7"/>
          <p:cNvSpPr/>
          <p:nvPr/>
        </p:nvSpPr>
        <p:spPr>
          <a:xfrm>
            <a:off x="548640" y="3566160"/>
            <a:ext cx="128016" cy="128016"/>
          </a:xfrm>
          <a:prstGeom prst="ellipse">
            <a:avLst/>
          </a:prstGeom>
          <a:solidFill>
            <a:srgbClr val="8E5FD1"/>
          </a:solidFill>
          <a:ln/>
        </p:spPr>
      </p:sp>
      <p:sp>
        <p:nvSpPr>
          <p:cNvPr id="10" name="Text 8"/>
          <p:cNvSpPr/>
          <p:nvPr/>
        </p:nvSpPr>
        <p:spPr>
          <a:xfrm>
            <a:off x="822960" y="3456432"/>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High chargeback rate</a:t>
            </a:r>
            <a:endParaRPr lang="en-US" sz="1250" dirty="0"/>
          </a:p>
        </p:txBody>
      </p:sp>
      <p:sp>
        <p:nvSpPr>
          <p:cNvPr id="11" name="Shape 9"/>
          <p:cNvSpPr/>
          <p:nvPr/>
        </p:nvSpPr>
        <p:spPr>
          <a:xfrm>
            <a:off x="548640" y="4005072"/>
            <a:ext cx="128016" cy="128016"/>
          </a:xfrm>
          <a:prstGeom prst="ellipse">
            <a:avLst/>
          </a:prstGeom>
          <a:solidFill>
            <a:srgbClr val="8E5FD1"/>
          </a:solidFill>
          <a:ln/>
        </p:spPr>
      </p:sp>
      <p:sp>
        <p:nvSpPr>
          <p:cNvPr id="12" name="Text 10"/>
          <p:cNvSpPr/>
          <p:nvPr/>
        </p:nvSpPr>
        <p:spPr>
          <a:xfrm>
            <a:off x="822960" y="3895344"/>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Connected accounts</a:t>
            </a:r>
            <a:endParaRPr lang="en-US" sz="1250" dirty="0"/>
          </a:p>
        </p:txBody>
      </p:sp>
      <p:sp>
        <p:nvSpPr>
          <p:cNvPr id="13" name="Shape 11"/>
          <p:cNvSpPr/>
          <p:nvPr/>
        </p:nvSpPr>
        <p:spPr>
          <a:xfrm>
            <a:off x="548640" y="4443984"/>
            <a:ext cx="128016" cy="128016"/>
          </a:xfrm>
          <a:prstGeom prst="ellipse">
            <a:avLst/>
          </a:prstGeom>
          <a:solidFill>
            <a:srgbClr val="8E5FD1"/>
          </a:solidFill>
          <a:ln/>
        </p:spPr>
      </p:sp>
      <p:sp>
        <p:nvSpPr>
          <p:cNvPr id="14" name="Text 12"/>
          <p:cNvSpPr/>
          <p:nvPr/>
        </p:nvSpPr>
        <p:spPr>
          <a:xfrm>
            <a:off x="822960" y="4334256"/>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Shared devices</a:t>
            </a:r>
            <a:endParaRPr lang="en-US" sz="1250" dirty="0"/>
          </a:p>
        </p:txBody>
      </p:sp>
      <p:sp>
        <p:nvSpPr>
          <p:cNvPr id="15" name="Shape 13"/>
          <p:cNvSpPr/>
          <p:nvPr/>
        </p:nvSpPr>
        <p:spPr>
          <a:xfrm>
            <a:off x="548640" y="4882896"/>
            <a:ext cx="128016" cy="128016"/>
          </a:xfrm>
          <a:prstGeom prst="ellipse">
            <a:avLst/>
          </a:prstGeom>
          <a:solidFill>
            <a:srgbClr val="8E5FD1"/>
          </a:solidFill>
          <a:ln/>
        </p:spPr>
      </p:sp>
      <p:sp>
        <p:nvSpPr>
          <p:cNvPr id="16" name="Text 14"/>
          <p:cNvSpPr/>
          <p:nvPr/>
        </p:nvSpPr>
        <p:spPr>
          <a:xfrm>
            <a:off x="822960" y="4773168"/>
            <a:ext cx="6217920" cy="365760"/>
          </a:xfrm>
          <a:prstGeom prst="rect">
            <a:avLst/>
          </a:prstGeom>
          <a:noFill/>
          <a:ln/>
        </p:spPr>
        <p:txBody>
          <a:bodyPr wrap="square" rtlCol="0" anchor="ctr"/>
          <a:lstStyle/>
          <a:p>
            <a:pPr indent="0" marL="0">
              <a:buNone/>
            </a:pPr>
            <a:r>
              <a:rPr lang="en-US" sz="1250" dirty="0">
                <a:solidFill>
                  <a:srgbClr val="16234A"/>
                </a:solidFill>
                <a:latin typeface="Calibri" pitchFamily="34" charset="0"/>
                <a:ea typeface="Calibri" pitchFamily="34" charset="-122"/>
                <a:cs typeface="Calibri" pitchFamily="34" charset="-120"/>
              </a:rPr>
              <a:t>High-risk network behavior</a:t>
            </a:r>
            <a:endParaRPr lang="en-US" sz="1250" dirty="0"/>
          </a:p>
        </p:txBody>
      </p:sp>
      <p:sp>
        <p:nvSpPr>
          <p:cNvPr id="17" name="Shape 15"/>
          <p:cNvSpPr/>
          <p:nvPr/>
        </p:nvSpPr>
        <p:spPr>
          <a:xfrm>
            <a:off x="502920" y="5394960"/>
            <a:ext cx="6675120" cy="640080"/>
          </a:xfrm>
          <a:prstGeom prst="roundRect">
            <a:avLst>
              <a:gd name="adj" fmla="val 11429"/>
            </a:avLst>
          </a:prstGeom>
          <a:solidFill>
            <a:srgbClr val="101F3C"/>
          </a:solidFill>
          <a:ln/>
        </p:spPr>
      </p:sp>
      <p:sp>
        <p:nvSpPr>
          <p:cNvPr id="18" name="Text 16"/>
          <p:cNvSpPr/>
          <p:nvPr/>
        </p:nvSpPr>
        <p:spPr>
          <a:xfrm>
            <a:off x="777240" y="5394960"/>
            <a:ext cx="6217920" cy="6400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CLASSIFICATION →  Chargeback Ring</a:t>
            </a:r>
            <a:endParaRPr lang="en-US" sz="1400" dirty="0"/>
          </a:p>
        </p:txBody>
      </p:sp>
      <p:sp>
        <p:nvSpPr>
          <p:cNvPr id="19" name="Shape 17"/>
          <p:cNvSpPr/>
          <p:nvPr/>
        </p:nvSpPr>
        <p:spPr>
          <a:xfrm>
            <a:off x="7452360" y="1417320"/>
            <a:ext cx="4251960" cy="4663440"/>
          </a:xfrm>
          <a:prstGeom prst="roundRect">
            <a:avLst>
              <a:gd name="adj" fmla="val 1720"/>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0" name="Text 18"/>
          <p:cNvSpPr/>
          <p:nvPr/>
        </p:nvSpPr>
        <p:spPr>
          <a:xfrm>
            <a:off x="7726680" y="1645920"/>
            <a:ext cx="3657600" cy="274320"/>
          </a:xfrm>
          <a:prstGeom prst="rect">
            <a:avLst/>
          </a:prstGeom>
          <a:noFill/>
          <a:ln/>
        </p:spPr>
        <p:txBody>
          <a:bodyPr wrap="square" rtlCol="0" anchor="ctr"/>
          <a:lstStyle/>
          <a:p>
            <a:pPr indent="0" marL="0">
              <a:buNone/>
            </a:pPr>
            <a:r>
              <a:rPr lang="en-US" sz="1150" b="1" spc="100" kern="0" dirty="0">
                <a:solidFill>
                  <a:srgbClr val="5B6B8C"/>
                </a:solidFill>
                <a:latin typeface="Calibri" pitchFamily="34" charset="0"/>
                <a:ea typeface="Calibri" pitchFamily="34" charset="-122"/>
                <a:cs typeface="Calibri" pitchFamily="34" charset="-120"/>
              </a:rPr>
              <a:t>EXAMPLE PATTERN</a:t>
            </a:r>
            <a:endParaRPr lang="en-US" sz="1150" dirty="0"/>
          </a:p>
        </p:txBody>
      </p:sp>
      <p:sp>
        <p:nvSpPr>
          <p:cNvPr id="21" name="Shape 19"/>
          <p:cNvSpPr/>
          <p:nvPr/>
        </p:nvSpPr>
        <p:spPr>
          <a:xfrm>
            <a:off x="7726680" y="2103120"/>
            <a:ext cx="3703320" cy="384048"/>
          </a:xfrm>
          <a:prstGeom prst="roundRect">
            <a:avLst>
              <a:gd name="adj" fmla="val 19048"/>
            </a:avLst>
          </a:prstGeom>
          <a:solidFill>
            <a:srgbClr val="F5F7FB"/>
          </a:solidFill>
          <a:ln w="12700">
            <a:solidFill>
              <a:srgbClr val="E2E7F1"/>
            </a:solidFill>
            <a:prstDash val="solid"/>
          </a:ln>
        </p:spPr>
      </p:sp>
      <p:sp>
        <p:nvSpPr>
          <p:cNvPr id="22" name="Text 20"/>
          <p:cNvSpPr/>
          <p:nvPr/>
        </p:nvSpPr>
        <p:spPr>
          <a:xfrm>
            <a:off x="7726680" y="210312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Transaction executed</a:t>
            </a:r>
            <a:endParaRPr lang="en-US" sz="1150" dirty="0"/>
          </a:p>
        </p:txBody>
      </p:sp>
      <p:sp>
        <p:nvSpPr>
          <p:cNvPr id="23" name="Shape 21"/>
          <p:cNvSpPr/>
          <p:nvPr/>
        </p:nvSpPr>
        <p:spPr>
          <a:xfrm>
            <a:off x="9514332" y="2505456"/>
            <a:ext cx="128016" cy="89611"/>
          </a:xfrm>
          <a:prstGeom prst="downArrow">
            <a:avLst/>
          </a:prstGeom>
          <a:solidFill>
            <a:srgbClr val="8E5FD1"/>
          </a:solidFill>
          <a:ln/>
        </p:spPr>
      </p:sp>
      <p:sp>
        <p:nvSpPr>
          <p:cNvPr id="24" name="Shape 22"/>
          <p:cNvSpPr/>
          <p:nvPr/>
        </p:nvSpPr>
        <p:spPr>
          <a:xfrm>
            <a:off x="7726680" y="2606040"/>
            <a:ext cx="3703320" cy="384048"/>
          </a:xfrm>
          <a:prstGeom prst="roundRect">
            <a:avLst>
              <a:gd name="adj" fmla="val 19048"/>
            </a:avLst>
          </a:prstGeom>
          <a:solidFill>
            <a:srgbClr val="F5F7FB"/>
          </a:solidFill>
          <a:ln w="12700">
            <a:solidFill>
              <a:srgbClr val="E2E7F1"/>
            </a:solidFill>
            <a:prstDash val="solid"/>
          </a:ln>
        </p:spPr>
      </p:sp>
      <p:sp>
        <p:nvSpPr>
          <p:cNvPr id="25" name="Text 23"/>
          <p:cNvSpPr/>
          <p:nvPr/>
        </p:nvSpPr>
        <p:spPr>
          <a:xfrm>
            <a:off x="7726680" y="260604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Payment disputed</a:t>
            </a:r>
            <a:endParaRPr lang="en-US" sz="1150" dirty="0"/>
          </a:p>
        </p:txBody>
      </p:sp>
      <p:sp>
        <p:nvSpPr>
          <p:cNvPr id="26" name="Shape 24"/>
          <p:cNvSpPr/>
          <p:nvPr/>
        </p:nvSpPr>
        <p:spPr>
          <a:xfrm>
            <a:off x="9514332" y="3008376"/>
            <a:ext cx="128016" cy="89611"/>
          </a:xfrm>
          <a:prstGeom prst="downArrow">
            <a:avLst/>
          </a:prstGeom>
          <a:solidFill>
            <a:srgbClr val="8E5FD1"/>
          </a:solidFill>
          <a:ln/>
        </p:spPr>
      </p:sp>
      <p:sp>
        <p:nvSpPr>
          <p:cNvPr id="27" name="Shape 25"/>
          <p:cNvSpPr/>
          <p:nvPr/>
        </p:nvSpPr>
        <p:spPr>
          <a:xfrm>
            <a:off x="7726680" y="3108960"/>
            <a:ext cx="3703320" cy="384048"/>
          </a:xfrm>
          <a:prstGeom prst="roundRect">
            <a:avLst>
              <a:gd name="adj" fmla="val 19048"/>
            </a:avLst>
          </a:prstGeom>
          <a:solidFill>
            <a:srgbClr val="F5F7FB"/>
          </a:solidFill>
          <a:ln w="12700">
            <a:solidFill>
              <a:srgbClr val="E2E7F1"/>
            </a:solidFill>
            <a:prstDash val="solid"/>
          </a:ln>
        </p:spPr>
      </p:sp>
      <p:sp>
        <p:nvSpPr>
          <p:cNvPr id="28" name="Text 26"/>
          <p:cNvSpPr/>
          <p:nvPr/>
        </p:nvSpPr>
        <p:spPr>
          <a:xfrm>
            <a:off x="7726680" y="310896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Chargeback filed</a:t>
            </a:r>
            <a:endParaRPr lang="en-US" sz="1150" dirty="0"/>
          </a:p>
        </p:txBody>
      </p:sp>
      <p:sp>
        <p:nvSpPr>
          <p:cNvPr id="29" name="Shape 27"/>
          <p:cNvSpPr/>
          <p:nvPr/>
        </p:nvSpPr>
        <p:spPr>
          <a:xfrm>
            <a:off x="9514332" y="3511296"/>
            <a:ext cx="128016" cy="89611"/>
          </a:xfrm>
          <a:prstGeom prst="downArrow">
            <a:avLst/>
          </a:prstGeom>
          <a:solidFill>
            <a:srgbClr val="8E5FD1"/>
          </a:solidFill>
          <a:ln/>
        </p:spPr>
      </p:sp>
      <p:sp>
        <p:nvSpPr>
          <p:cNvPr id="30" name="Shape 28"/>
          <p:cNvSpPr/>
          <p:nvPr/>
        </p:nvSpPr>
        <p:spPr>
          <a:xfrm>
            <a:off x="7726680" y="3611880"/>
            <a:ext cx="3703320" cy="384048"/>
          </a:xfrm>
          <a:prstGeom prst="roundRect">
            <a:avLst>
              <a:gd name="adj" fmla="val 19048"/>
            </a:avLst>
          </a:prstGeom>
          <a:solidFill>
            <a:srgbClr val="F5F7FB"/>
          </a:solidFill>
          <a:ln w="12700">
            <a:solidFill>
              <a:srgbClr val="E2E7F1"/>
            </a:solidFill>
            <a:prstDash val="solid"/>
          </a:ln>
        </p:spPr>
      </p:sp>
      <p:sp>
        <p:nvSpPr>
          <p:cNvPr id="31" name="Text 29"/>
          <p:cNvSpPr/>
          <p:nvPr/>
        </p:nvSpPr>
        <p:spPr>
          <a:xfrm>
            <a:off x="7726680" y="3611880"/>
            <a:ext cx="3703320" cy="384048"/>
          </a:xfrm>
          <a:prstGeom prst="rect">
            <a:avLst/>
          </a:prstGeom>
          <a:noFill/>
          <a:ln/>
        </p:spPr>
        <p:txBody>
          <a:bodyPr wrap="square" rtlCol="0" anchor="ctr"/>
          <a:lstStyle/>
          <a:p>
            <a:pPr algn="ctr" indent="0" marL="0">
              <a:buNone/>
            </a:pPr>
            <a:r>
              <a:rPr lang="en-US" sz="1150" b="1" dirty="0">
                <a:solidFill>
                  <a:srgbClr val="16234A"/>
                </a:solidFill>
                <a:latin typeface="Courier New" pitchFamily="34" charset="0"/>
                <a:ea typeface="Courier New" pitchFamily="34" charset="-122"/>
                <a:cs typeface="Courier New" pitchFamily="34" charset="-120"/>
              </a:rPr>
              <a:t>(repeated across ring)</a:t>
            </a:r>
            <a:endParaRPr lang="en-US" sz="1150" dirty="0"/>
          </a:p>
        </p:txBody>
      </p:sp>
      <p:sp>
        <p:nvSpPr>
          <p:cNvPr id="32" name="Text 30"/>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18.3</a:t>
            </a:r>
            <a:endParaRPr lang="en-US" sz="900" dirty="0"/>
          </a:p>
        </p:txBody>
      </p:sp>
      <p:sp>
        <p:nvSpPr>
          <p:cNvPr id="33" name="Text 31"/>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34" name="Text 32"/>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1F3C"/>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F0A23A"/>
                </a:solidFill>
                <a:latin typeface="Calibri" pitchFamily="34" charset="0"/>
                <a:ea typeface="Calibri" pitchFamily="34" charset="-122"/>
                <a:cs typeface="Calibri" pitchFamily="34" charset="-120"/>
              </a:rPr>
              <a:t>SECTION 19</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Final Risk Engine</a:t>
            </a:r>
            <a:endParaRPr lang="en-US" sz="3000" dirty="0"/>
          </a:p>
        </p:txBody>
      </p:sp>
      <p:sp>
        <p:nvSpPr>
          <p:cNvPr id="4" name="Text 2"/>
          <p:cNvSpPr/>
          <p:nvPr/>
        </p:nvSpPr>
        <p:spPr>
          <a:xfrm>
            <a:off x="502920" y="1371600"/>
            <a:ext cx="11155680" cy="457200"/>
          </a:xfrm>
          <a:prstGeom prst="rect">
            <a:avLst/>
          </a:prstGeom>
          <a:noFill/>
          <a:ln/>
        </p:spPr>
        <p:txBody>
          <a:bodyPr wrap="square" rtlCol="0" anchor="ctr"/>
          <a:lstStyle/>
          <a:p>
            <a:pPr indent="0" marL="0">
              <a:buNone/>
            </a:pPr>
            <a:r>
              <a:rPr lang="en-US" sz="1400" dirty="0">
                <a:solidFill>
                  <a:srgbClr val="D8E3F5"/>
                </a:solidFill>
                <a:latin typeface="Calibri" pitchFamily="34" charset="0"/>
                <a:ea typeface="Calibri" pitchFamily="34" charset="-122"/>
                <a:cs typeface="Calibri" pitchFamily="34" charset="-120"/>
              </a:rPr>
              <a:t>The final risk engine combines intelligence from the rule-based, ML, and graph systems into one explainable score.</a:t>
            </a:r>
            <a:endParaRPr lang="en-US" sz="1400" dirty="0"/>
          </a:p>
        </p:txBody>
      </p:sp>
      <p:sp>
        <p:nvSpPr>
          <p:cNvPr id="5" name="Shape 3"/>
          <p:cNvSpPr/>
          <p:nvPr/>
        </p:nvSpPr>
        <p:spPr>
          <a:xfrm>
            <a:off x="640080" y="2194560"/>
            <a:ext cx="3291840" cy="685800"/>
          </a:xfrm>
          <a:prstGeom prst="roundRect">
            <a:avLst>
              <a:gd name="adj" fmla="val 10667"/>
            </a:avLst>
          </a:prstGeom>
          <a:solidFill>
            <a:srgbClr val="3A6FF0"/>
          </a:solidFill>
          <a:ln/>
        </p:spPr>
      </p:sp>
      <p:sp>
        <p:nvSpPr>
          <p:cNvPr id="6" name="Text 4"/>
          <p:cNvSpPr/>
          <p:nvPr/>
        </p:nvSpPr>
        <p:spPr>
          <a:xfrm>
            <a:off x="640080" y="2194560"/>
            <a:ext cx="3291840" cy="6858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Rule-Based Risk</a:t>
            </a:r>
            <a:endParaRPr lang="en-US" sz="1400" dirty="0"/>
          </a:p>
        </p:txBody>
      </p:sp>
      <p:sp>
        <p:nvSpPr>
          <p:cNvPr id="7" name="Shape 5"/>
          <p:cNvSpPr/>
          <p:nvPr/>
        </p:nvSpPr>
        <p:spPr>
          <a:xfrm>
            <a:off x="3931920" y="2537460"/>
            <a:ext cx="1463040" cy="0"/>
          </a:xfrm>
          <a:prstGeom prst="line">
            <a:avLst/>
          </a:prstGeom>
          <a:noFill/>
          <a:ln w="19050">
            <a:solidFill>
              <a:srgbClr val="9FB1D6"/>
            </a:solidFill>
            <a:prstDash val="solid"/>
          </a:ln>
        </p:spPr>
      </p:sp>
      <p:sp>
        <p:nvSpPr>
          <p:cNvPr id="8" name="Shape 6"/>
          <p:cNvSpPr/>
          <p:nvPr/>
        </p:nvSpPr>
        <p:spPr>
          <a:xfrm>
            <a:off x="640080" y="3108960"/>
            <a:ext cx="3291840" cy="685800"/>
          </a:xfrm>
          <a:prstGeom prst="roundRect">
            <a:avLst>
              <a:gd name="adj" fmla="val 10667"/>
            </a:avLst>
          </a:prstGeom>
          <a:solidFill>
            <a:srgbClr val="2E9E62"/>
          </a:solidFill>
          <a:ln/>
        </p:spPr>
      </p:sp>
      <p:sp>
        <p:nvSpPr>
          <p:cNvPr id="9" name="Text 7"/>
          <p:cNvSpPr/>
          <p:nvPr/>
        </p:nvSpPr>
        <p:spPr>
          <a:xfrm>
            <a:off x="640080" y="3108960"/>
            <a:ext cx="3291840" cy="6858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ML Risk</a:t>
            </a:r>
            <a:endParaRPr lang="en-US" sz="1400" dirty="0"/>
          </a:p>
        </p:txBody>
      </p:sp>
      <p:sp>
        <p:nvSpPr>
          <p:cNvPr id="10" name="Shape 8"/>
          <p:cNvSpPr/>
          <p:nvPr/>
        </p:nvSpPr>
        <p:spPr>
          <a:xfrm>
            <a:off x="3931920" y="3451860"/>
            <a:ext cx="1463040" cy="0"/>
          </a:xfrm>
          <a:prstGeom prst="line">
            <a:avLst/>
          </a:prstGeom>
          <a:noFill/>
          <a:ln w="19050">
            <a:solidFill>
              <a:srgbClr val="9FB1D6"/>
            </a:solidFill>
            <a:prstDash val="solid"/>
          </a:ln>
        </p:spPr>
      </p:sp>
      <p:sp>
        <p:nvSpPr>
          <p:cNvPr id="11" name="Shape 9"/>
          <p:cNvSpPr/>
          <p:nvPr/>
        </p:nvSpPr>
        <p:spPr>
          <a:xfrm>
            <a:off x="640080" y="4023360"/>
            <a:ext cx="3291840" cy="685800"/>
          </a:xfrm>
          <a:prstGeom prst="roundRect">
            <a:avLst>
              <a:gd name="adj" fmla="val 10667"/>
            </a:avLst>
          </a:prstGeom>
          <a:solidFill>
            <a:srgbClr val="F0A23A"/>
          </a:solidFill>
          <a:ln/>
        </p:spPr>
      </p:sp>
      <p:sp>
        <p:nvSpPr>
          <p:cNvPr id="12" name="Text 10"/>
          <p:cNvSpPr/>
          <p:nvPr/>
        </p:nvSpPr>
        <p:spPr>
          <a:xfrm>
            <a:off x="640080" y="4023360"/>
            <a:ext cx="3291840" cy="6858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Graph Risk</a:t>
            </a:r>
            <a:endParaRPr lang="en-US" sz="1400" dirty="0"/>
          </a:p>
        </p:txBody>
      </p:sp>
      <p:sp>
        <p:nvSpPr>
          <p:cNvPr id="13" name="Shape 11"/>
          <p:cNvSpPr/>
          <p:nvPr/>
        </p:nvSpPr>
        <p:spPr>
          <a:xfrm>
            <a:off x="3931920" y="4366260"/>
            <a:ext cx="1463040" cy="0"/>
          </a:xfrm>
          <a:prstGeom prst="line">
            <a:avLst/>
          </a:prstGeom>
          <a:noFill/>
          <a:ln w="19050">
            <a:solidFill>
              <a:srgbClr val="9FB1D6"/>
            </a:solidFill>
            <a:prstDash val="solid"/>
          </a:ln>
        </p:spPr>
      </p:sp>
      <p:sp>
        <p:nvSpPr>
          <p:cNvPr id="14" name="Shape 12"/>
          <p:cNvSpPr/>
          <p:nvPr/>
        </p:nvSpPr>
        <p:spPr>
          <a:xfrm>
            <a:off x="5394960" y="2423160"/>
            <a:ext cx="2011680" cy="1920240"/>
          </a:xfrm>
          <a:prstGeom prst="roundRect">
            <a:avLst>
              <a:gd name="adj" fmla="val 3810"/>
            </a:avLst>
          </a:prstGeom>
          <a:solidFill>
            <a:srgbClr val="1B2E58"/>
          </a:solidFill>
          <a:ln w="12700">
            <a:solidFill>
              <a:srgbClr val="E2E7F1"/>
            </a:solidFill>
            <a:prstDash val="solid"/>
          </a:ln>
        </p:spPr>
      </p:sp>
      <p:sp>
        <p:nvSpPr>
          <p:cNvPr id="15" name="Text 13"/>
          <p:cNvSpPr/>
          <p:nvPr/>
        </p:nvSpPr>
        <p:spPr>
          <a:xfrm>
            <a:off x="5394960" y="2423160"/>
            <a:ext cx="2011680" cy="19202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FINAL</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RISK</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ENGINE</a:t>
            </a:r>
            <a:endParaRPr lang="en-US" sz="1800" dirty="0"/>
          </a:p>
        </p:txBody>
      </p:sp>
      <p:sp>
        <p:nvSpPr>
          <p:cNvPr id="16" name="Shape 14"/>
          <p:cNvSpPr/>
          <p:nvPr/>
        </p:nvSpPr>
        <p:spPr>
          <a:xfrm>
            <a:off x="7406640" y="3383280"/>
            <a:ext cx="1097280" cy="0"/>
          </a:xfrm>
          <a:prstGeom prst="line">
            <a:avLst/>
          </a:prstGeom>
          <a:noFill/>
          <a:ln w="25400">
            <a:solidFill>
              <a:srgbClr val="F0A23A"/>
            </a:solidFill>
            <a:prstDash val="solid"/>
          </a:ln>
        </p:spPr>
      </p:sp>
      <p:sp>
        <p:nvSpPr>
          <p:cNvPr id="17" name="Shape 15"/>
          <p:cNvSpPr/>
          <p:nvPr/>
        </p:nvSpPr>
        <p:spPr>
          <a:xfrm>
            <a:off x="8503920" y="2926080"/>
            <a:ext cx="3108960" cy="914400"/>
          </a:xfrm>
          <a:prstGeom prst="roundRect">
            <a:avLst>
              <a:gd name="adj" fmla="val 8000"/>
            </a:avLst>
          </a:prstGeom>
          <a:solidFill>
            <a:srgbClr val="F0A23A"/>
          </a:solidFill>
          <a:ln/>
        </p:spPr>
      </p:sp>
      <p:sp>
        <p:nvSpPr>
          <p:cNvPr id="18" name="Text 16"/>
          <p:cNvSpPr/>
          <p:nvPr/>
        </p:nvSpPr>
        <p:spPr>
          <a:xfrm>
            <a:off x="8503920" y="2926080"/>
            <a:ext cx="3108960" cy="914400"/>
          </a:xfrm>
          <a:prstGeom prst="rect">
            <a:avLst/>
          </a:prstGeom>
          <a:noFill/>
          <a:ln/>
        </p:spPr>
        <p:txBody>
          <a:bodyPr wrap="square" rtlCol="0" anchor="ctr"/>
          <a:lstStyle/>
          <a:p>
            <a:pPr algn="ctr" indent="0" marL="0">
              <a:buNone/>
            </a:pPr>
            <a:r>
              <a:rPr lang="en-US" sz="1500" b="1" dirty="0">
                <a:solidFill>
                  <a:srgbClr val="101F3C"/>
                </a:solidFill>
                <a:latin typeface="Calibri" pitchFamily="34" charset="0"/>
                <a:ea typeface="Calibri" pitchFamily="34" charset="-122"/>
                <a:cs typeface="Calibri" pitchFamily="34" charset="-120"/>
              </a:rPr>
              <a:t>Final Risk Score</a:t>
            </a:r>
            <a:endParaRPr lang="en-US" sz="1500" dirty="0"/>
          </a:p>
        </p:txBody>
      </p:sp>
      <p:sp>
        <p:nvSpPr>
          <p:cNvPr id="19" name="Shape 17"/>
          <p:cNvSpPr/>
          <p:nvPr/>
        </p:nvSpPr>
        <p:spPr>
          <a:xfrm>
            <a:off x="9921240" y="3886200"/>
            <a:ext cx="274320" cy="192024"/>
          </a:xfrm>
          <a:prstGeom prst="downArrow">
            <a:avLst/>
          </a:prstGeom>
          <a:solidFill>
            <a:srgbClr val="F0A23A"/>
          </a:solidFill>
          <a:ln/>
        </p:spPr>
      </p:sp>
      <p:sp>
        <p:nvSpPr>
          <p:cNvPr id="20" name="Shape 18"/>
          <p:cNvSpPr/>
          <p:nvPr/>
        </p:nvSpPr>
        <p:spPr>
          <a:xfrm>
            <a:off x="8503920" y="4206240"/>
            <a:ext cx="3108960" cy="914400"/>
          </a:xfrm>
          <a:prstGeom prst="roundRect">
            <a:avLst>
              <a:gd name="adj" fmla="val 8000"/>
            </a:avLst>
          </a:prstGeom>
          <a:solidFill>
            <a:srgbClr val="1B2E58"/>
          </a:solidFill>
          <a:ln/>
        </p:spPr>
      </p:sp>
      <p:sp>
        <p:nvSpPr>
          <p:cNvPr id="21" name="Text 19"/>
          <p:cNvSpPr/>
          <p:nvPr/>
        </p:nvSpPr>
        <p:spPr>
          <a:xfrm>
            <a:off x="8503920" y="4206240"/>
            <a:ext cx="3108960" cy="9144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Final Risk Level</a:t>
            </a:r>
            <a:endParaRPr lang="en-US" sz="1500" dirty="0"/>
          </a:p>
        </p:txBody>
      </p:sp>
      <p:sp>
        <p:nvSpPr>
          <p:cNvPr id="22" name="Text 20"/>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SECTION 19 · FINAL RISK ENGINE</a:t>
            </a:r>
            <a:endParaRPr lang="en-US" sz="900" dirty="0"/>
          </a:p>
        </p:txBody>
      </p:sp>
      <p:sp>
        <p:nvSpPr>
          <p:cNvPr id="23" name="Text 21"/>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24" name="Text 22"/>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20</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Final Risk Levels</a:t>
            </a:r>
            <a:endParaRPr lang="en-US" sz="3000" dirty="0"/>
          </a:p>
        </p:txBody>
      </p:sp>
      <p:sp>
        <p:nvSpPr>
          <p:cNvPr id="4" name="Shape 2"/>
          <p:cNvSpPr/>
          <p:nvPr/>
        </p:nvSpPr>
        <p:spPr>
          <a:xfrm>
            <a:off x="502920" y="1645920"/>
            <a:ext cx="3566160" cy="4206240"/>
          </a:xfrm>
          <a:prstGeom prst="roundRect">
            <a:avLst>
              <a:gd name="adj" fmla="val 2051"/>
            </a:avLst>
          </a:prstGeom>
          <a:solidFill>
            <a:srgbClr val="2E9E62"/>
          </a:solidFill>
          <a:ln/>
        </p:spPr>
      </p:sp>
      <p:sp>
        <p:nvSpPr>
          <p:cNvPr id="5" name="Shape 3"/>
          <p:cNvSpPr/>
          <p:nvPr/>
        </p:nvSpPr>
        <p:spPr>
          <a:xfrm>
            <a:off x="1920240" y="1965960"/>
            <a:ext cx="731520" cy="731520"/>
          </a:xfrm>
          <a:prstGeom prst="ellipse">
            <a:avLst/>
          </a:prstGeom>
          <a:solidFill>
            <a:srgbClr val="FFFFFF"/>
          </a:solidFill>
          <a:ln/>
        </p:spPr>
      </p:sp>
      <p:sp>
        <p:nvSpPr>
          <p:cNvPr id="6" name="Text 4"/>
          <p:cNvSpPr/>
          <p:nvPr/>
        </p:nvSpPr>
        <p:spPr>
          <a:xfrm>
            <a:off x="1920240" y="1965960"/>
            <a:ext cx="731520" cy="731520"/>
          </a:xfrm>
          <a:prstGeom prst="rect">
            <a:avLst/>
          </a:prstGeom>
          <a:noFill/>
          <a:ln/>
        </p:spPr>
        <p:txBody>
          <a:bodyPr wrap="square" rtlCol="0" anchor="ctr"/>
          <a:lstStyle/>
          <a:p>
            <a:pPr algn="ctr" indent="0" marL="0">
              <a:buNone/>
            </a:pPr>
            <a:r>
              <a:rPr lang="en-US" sz="2800" b="1" dirty="0">
                <a:solidFill>
                  <a:srgbClr val="2E9E62"/>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685800" y="2880360"/>
            <a:ext cx="320040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LOW RISK</a:t>
            </a:r>
            <a:endParaRPr lang="en-US" sz="2000" dirty="0"/>
          </a:p>
        </p:txBody>
      </p:sp>
      <p:sp>
        <p:nvSpPr>
          <p:cNvPr id="8" name="Text 6"/>
          <p:cNvSpPr/>
          <p:nvPr/>
        </p:nvSpPr>
        <p:spPr>
          <a:xfrm>
            <a:off x="868680" y="3566160"/>
            <a:ext cx="2834640" cy="2103120"/>
          </a:xfrm>
          <a:prstGeom prst="rect">
            <a:avLst/>
          </a:prstGeom>
          <a:noFill/>
          <a:ln/>
        </p:spPr>
        <p:txBody>
          <a:bodyPr wrap="square" rtlCol="0" anchor="ctr"/>
          <a:lstStyle/>
          <a:p>
            <a:pPr algn="ctr" indent="0" marL="0">
              <a:lnSpc>
                <a:spcPct val="130000"/>
              </a:lnSpc>
              <a:buNone/>
            </a:pPr>
            <a:r>
              <a:rPr lang="en-US" sz="1350" dirty="0">
                <a:solidFill>
                  <a:srgbClr val="FFFFFF"/>
                </a:solidFill>
                <a:latin typeface="Calibri" pitchFamily="34" charset="0"/>
                <a:ea typeface="Calibri" pitchFamily="34" charset="-122"/>
                <a:cs typeface="Calibri" pitchFamily="34" charset="-120"/>
              </a:rPr>
              <a:t>Customer behavior appears normal.</a:t>
            </a:r>
            <a:endParaRPr lang="en-US" sz="1350" dirty="0"/>
          </a:p>
        </p:txBody>
      </p:sp>
      <p:sp>
        <p:nvSpPr>
          <p:cNvPr id="9" name="Shape 7"/>
          <p:cNvSpPr/>
          <p:nvPr/>
        </p:nvSpPr>
        <p:spPr>
          <a:xfrm>
            <a:off x="4297680" y="1645920"/>
            <a:ext cx="3566160" cy="4206240"/>
          </a:xfrm>
          <a:prstGeom prst="roundRect">
            <a:avLst>
              <a:gd name="adj" fmla="val 2051"/>
            </a:avLst>
          </a:prstGeom>
          <a:solidFill>
            <a:srgbClr val="E19A2E"/>
          </a:solidFill>
          <a:ln/>
        </p:spPr>
      </p:sp>
      <p:sp>
        <p:nvSpPr>
          <p:cNvPr id="10" name="Shape 8"/>
          <p:cNvSpPr/>
          <p:nvPr/>
        </p:nvSpPr>
        <p:spPr>
          <a:xfrm>
            <a:off x="5715000" y="1965960"/>
            <a:ext cx="731520" cy="731520"/>
          </a:xfrm>
          <a:prstGeom prst="ellipse">
            <a:avLst/>
          </a:prstGeom>
          <a:solidFill>
            <a:srgbClr val="FFFFFF"/>
          </a:solidFill>
          <a:ln/>
        </p:spPr>
      </p:sp>
      <p:sp>
        <p:nvSpPr>
          <p:cNvPr id="11" name="Text 9"/>
          <p:cNvSpPr/>
          <p:nvPr/>
        </p:nvSpPr>
        <p:spPr>
          <a:xfrm>
            <a:off x="5715000" y="1965960"/>
            <a:ext cx="731520" cy="731520"/>
          </a:xfrm>
          <a:prstGeom prst="rect">
            <a:avLst/>
          </a:prstGeom>
          <a:noFill/>
          <a:ln/>
        </p:spPr>
        <p:txBody>
          <a:bodyPr wrap="square" rtlCol="0" anchor="ctr"/>
          <a:lstStyle/>
          <a:p>
            <a:pPr algn="ctr" indent="0" marL="0">
              <a:buNone/>
            </a:pPr>
            <a:r>
              <a:rPr lang="en-US" sz="2800" b="1" dirty="0">
                <a:solidFill>
                  <a:srgbClr val="E19A2E"/>
                </a:solidFill>
                <a:latin typeface="Cambria" pitchFamily="34" charset="0"/>
                <a:ea typeface="Cambria" pitchFamily="34" charset="-122"/>
                <a:cs typeface="Cambria" pitchFamily="34" charset="-120"/>
              </a:rPr>
              <a:t>2</a:t>
            </a:r>
            <a:endParaRPr lang="en-US" sz="2800" dirty="0"/>
          </a:p>
        </p:txBody>
      </p:sp>
      <p:sp>
        <p:nvSpPr>
          <p:cNvPr id="12" name="Text 10"/>
          <p:cNvSpPr/>
          <p:nvPr/>
        </p:nvSpPr>
        <p:spPr>
          <a:xfrm>
            <a:off x="4480560" y="2880360"/>
            <a:ext cx="320040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MEDIUM RISK</a:t>
            </a:r>
            <a:endParaRPr lang="en-US" sz="2000" dirty="0"/>
          </a:p>
        </p:txBody>
      </p:sp>
      <p:sp>
        <p:nvSpPr>
          <p:cNvPr id="13" name="Text 11"/>
          <p:cNvSpPr/>
          <p:nvPr/>
        </p:nvSpPr>
        <p:spPr>
          <a:xfrm>
            <a:off x="4663440" y="3566160"/>
            <a:ext cx="2834640" cy="2103120"/>
          </a:xfrm>
          <a:prstGeom prst="rect">
            <a:avLst/>
          </a:prstGeom>
          <a:noFill/>
          <a:ln/>
        </p:spPr>
        <p:txBody>
          <a:bodyPr wrap="square" rtlCol="0" anchor="ctr"/>
          <a:lstStyle/>
          <a:p>
            <a:pPr algn="ctr" indent="0" marL="0">
              <a:lnSpc>
                <a:spcPct val="130000"/>
              </a:lnSpc>
              <a:buNone/>
            </a:pPr>
            <a:r>
              <a:rPr lang="en-US" sz="1350" dirty="0">
                <a:solidFill>
                  <a:srgbClr val="FFFFFF"/>
                </a:solidFill>
                <a:latin typeface="Calibri" pitchFamily="34" charset="0"/>
                <a:ea typeface="Calibri" pitchFamily="34" charset="-122"/>
                <a:cs typeface="Calibri" pitchFamily="34" charset="-120"/>
              </a:rPr>
              <a:t>Some suspicious indicators are detected.</a:t>
            </a:r>
            <a:endParaRPr lang="en-US" sz="1350" dirty="0"/>
          </a:p>
        </p:txBody>
      </p:sp>
      <p:sp>
        <p:nvSpPr>
          <p:cNvPr id="14" name="Shape 12"/>
          <p:cNvSpPr/>
          <p:nvPr/>
        </p:nvSpPr>
        <p:spPr>
          <a:xfrm>
            <a:off x="8092440" y="1645920"/>
            <a:ext cx="3566160" cy="4206240"/>
          </a:xfrm>
          <a:prstGeom prst="roundRect">
            <a:avLst>
              <a:gd name="adj" fmla="val 2051"/>
            </a:avLst>
          </a:prstGeom>
          <a:solidFill>
            <a:srgbClr val="D14343"/>
          </a:solidFill>
          <a:ln/>
        </p:spPr>
      </p:sp>
      <p:sp>
        <p:nvSpPr>
          <p:cNvPr id="15" name="Shape 13"/>
          <p:cNvSpPr/>
          <p:nvPr/>
        </p:nvSpPr>
        <p:spPr>
          <a:xfrm>
            <a:off x="9509760" y="1965960"/>
            <a:ext cx="731520" cy="731520"/>
          </a:xfrm>
          <a:prstGeom prst="ellipse">
            <a:avLst/>
          </a:prstGeom>
          <a:solidFill>
            <a:srgbClr val="FFFFFF"/>
          </a:solidFill>
          <a:ln/>
        </p:spPr>
      </p:sp>
      <p:sp>
        <p:nvSpPr>
          <p:cNvPr id="16" name="Text 14"/>
          <p:cNvSpPr/>
          <p:nvPr/>
        </p:nvSpPr>
        <p:spPr>
          <a:xfrm>
            <a:off x="9509760" y="1965960"/>
            <a:ext cx="731520" cy="731520"/>
          </a:xfrm>
          <a:prstGeom prst="rect">
            <a:avLst/>
          </a:prstGeom>
          <a:noFill/>
          <a:ln/>
        </p:spPr>
        <p:txBody>
          <a:bodyPr wrap="square" rtlCol="0" anchor="ctr"/>
          <a:lstStyle/>
          <a:p>
            <a:pPr algn="ctr" indent="0" marL="0">
              <a:buNone/>
            </a:pPr>
            <a:r>
              <a:rPr lang="en-US" sz="2800" b="1" dirty="0">
                <a:solidFill>
                  <a:srgbClr val="D14343"/>
                </a:solidFill>
                <a:latin typeface="Cambria" pitchFamily="34" charset="0"/>
                <a:ea typeface="Cambria" pitchFamily="34" charset="-122"/>
                <a:cs typeface="Cambria" pitchFamily="34" charset="-120"/>
              </a:rPr>
              <a:t>3</a:t>
            </a:r>
            <a:endParaRPr lang="en-US" sz="2800" dirty="0"/>
          </a:p>
        </p:txBody>
      </p:sp>
      <p:sp>
        <p:nvSpPr>
          <p:cNvPr id="17" name="Text 15"/>
          <p:cNvSpPr/>
          <p:nvPr/>
        </p:nvSpPr>
        <p:spPr>
          <a:xfrm>
            <a:off x="8275320" y="2880360"/>
            <a:ext cx="320040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HIGH RISK</a:t>
            </a:r>
            <a:endParaRPr lang="en-US" sz="2000" dirty="0"/>
          </a:p>
        </p:txBody>
      </p:sp>
      <p:sp>
        <p:nvSpPr>
          <p:cNvPr id="18" name="Text 16"/>
          <p:cNvSpPr/>
          <p:nvPr/>
        </p:nvSpPr>
        <p:spPr>
          <a:xfrm>
            <a:off x="8458200" y="3566160"/>
            <a:ext cx="2834640" cy="2103120"/>
          </a:xfrm>
          <a:prstGeom prst="rect">
            <a:avLst/>
          </a:prstGeom>
          <a:noFill/>
          <a:ln/>
        </p:spPr>
        <p:txBody>
          <a:bodyPr wrap="square" rtlCol="0" anchor="ctr"/>
          <a:lstStyle/>
          <a:p>
            <a:pPr algn="ctr" indent="0" marL="0">
              <a:lnSpc>
                <a:spcPct val="130000"/>
              </a:lnSpc>
              <a:buNone/>
            </a:pPr>
            <a:r>
              <a:rPr lang="en-US" sz="1350" dirty="0">
                <a:solidFill>
                  <a:srgbClr val="FFFFFF"/>
                </a:solidFill>
                <a:latin typeface="Calibri" pitchFamily="34" charset="0"/>
                <a:ea typeface="Calibri" pitchFamily="34" charset="-122"/>
                <a:cs typeface="Calibri" pitchFamily="34" charset="-120"/>
              </a:rPr>
              <a:t>Multiple risk indicators or strong fraud-network connections are detected.</a:t>
            </a:r>
            <a:endParaRPr lang="en-US" sz="1350" dirty="0"/>
          </a:p>
        </p:txBody>
      </p:sp>
      <p:sp>
        <p:nvSpPr>
          <p:cNvPr id="19" name="Text 1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20 · FINAL RISK LEVELS</a:t>
            </a:r>
            <a:endParaRPr lang="en-US" sz="900" dirty="0"/>
          </a:p>
        </p:txBody>
      </p:sp>
      <p:sp>
        <p:nvSpPr>
          <p:cNvPr id="20" name="Text 1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21" name="Text 1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21</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Risk Explainability</a:t>
            </a:r>
            <a:endParaRPr lang="en-US" sz="3000" dirty="0"/>
          </a:p>
        </p:txBody>
      </p:sp>
      <p:sp>
        <p:nvSpPr>
          <p:cNvPr id="4" name="Text 2"/>
          <p:cNvSpPr/>
          <p:nvPr/>
        </p:nvSpPr>
        <p:spPr>
          <a:xfrm>
            <a:off x="502920" y="1371600"/>
            <a:ext cx="11155680" cy="640080"/>
          </a:xfrm>
          <a:prstGeom prst="rect">
            <a:avLst/>
          </a:prstGeom>
          <a:noFill/>
          <a:ln/>
        </p:spPr>
        <p:txBody>
          <a:bodyPr wrap="square" rtlCol="0" anchor="ctr"/>
          <a:lstStyle/>
          <a:p>
            <a:pPr indent="0" marL="0">
              <a:lnSpc>
                <a:spcPct val="125000"/>
              </a:lnSpc>
              <a:buNone/>
            </a:pPr>
            <a:r>
              <a:rPr lang="en-US" sz="1400" dirty="0">
                <a:solidFill>
                  <a:srgbClr val="16234A"/>
                </a:solidFill>
                <a:latin typeface="Calibri" pitchFamily="34" charset="0"/>
                <a:ea typeface="Calibri" pitchFamily="34" charset="-122"/>
                <a:cs typeface="Calibri" pitchFamily="34" charset="-120"/>
              </a:rPr>
              <a:t>A major feature of RISKNET AI is explainability — the system provides a risk_reason field so investigators understand why a customer was flagged.</a:t>
            </a:r>
            <a:endParaRPr lang="en-US" sz="1400" dirty="0"/>
          </a:p>
        </p:txBody>
      </p:sp>
      <p:sp>
        <p:nvSpPr>
          <p:cNvPr id="5" name="Shape 3"/>
          <p:cNvSpPr/>
          <p:nvPr/>
        </p:nvSpPr>
        <p:spPr>
          <a:xfrm>
            <a:off x="502920" y="2286000"/>
            <a:ext cx="11155680" cy="3291840"/>
          </a:xfrm>
          <a:prstGeom prst="roundRect">
            <a:avLst>
              <a:gd name="adj" fmla="val 2222"/>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6" name="Text 4"/>
          <p:cNvSpPr/>
          <p:nvPr/>
        </p:nvSpPr>
        <p:spPr>
          <a:xfrm>
            <a:off x="777240" y="2514600"/>
            <a:ext cx="5486400" cy="320040"/>
          </a:xfrm>
          <a:prstGeom prst="rect">
            <a:avLst/>
          </a:prstGeom>
          <a:noFill/>
          <a:ln/>
        </p:spPr>
        <p:txBody>
          <a:bodyPr wrap="square" rtlCol="0" anchor="ctr"/>
          <a:lstStyle/>
          <a:p>
            <a:pPr indent="0" marL="0">
              <a:buNone/>
            </a:pPr>
            <a:r>
              <a:rPr lang="en-US" sz="1200" b="1" spc="100" kern="0" dirty="0">
                <a:solidFill>
                  <a:srgbClr val="F0A23A"/>
                </a:solidFill>
                <a:latin typeface="Calibri" pitchFamily="34" charset="0"/>
                <a:ea typeface="Calibri" pitchFamily="34" charset="-122"/>
                <a:cs typeface="Calibri" pitchFamily="34" charset="-120"/>
              </a:rPr>
              <a:t>EXAMPLE risk_reason OUTPUT</a:t>
            </a:r>
            <a:endParaRPr lang="en-US" sz="1200" dirty="0"/>
          </a:p>
        </p:txBody>
      </p:sp>
      <p:sp>
        <p:nvSpPr>
          <p:cNvPr id="7" name="Shape 5"/>
          <p:cNvSpPr/>
          <p:nvPr/>
        </p:nvSpPr>
        <p:spPr>
          <a:xfrm>
            <a:off x="777240" y="3063240"/>
            <a:ext cx="10607040" cy="594360"/>
          </a:xfrm>
          <a:prstGeom prst="roundRect">
            <a:avLst>
              <a:gd name="adj" fmla="val 12308"/>
            </a:avLst>
          </a:prstGeom>
          <a:solidFill>
            <a:srgbClr val="1B2E58"/>
          </a:solidFill>
          <a:ln/>
        </p:spPr>
      </p:sp>
      <p:sp>
        <p:nvSpPr>
          <p:cNvPr id="8" name="Shape 6"/>
          <p:cNvSpPr/>
          <p:nvPr/>
        </p:nvSpPr>
        <p:spPr>
          <a:xfrm>
            <a:off x="1097280" y="3177540"/>
            <a:ext cx="365760" cy="365760"/>
          </a:xfrm>
          <a:prstGeom prst="ellipse">
            <a:avLst/>
          </a:prstGeom>
          <a:solidFill>
            <a:srgbClr val="D14343"/>
          </a:solidFill>
          <a:ln/>
        </p:spPr>
      </p:sp>
      <p:sp>
        <p:nvSpPr>
          <p:cNvPr id="9" name="Text 7"/>
          <p:cNvSpPr/>
          <p:nvPr/>
        </p:nvSpPr>
        <p:spPr>
          <a:xfrm>
            <a:off x="1097280" y="317754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0" name="Text 8"/>
          <p:cNvSpPr/>
          <p:nvPr/>
        </p:nvSpPr>
        <p:spPr>
          <a:xfrm>
            <a:off x="1645920" y="3063240"/>
            <a:ext cx="950976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 chargeback activity</a:t>
            </a:r>
            <a:endParaRPr lang="en-US" sz="1400" dirty="0"/>
          </a:p>
        </p:txBody>
      </p:sp>
      <p:sp>
        <p:nvSpPr>
          <p:cNvPr id="11" name="Shape 9"/>
          <p:cNvSpPr/>
          <p:nvPr/>
        </p:nvSpPr>
        <p:spPr>
          <a:xfrm>
            <a:off x="777240" y="3840480"/>
            <a:ext cx="10607040" cy="594360"/>
          </a:xfrm>
          <a:prstGeom prst="roundRect">
            <a:avLst>
              <a:gd name="adj" fmla="val 12308"/>
            </a:avLst>
          </a:prstGeom>
          <a:solidFill>
            <a:srgbClr val="1B2E58"/>
          </a:solidFill>
          <a:ln/>
        </p:spPr>
      </p:sp>
      <p:sp>
        <p:nvSpPr>
          <p:cNvPr id="12" name="Shape 10"/>
          <p:cNvSpPr/>
          <p:nvPr/>
        </p:nvSpPr>
        <p:spPr>
          <a:xfrm>
            <a:off x="1097280" y="3954780"/>
            <a:ext cx="365760" cy="365760"/>
          </a:xfrm>
          <a:prstGeom prst="ellipse">
            <a:avLst/>
          </a:prstGeom>
          <a:solidFill>
            <a:srgbClr val="D14343"/>
          </a:solidFill>
          <a:ln/>
        </p:spPr>
      </p:sp>
      <p:sp>
        <p:nvSpPr>
          <p:cNvPr id="13" name="Text 11"/>
          <p:cNvSpPr/>
          <p:nvPr/>
        </p:nvSpPr>
        <p:spPr>
          <a:xfrm>
            <a:off x="1097280" y="395478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4" name="Text 12"/>
          <p:cNvSpPr/>
          <p:nvPr/>
        </p:nvSpPr>
        <p:spPr>
          <a:xfrm>
            <a:off x="1645920" y="3840480"/>
            <a:ext cx="950976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Connected to suspicious fraud network</a:t>
            </a:r>
            <a:endParaRPr lang="en-US" sz="1400" dirty="0"/>
          </a:p>
        </p:txBody>
      </p:sp>
      <p:sp>
        <p:nvSpPr>
          <p:cNvPr id="15" name="Shape 13"/>
          <p:cNvSpPr/>
          <p:nvPr/>
        </p:nvSpPr>
        <p:spPr>
          <a:xfrm>
            <a:off x="777240" y="4617720"/>
            <a:ext cx="10607040" cy="594360"/>
          </a:xfrm>
          <a:prstGeom prst="roundRect">
            <a:avLst>
              <a:gd name="adj" fmla="val 12308"/>
            </a:avLst>
          </a:prstGeom>
          <a:solidFill>
            <a:srgbClr val="1B2E58"/>
          </a:solidFill>
          <a:ln/>
        </p:spPr>
      </p:sp>
      <p:sp>
        <p:nvSpPr>
          <p:cNvPr id="16" name="Shape 14"/>
          <p:cNvSpPr/>
          <p:nvPr/>
        </p:nvSpPr>
        <p:spPr>
          <a:xfrm>
            <a:off x="1097280" y="4732020"/>
            <a:ext cx="365760" cy="365760"/>
          </a:xfrm>
          <a:prstGeom prst="ellipse">
            <a:avLst/>
          </a:prstGeom>
          <a:solidFill>
            <a:srgbClr val="D14343"/>
          </a:solidFill>
          <a:ln/>
        </p:spPr>
      </p:sp>
      <p:sp>
        <p:nvSpPr>
          <p:cNvPr id="17" name="Text 15"/>
          <p:cNvSpPr/>
          <p:nvPr/>
        </p:nvSpPr>
        <p:spPr>
          <a:xfrm>
            <a:off x="1097280" y="473202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8" name="Text 16"/>
          <p:cNvSpPr/>
          <p:nvPr/>
        </p:nvSpPr>
        <p:spPr>
          <a:xfrm>
            <a:off x="1645920" y="4617720"/>
            <a:ext cx="950976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 graph risk score</a:t>
            </a:r>
            <a:endParaRPr lang="en-US" sz="1400" dirty="0"/>
          </a:p>
        </p:txBody>
      </p:sp>
      <p:sp>
        <p:nvSpPr>
          <p:cNvPr id="19" name="Text 1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21 · RISK EXPLAINABILITY</a:t>
            </a:r>
            <a:endParaRPr lang="en-US" sz="900" dirty="0"/>
          </a:p>
        </p:txBody>
      </p:sp>
      <p:sp>
        <p:nvSpPr>
          <p:cNvPr id="20" name="Text 1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21" name="Text 1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22</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FastAPI Backend</a:t>
            </a:r>
            <a:endParaRPr lang="en-US" sz="3000" dirty="0"/>
          </a:p>
        </p:txBody>
      </p:sp>
      <p:sp>
        <p:nvSpPr>
          <p:cNvPr id="4" name="Shape 2"/>
          <p:cNvSpPr/>
          <p:nvPr/>
        </p:nvSpPr>
        <p:spPr>
          <a:xfrm>
            <a:off x="502920" y="1417320"/>
            <a:ext cx="4937760" cy="2194560"/>
          </a:xfrm>
          <a:prstGeom prst="roundRect">
            <a:avLst>
              <a:gd name="adj" fmla="val 3333"/>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Text 3"/>
          <p:cNvSpPr/>
          <p:nvPr/>
        </p:nvSpPr>
        <p:spPr>
          <a:xfrm>
            <a:off x="777240" y="1600200"/>
            <a:ext cx="4389120" cy="274320"/>
          </a:xfrm>
          <a:prstGeom prst="rect">
            <a:avLst/>
          </a:prstGeom>
          <a:noFill/>
          <a:ln/>
        </p:spPr>
        <p:txBody>
          <a:bodyPr wrap="square" rtlCol="0" anchor="ctr"/>
          <a:lstStyle/>
          <a:p>
            <a:pPr indent="0" marL="0">
              <a:buNone/>
            </a:pPr>
            <a:r>
              <a:rPr lang="en-US" sz="1150" b="1" spc="100" kern="0" dirty="0">
                <a:solidFill>
                  <a:srgbClr val="F0A23A"/>
                </a:solidFill>
                <a:latin typeface="Calibri" pitchFamily="34" charset="0"/>
                <a:ea typeface="Calibri" pitchFamily="34" charset="-122"/>
                <a:cs typeface="Calibri" pitchFamily="34" charset="-120"/>
              </a:rPr>
              <a:t>API ARCHITECTURE</a:t>
            </a:r>
            <a:endParaRPr lang="en-US" sz="1150" dirty="0"/>
          </a:p>
        </p:txBody>
      </p:sp>
      <p:sp>
        <p:nvSpPr>
          <p:cNvPr id="6" name="Shape 4"/>
          <p:cNvSpPr/>
          <p:nvPr/>
        </p:nvSpPr>
        <p:spPr>
          <a:xfrm>
            <a:off x="914400" y="1965960"/>
            <a:ext cx="4114800" cy="320040"/>
          </a:xfrm>
          <a:prstGeom prst="roundRect">
            <a:avLst>
              <a:gd name="adj" fmla="val 17143"/>
            </a:avLst>
          </a:prstGeom>
          <a:solidFill>
            <a:srgbClr val="1B2E58"/>
          </a:solidFill>
          <a:ln/>
        </p:spPr>
      </p:sp>
      <p:sp>
        <p:nvSpPr>
          <p:cNvPr id="7" name="Text 5"/>
          <p:cNvSpPr/>
          <p:nvPr/>
        </p:nvSpPr>
        <p:spPr>
          <a:xfrm>
            <a:off x="914400" y="1965960"/>
            <a:ext cx="41148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Client / Dashboard</a:t>
            </a:r>
            <a:endParaRPr lang="en-US" sz="1100" dirty="0"/>
          </a:p>
        </p:txBody>
      </p:sp>
      <p:sp>
        <p:nvSpPr>
          <p:cNvPr id="8" name="Shape 6"/>
          <p:cNvSpPr/>
          <p:nvPr/>
        </p:nvSpPr>
        <p:spPr>
          <a:xfrm>
            <a:off x="914400" y="2377440"/>
            <a:ext cx="4114800" cy="320040"/>
          </a:xfrm>
          <a:prstGeom prst="roundRect">
            <a:avLst>
              <a:gd name="adj" fmla="val 17143"/>
            </a:avLst>
          </a:prstGeom>
          <a:solidFill>
            <a:srgbClr val="1B2E58"/>
          </a:solidFill>
          <a:ln/>
        </p:spPr>
      </p:sp>
      <p:sp>
        <p:nvSpPr>
          <p:cNvPr id="9" name="Text 7"/>
          <p:cNvSpPr/>
          <p:nvPr/>
        </p:nvSpPr>
        <p:spPr>
          <a:xfrm>
            <a:off x="914400" y="2377440"/>
            <a:ext cx="41148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FastAPI</a:t>
            </a:r>
            <a:endParaRPr lang="en-US" sz="1100" dirty="0"/>
          </a:p>
        </p:txBody>
      </p:sp>
      <p:sp>
        <p:nvSpPr>
          <p:cNvPr id="10" name="Shape 8"/>
          <p:cNvSpPr/>
          <p:nvPr/>
        </p:nvSpPr>
        <p:spPr>
          <a:xfrm>
            <a:off x="914400" y="2788920"/>
            <a:ext cx="4114800" cy="320040"/>
          </a:xfrm>
          <a:prstGeom prst="roundRect">
            <a:avLst>
              <a:gd name="adj" fmla="val 17143"/>
            </a:avLst>
          </a:prstGeom>
          <a:solidFill>
            <a:srgbClr val="1B2E58"/>
          </a:solidFill>
          <a:ln/>
        </p:spPr>
      </p:sp>
      <p:sp>
        <p:nvSpPr>
          <p:cNvPr id="11" name="Text 9"/>
          <p:cNvSpPr/>
          <p:nvPr/>
        </p:nvSpPr>
        <p:spPr>
          <a:xfrm>
            <a:off x="914400" y="2788920"/>
            <a:ext cx="41148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Processed Risk Data</a:t>
            </a:r>
            <a:endParaRPr lang="en-US" sz="1100" dirty="0"/>
          </a:p>
        </p:txBody>
      </p:sp>
      <p:sp>
        <p:nvSpPr>
          <p:cNvPr id="12" name="Shape 10"/>
          <p:cNvSpPr/>
          <p:nvPr/>
        </p:nvSpPr>
        <p:spPr>
          <a:xfrm>
            <a:off x="914400" y="3200400"/>
            <a:ext cx="4114800" cy="320040"/>
          </a:xfrm>
          <a:prstGeom prst="roundRect">
            <a:avLst>
              <a:gd name="adj" fmla="val 17143"/>
            </a:avLst>
          </a:prstGeom>
          <a:solidFill>
            <a:srgbClr val="1B2E58"/>
          </a:solidFill>
          <a:ln/>
        </p:spPr>
      </p:sp>
      <p:sp>
        <p:nvSpPr>
          <p:cNvPr id="13" name="Text 11"/>
          <p:cNvSpPr/>
          <p:nvPr/>
        </p:nvSpPr>
        <p:spPr>
          <a:xfrm>
            <a:off x="914400" y="3200400"/>
            <a:ext cx="41148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JSON Response</a:t>
            </a:r>
            <a:endParaRPr lang="en-US" sz="1100" dirty="0"/>
          </a:p>
        </p:txBody>
      </p:sp>
      <p:sp>
        <p:nvSpPr>
          <p:cNvPr id="14" name="Shape 12"/>
          <p:cNvSpPr/>
          <p:nvPr/>
        </p:nvSpPr>
        <p:spPr>
          <a:xfrm>
            <a:off x="502920" y="3794760"/>
            <a:ext cx="4937760" cy="2377440"/>
          </a:xfrm>
          <a:prstGeom prst="roundRect">
            <a:avLst>
              <a:gd name="adj" fmla="val 3077"/>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5" name="Text 13"/>
          <p:cNvSpPr/>
          <p:nvPr/>
        </p:nvSpPr>
        <p:spPr>
          <a:xfrm>
            <a:off x="777240" y="3977640"/>
            <a:ext cx="4389120" cy="274320"/>
          </a:xfrm>
          <a:prstGeom prst="rect">
            <a:avLst/>
          </a:prstGeom>
          <a:noFill/>
          <a:ln/>
        </p:spPr>
        <p:txBody>
          <a:bodyPr wrap="square" rtlCol="0" anchor="ctr"/>
          <a:lstStyle/>
          <a:p>
            <a:pPr indent="0" marL="0">
              <a:buNone/>
            </a:pPr>
            <a:r>
              <a:rPr lang="en-US" sz="1150" b="1" spc="100" kern="0" dirty="0">
                <a:solidFill>
                  <a:srgbClr val="3A6FF0"/>
                </a:solidFill>
                <a:latin typeface="Calibri" pitchFamily="34" charset="0"/>
                <a:ea typeface="Calibri" pitchFamily="34" charset="-122"/>
                <a:cs typeface="Calibri" pitchFamily="34" charset="-120"/>
              </a:rPr>
              <a:t>AVAILABLE ENDPOINTS</a:t>
            </a:r>
            <a:endParaRPr lang="en-US" sz="1150" dirty="0"/>
          </a:p>
        </p:txBody>
      </p:sp>
      <p:sp>
        <p:nvSpPr>
          <p:cNvPr id="16" name="Shape 14"/>
          <p:cNvSpPr/>
          <p:nvPr/>
        </p:nvSpPr>
        <p:spPr>
          <a:xfrm>
            <a:off x="777240" y="4343400"/>
            <a:ext cx="548640" cy="310896"/>
          </a:xfrm>
          <a:prstGeom prst="roundRect">
            <a:avLst>
              <a:gd name="adj" fmla="val 17647"/>
            </a:avLst>
          </a:prstGeom>
          <a:solidFill>
            <a:srgbClr val="2E9E62"/>
          </a:solidFill>
          <a:ln/>
        </p:spPr>
      </p:sp>
      <p:sp>
        <p:nvSpPr>
          <p:cNvPr id="17" name="Text 15"/>
          <p:cNvSpPr/>
          <p:nvPr/>
        </p:nvSpPr>
        <p:spPr>
          <a:xfrm>
            <a:off x="777240" y="4343400"/>
            <a:ext cx="548640"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18" name="Text 16"/>
          <p:cNvSpPr/>
          <p:nvPr/>
        </p:nvSpPr>
        <p:spPr>
          <a:xfrm>
            <a:off x="1417320" y="4343400"/>
            <a:ext cx="2468880" cy="310896"/>
          </a:xfrm>
          <a:prstGeom prst="rect">
            <a:avLst/>
          </a:prstGeom>
          <a:noFill/>
          <a:ln/>
        </p:spPr>
        <p:txBody>
          <a:bodyPr wrap="square" rtlCol="0" anchor="ctr"/>
          <a:lstStyle/>
          <a:p>
            <a:pPr indent="0" marL="0">
              <a:buNone/>
            </a:pPr>
            <a:r>
              <a:rPr lang="en-US" sz="1100" b="1" dirty="0">
                <a:solidFill>
                  <a:srgbClr val="16234A"/>
                </a:solidFill>
                <a:latin typeface="Courier New" pitchFamily="34" charset="0"/>
                <a:ea typeface="Courier New" pitchFamily="34" charset="-122"/>
                <a:cs typeface="Courier New" pitchFamily="34" charset="-120"/>
              </a:rPr>
              <a:t>/</a:t>
            </a:r>
            <a:endParaRPr lang="en-US" sz="1100" dirty="0"/>
          </a:p>
        </p:txBody>
      </p:sp>
      <p:sp>
        <p:nvSpPr>
          <p:cNvPr id="19" name="Text 17"/>
          <p:cNvSpPr/>
          <p:nvPr/>
        </p:nvSpPr>
        <p:spPr>
          <a:xfrm>
            <a:off x="3794760" y="4343400"/>
            <a:ext cx="1828800" cy="310896"/>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Root</a:t>
            </a:r>
            <a:endParaRPr lang="en-US" sz="1000" dirty="0"/>
          </a:p>
        </p:txBody>
      </p:sp>
      <p:sp>
        <p:nvSpPr>
          <p:cNvPr id="20" name="Shape 18"/>
          <p:cNvSpPr/>
          <p:nvPr/>
        </p:nvSpPr>
        <p:spPr>
          <a:xfrm>
            <a:off x="777240" y="4782312"/>
            <a:ext cx="548640" cy="310896"/>
          </a:xfrm>
          <a:prstGeom prst="roundRect">
            <a:avLst>
              <a:gd name="adj" fmla="val 17647"/>
            </a:avLst>
          </a:prstGeom>
          <a:solidFill>
            <a:srgbClr val="2E9E62"/>
          </a:solidFill>
          <a:ln/>
        </p:spPr>
      </p:sp>
      <p:sp>
        <p:nvSpPr>
          <p:cNvPr id="21" name="Text 19"/>
          <p:cNvSpPr/>
          <p:nvPr/>
        </p:nvSpPr>
        <p:spPr>
          <a:xfrm>
            <a:off x="777240" y="4782312"/>
            <a:ext cx="548640"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22" name="Text 20"/>
          <p:cNvSpPr/>
          <p:nvPr/>
        </p:nvSpPr>
        <p:spPr>
          <a:xfrm>
            <a:off x="1417320" y="4782312"/>
            <a:ext cx="2468880" cy="310896"/>
          </a:xfrm>
          <a:prstGeom prst="rect">
            <a:avLst/>
          </a:prstGeom>
          <a:noFill/>
          <a:ln/>
        </p:spPr>
        <p:txBody>
          <a:bodyPr wrap="square" rtlCol="0" anchor="ctr"/>
          <a:lstStyle/>
          <a:p>
            <a:pPr indent="0" marL="0">
              <a:buNone/>
            </a:pPr>
            <a:r>
              <a:rPr lang="en-US" sz="1100" b="1" dirty="0">
                <a:solidFill>
                  <a:srgbClr val="16234A"/>
                </a:solidFill>
                <a:latin typeface="Courier New" pitchFamily="34" charset="0"/>
                <a:ea typeface="Courier New" pitchFamily="34" charset="-122"/>
                <a:cs typeface="Courier New" pitchFamily="34" charset="-120"/>
              </a:rPr>
              <a:t>/health</a:t>
            </a:r>
            <a:endParaRPr lang="en-US" sz="1100" dirty="0"/>
          </a:p>
        </p:txBody>
      </p:sp>
      <p:sp>
        <p:nvSpPr>
          <p:cNvPr id="23" name="Text 21"/>
          <p:cNvSpPr/>
          <p:nvPr/>
        </p:nvSpPr>
        <p:spPr>
          <a:xfrm>
            <a:off x="3794760" y="4782312"/>
            <a:ext cx="1828800" cy="310896"/>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Health Check</a:t>
            </a:r>
            <a:endParaRPr lang="en-US" sz="1000" dirty="0"/>
          </a:p>
        </p:txBody>
      </p:sp>
      <p:sp>
        <p:nvSpPr>
          <p:cNvPr id="24" name="Shape 22"/>
          <p:cNvSpPr/>
          <p:nvPr/>
        </p:nvSpPr>
        <p:spPr>
          <a:xfrm>
            <a:off x="777240" y="5221224"/>
            <a:ext cx="548640" cy="310896"/>
          </a:xfrm>
          <a:prstGeom prst="roundRect">
            <a:avLst>
              <a:gd name="adj" fmla="val 17647"/>
            </a:avLst>
          </a:prstGeom>
          <a:solidFill>
            <a:srgbClr val="2E9E62"/>
          </a:solidFill>
          <a:ln/>
        </p:spPr>
      </p:sp>
      <p:sp>
        <p:nvSpPr>
          <p:cNvPr id="25" name="Text 23"/>
          <p:cNvSpPr/>
          <p:nvPr/>
        </p:nvSpPr>
        <p:spPr>
          <a:xfrm>
            <a:off x="777240" y="5221224"/>
            <a:ext cx="548640"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26" name="Text 24"/>
          <p:cNvSpPr/>
          <p:nvPr/>
        </p:nvSpPr>
        <p:spPr>
          <a:xfrm>
            <a:off x="1417320" y="5221224"/>
            <a:ext cx="2468880" cy="310896"/>
          </a:xfrm>
          <a:prstGeom prst="rect">
            <a:avLst/>
          </a:prstGeom>
          <a:noFill/>
          <a:ln/>
        </p:spPr>
        <p:txBody>
          <a:bodyPr wrap="square" rtlCol="0" anchor="ctr"/>
          <a:lstStyle/>
          <a:p>
            <a:pPr indent="0" marL="0">
              <a:buNone/>
            </a:pPr>
            <a:r>
              <a:rPr lang="en-US" sz="1100" b="1" dirty="0">
                <a:solidFill>
                  <a:srgbClr val="16234A"/>
                </a:solidFill>
                <a:latin typeface="Courier New" pitchFamily="34" charset="0"/>
                <a:ea typeface="Courier New" pitchFamily="34" charset="-122"/>
                <a:cs typeface="Courier New" pitchFamily="34" charset="-120"/>
              </a:rPr>
              <a:t>/customers</a:t>
            </a:r>
            <a:endParaRPr lang="en-US" sz="1100" dirty="0"/>
          </a:p>
        </p:txBody>
      </p:sp>
      <p:sp>
        <p:nvSpPr>
          <p:cNvPr id="27" name="Text 25"/>
          <p:cNvSpPr/>
          <p:nvPr/>
        </p:nvSpPr>
        <p:spPr>
          <a:xfrm>
            <a:off x="3794760" y="5221224"/>
            <a:ext cx="1828800" cy="310896"/>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Customer List</a:t>
            </a:r>
            <a:endParaRPr lang="en-US" sz="1000" dirty="0"/>
          </a:p>
        </p:txBody>
      </p:sp>
      <p:sp>
        <p:nvSpPr>
          <p:cNvPr id="28" name="Shape 26"/>
          <p:cNvSpPr/>
          <p:nvPr/>
        </p:nvSpPr>
        <p:spPr>
          <a:xfrm>
            <a:off x="777240" y="5660136"/>
            <a:ext cx="548640" cy="310896"/>
          </a:xfrm>
          <a:prstGeom prst="roundRect">
            <a:avLst>
              <a:gd name="adj" fmla="val 17647"/>
            </a:avLst>
          </a:prstGeom>
          <a:solidFill>
            <a:srgbClr val="2E9E62"/>
          </a:solidFill>
          <a:ln/>
        </p:spPr>
      </p:sp>
      <p:sp>
        <p:nvSpPr>
          <p:cNvPr id="29" name="Text 27"/>
          <p:cNvSpPr/>
          <p:nvPr/>
        </p:nvSpPr>
        <p:spPr>
          <a:xfrm>
            <a:off x="777240" y="5660136"/>
            <a:ext cx="548640"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30" name="Text 28"/>
          <p:cNvSpPr/>
          <p:nvPr/>
        </p:nvSpPr>
        <p:spPr>
          <a:xfrm>
            <a:off x="1417320" y="5660136"/>
            <a:ext cx="2468880" cy="310896"/>
          </a:xfrm>
          <a:prstGeom prst="rect">
            <a:avLst/>
          </a:prstGeom>
          <a:noFill/>
          <a:ln/>
        </p:spPr>
        <p:txBody>
          <a:bodyPr wrap="square" rtlCol="0" anchor="ctr"/>
          <a:lstStyle/>
          <a:p>
            <a:pPr indent="0" marL="0">
              <a:buNone/>
            </a:pPr>
            <a:r>
              <a:rPr lang="en-US" sz="1100" b="1" dirty="0">
                <a:solidFill>
                  <a:srgbClr val="16234A"/>
                </a:solidFill>
                <a:latin typeface="Courier New" pitchFamily="34" charset="0"/>
                <a:ea typeface="Courier New" pitchFamily="34" charset="-122"/>
                <a:cs typeface="Courier New" pitchFamily="34" charset="-120"/>
              </a:rPr>
              <a:t>/customer/{customer_id}</a:t>
            </a:r>
            <a:endParaRPr lang="en-US" sz="1100" dirty="0"/>
          </a:p>
        </p:txBody>
      </p:sp>
      <p:sp>
        <p:nvSpPr>
          <p:cNvPr id="31" name="Text 29"/>
          <p:cNvSpPr/>
          <p:nvPr/>
        </p:nvSpPr>
        <p:spPr>
          <a:xfrm>
            <a:off x="3794760" y="5660136"/>
            <a:ext cx="1828800" cy="310896"/>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Customer Investigation</a:t>
            </a:r>
            <a:endParaRPr lang="en-US" sz="1000" dirty="0"/>
          </a:p>
        </p:txBody>
      </p:sp>
      <p:sp>
        <p:nvSpPr>
          <p:cNvPr id="32" name="Shape 30"/>
          <p:cNvSpPr/>
          <p:nvPr/>
        </p:nvSpPr>
        <p:spPr>
          <a:xfrm>
            <a:off x="5715000" y="1417320"/>
            <a:ext cx="5989320" cy="4754880"/>
          </a:xfrm>
          <a:prstGeom prst="roundRect">
            <a:avLst>
              <a:gd name="adj" fmla="val 1538"/>
            </a:avLst>
          </a:prstGeom>
          <a:solidFill>
            <a:srgbClr val="1B2E58"/>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3" name="Text 31"/>
          <p:cNvSpPr/>
          <p:nvPr/>
        </p:nvSpPr>
        <p:spPr>
          <a:xfrm>
            <a:off x="5989320" y="1645920"/>
            <a:ext cx="5486400" cy="274320"/>
          </a:xfrm>
          <a:prstGeom prst="rect">
            <a:avLst/>
          </a:prstGeom>
          <a:noFill/>
          <a:ln/>
        </p:spPr>
        <p:txBody>
          <a:bodyPr wrap="square" rtlCol="0" anchor="ctr"/>
          <a:lstStyle/>
          <a:p>
            <a:pPr indent="0" marL="0">
              <a:buNone/>
            </a:pPr>
            <a:r>
              <a:rPr lang="en-US" sz="1150" b="1" spc="100" kern="0" dirty="0">
                <a:solidFill>
                  <a:srgbClr val="F0A23A"/>
                </a:solidFill>
                <a:latin typeface="Calibri" pitchFamily="34" charset="0"/>
                <a:ea typeface="Calibri" pitchFamily="34" charset="-122"/>
                <a:cs typeface="Calibri" pitchFamily="34" charset="-120"/>
              </a:rPr>
              <a:t>EXAMPLE REQUEST</a:t>
            </a:r>
            <a:endParaRPr lang="en-US" sz="1150" dirty="0"/>
          </a:p>
        </p:txBody>
      </p:sp>
      <p:sp>
        <p:nvSpPr>
          <p:cNvPr id="34" name="Shape 32"/>
          <p:cNvSpPr/>
          <p:nvPr/>
        </p:nvSpPr>
        <p:spPr>
          <a:xfrm>
            <a:off x="5989320" y="2011680"/>
            <a:ext cx="5440680" cy="640080"/>
          </a:xfrm>
          <a:prstGeom prst="roundRect">
            <a:avLst>
              <a:gd name="adj" fmla="val 11429"/>
            </a:avLst>
          </a:prstGeom>
          <a:solidFill>
            <a:srgbClr val="101F3C"/>
          </a:solidFill>
          <a:ln/>
        </p:spPr>
      </p:sp>
      <p:sp>
        <p:nvSpPr>
          <p:cNvPr id="35" name="Text 33"/>
          <p:cNvSpPr/>
          <p:nvPr/>
        </p:nvSpPr>
        <p:spPr>
          <a:xfrm>
            <a:off x="6172200" y="2011680"/>
            <a:ext cx="5074920" cy="640080"/>
          </a:xfrm>
          <a:prstGeom prst="rect">
            <a:avLst/>
          </a:prstGeom>
          <a:noFill/>
          <a:ln/>
        </p:spPr>
        <p:txBody>
          <a:bodyPr wrap="square" rtlCol="0" anchor="ctr"/>
          <a:lstStyle/>
          <a:p>
            <a:pPr indent="0" marL="0">
              <a:buNone/>
            </a:pPr>
            <a:r>
              <a:rPr lang="en-US" sz="1400" b="1" dirty="0">
                <a:solidFill>
                  <a:srgbClr val="F0A23A"/>
                </a:solidFill>
                <a:latin typeface="Courier New" pitchFamily="34" charset="0"/>
                <a:ea typeface="Courier New" pitchFamily="34" charset="-122"/>
                <a:cs typeface="Courier New" pitchFamily="34" charset="-120"/>
              </a:rPr>
              <a:t>GET /customer/CUST100000</a:t>
            </a:r>
            <a:endParaRPr lang="en-US" sz="1400" dirty="0"/>
          </a:p>
        </p:txBody>
      </p:sp>
      <p:sp>
        <p:nvSpPr>
          <p:cNvPr id="36" name="Text 34"/>
          <p:cNvSpPr/>
          <p:nvPr/>
        </p:nvSpPr>
        <p:spPr>
          <a:xfrm>
            <a:off x="5989320" y="2834640"/>
            <a:ext cx="5486400" cy="1188720"/>
          </a:xfrm>
          <a:prstGeom prst="rect">
            <a:avLst/>
          </a:prstGeom>
          <a:noFill/>
          <a:ln/>
        </p:spPr>
        <p:txBody>
          <a:bodyPr wrap="square" rtlCol="0" anchor="ctr"/>
          <a:lstStyle/>
          <a:p>
            <a:pPr indent="0" marL="0">
              <a:lnSpc>
                <a:spcPct val="130000"/>
              </a:lnSpc>
              <a:buNone/>
            </a:pPr>
            <a:r>
              <a:rPr lang="en-US" sz="1250" dirty="0">
                <a:solidFill>
                  <a:srgbClr val="D8E3F5"/>
                </a:solidFill>
                <a:latin typeface="Calibri" pitchFamily="34" charset="0"/>
                <a:ea typeface="Calibri" pitchFamily="34" charset="-122"/>
                <a:cs typeface="Calibri" pitchFamily="34" charset="-120"/>
              </a:rPr>
              <a:t>Returns the full risk profile for a single customer — behavioral score, ML risk, graph risk, fraud ring membership, and the explainable risk_reason — for investigators to review directly.</a:t>
            </a:r>
            <a:endParaRPr lang="en-US" sz="1250" dirty="0"/>
          </a:p>
        </p:txBody>
      </p:sp>
      <p:sp>
        <p:nvSpPr>
          <p:cNvPr id="37" name="Shape 35"/>
          <p:cNvSpPr/>
          <p:nvPr/>
        </p:nvSpPr>
        <p:spPr>
          <a:xfrm>
            <a:off x="5989320" y="4160520"/>
            <a:ext cx="5440680" cy="0"/>
          </a:xfrm>
          <a:prstGeom prst="line">
            <a:avLst/>
          </a:prstGeom>
          <a:noFill/>
          <a:ln w="12700">
            <a:solidFill>
              <a:srgbClr val="24396B"/>
            </a:solidFill>
            <a:prstDash val="solid"/>
          </a:ln>
        </p:spPr>
      </p:sp>
      <p:sp>
        <p:nvSpPr>
          <p:cNvPr id="38" name="Text 36"/>
          <p:cNvSpPr/>
          <p:nvPr/>
        </p:nvSpPr>
        <p:spPr>
          <a:xfrm>
            <a:off x="5989320" y="4343400"/>
            <a:ext cx="5486400" cy="1554480"/>
          </a:xfrm>
          <a:prstGeom prst="rect">
            <a:avLst/>
          </a:prstGeom>
          <a:noFill/>
          <a:ln/>
        </p:spPr>
        <p:txBody>
          <a:bodyPr wrap="square" rtlCol="0" anchor="ctr"/>
          <a:lstStyle/>
          <a:p>
            <a:pPr indent="0" marL="0">
              <a:lnSpc>
                <a:spcPct val="130000"/>
              </a:lnSpc>
              <a:buNone/>
            </a:pPr>
            <a:r>
              <a:rPr lang="en-US" sz="1250" i="1" dirty="0">
                <a:solidFill>
                  <a:srgbClr val="9FB1D6"/>
                </a:solidFill>
                <a:latin typeface="Calibri" pitchFamily="34" charset="0"/>
                <a:ea typeface="Calibri" pitchFamily="34" charset="-122"/>
                <a:cs typeface="Calibri" pitchFamily="34" charset="-120"/>
              </a:rPr>
              <a:t>The API is the integration layer that powers the Streamlit dashboard and any external fraud-ops tooling.</a:t>
            </a:r>
            <a:endParaRPr lang="en-US" sz="1250" dirty="0"/>
          </a:p>
        </p:txBody>
      </p:sp>
      <p:sp>
        <p:nvSpPr>
          <p:cNvPr id="39" name="Text 3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22 · FASTAPI BACKEND</a:t>
            </a:r>
            <a:endParaRPr lang="en-US" sz="900" dirty="0"/>
          </a:p>
        </p:txBody>
      </p:sp>
      <p:sp>
        <p:nvSpPr>
          <p:cNvPr id="40" name="Text 3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41" name="Text 3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23</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Streamlit Dashboard</a:t>
            </a:r>
            <a:endParaRPr lang="en-US" sz="3000" dirty="0"/>
          </a:p>
        </p:txBody>
      </p:sp>
      <p:sp>
        <p:nvSpPr>
          <p:cNvPr id="4" name="Shape 2"/>
          <p:cNvSpPr/>
          <p:nvPr/>
        </p:nvSpPr>
        <p:spPr>
          <a:xfrm>
            <a:off x="502920" y="1463040"/>
            <a:ext cx="2651760" cy="4709160"/>
          </a:xfrm>
          <a:prstGeom prst="roundRect">
            <a:avLst>
              <a:gd name="adj" fmla="val 275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Shape 3"/>
          <p:cNvSpPr/>
          <p:nvPr/>
        </p:nvSpPr>
        <p:spPr>
          <a:xfrm>
            <a:off x="1531620" y="1668780"/>
            <a:ext cx="594360" cy="594360"/>
          </a:xfrm>
          <a:prstGeom prst="ellipse">
            <a:avLst/>
          </a:prstGeom>
          <a:solidFill>
            <a:srgbClr val="3A6FF0"/>
          </a:solidFill>
          <a:ln/>
        </p:spPr>
      </p:sp>
      <p:sp>
        <p:nvSpPr>
          <p:cNvPr id="6" name="Text 4"/>
          <p:cNvSpPr/>
          <p:nvPr/>
        </p:nvSpPr>
        <p:spPr>
          <a:xfrm>
            <a:off x="1531620" y="1668780"/>
            <a:ext cx="594360" cy="594360"/>
          </a:xfrm>
          <a:prstGeom prst="rect">
            <a:avLst/>
          </a:prstGeom>
          <a:noFill/>
          <a:ln/>
        </p:spPr>
        <p:txBody>
          <a:bodyPr wrap="square" rtlCol="0" anchor="ctr"/>
          <a:lstStyle/>
          <a:p>
            <a:pPr algn="ctr" indent="0" marL="0">
              <a:buNone/>
            </a:pPr>
            <a:r>
              <a:rPr lang="en-US" sz="1690" b="1" dirty="0">
                <a:solidFill>
                  <a:srgbClr val="FFFFFF"/>
                </a:solidFill>
                <a:latin typeface="Calibri" pitchFamily="34" charset="0"/>
                <a:ea typeface="Calibri" pitchFamily="34" charset="-122"/>
                <a:cs typeface="Calibri" pitchFamily="34" charset="-120"/>
              </a:rPr>
              <a:t>1</a:t>
            </a:r>
            <a:endParaRPr lang="en-US" sz="1690" dirty="0"/>
          </a:p>
        </p:txBody>
      </p:sp>
      <p:sp>
        <p:nvSpPr>
          <p:cNvPr id="7" name="Text 5"/>
          <p:cNvSpPr/>
          <p:nvPr/>
        </p:nvSpPr>
        <p:spPr>
          <a:xfrm>
            <a:off x="640080" y="2377440"/>
            <a:ext cx="2377440" cy="548640"/>
          </a:xfrm>
          <a:prstGeom prst="rect">
            <a:avLst/>
          </a:prstGeom>
          <a:noFill/>
          <a:ln/>
        </p:spPr>
        <p:txBody>
          <a:bodyPr wrap="square" rtlCol="0" anchor="ctr"/>
          <a:lstStyle/>
          <a:p>
            <a:pPr algn="ctr" indent="0" marL="0">
              <a:buNone/>
            </a:pPr>
            <a:r>
              <a:rPr lang="en-US" sz="1400" b="1" dirty="0">
                <a:solidFill>
                  <a:srgbClr val="16234A"/>
                </a:solidFill>
                <a:latin typeface="Calibri" pitchFamily="34" charset="0"/>
                <a:ea typeface="Calibri" pitchFamily="34" charset="-122"/>
                <a:cs typeface="Calibri" pitchFamily="34" charset="-120"/>
              </a:rPr>
              <a:t>Overview</a:t>
            </a:r>
            <a:endParaRPr lang="en-US" sz="1400" dirty="0"/>
          </a:p>
        </p:txBody>
      </p:sp>
      <p:sp>
        <p:nvSpPr>
          <p:cNvPr id="8" name="Text 6"/>
          <p:cNvSpPr/>
          <p:nvPr/>
        </p:nvSpPr>
        <p:spPr>
          <a:xfrm>
            <a:off x="731520" y="3063240"/>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Total customers</a:t>
            </a:r>
            <a:endParaRPr lang="en-US" sz="1050" dirty="0"/>
          </a:p>
        </p:txBody>
      </p:sp>
      <p:sp>
        <p:nvSpPr>
          <p:cNvPr id="9" name="Text 7"/>
          <p:cNvSpPr/>
          <p:nvPr/>
        </p:nvSpPr>
        <p:spPr>
          <a:xfrm>
            <a:off x="731520" y="3447288"/>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High / medium / low-risk counts</a:t>
            </a:r>
            <a:endParaRPr lang="en-US" sz="1050" dirty="0"/>
          </a:p>
        </p:txBody>
      </p:sp>
      <p:sp>
        <p:nvSpPr>
          <p:cNvPr id="10" name="Text 8"/>
          <p:cNvSpPr/>
          <p:nvPr/>
        </p:nvSpPr>
        <p:spPr>
          <a:xfrm>
            <a:off x="731520" y="3831336"/>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Risk distribution</a:t>
            </a:r>
            <a:endParaRPr lang="en-US" sz="1050" dirty="0"/>
          </a:p>
        </p:txBody>
      </p:sp>
      <p:sp>
        <p:nvSpPr>
          <p:cNvPr id="11" name="Text 9"/>
          <p:cNvSpPr/>
          <p:nvPr/>
        </p:nvSpPr>
        <p:spPr>
          <a:xfrm>
            <a:off x="731520" y="4215384"/>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Fraud ring distribution</a:t>
            </a:r>
            <a:endParaRPr lang="en-US" sz="1050" dirty="0"/>
          </a:p>
        </p:txBody>
      </p:sp>
      <p:sp>
        <p:nvSpPr>
          <p:cNvPr id="12" name="Text 10"/>
          <p:cNvSpPr/>
          <p:nvPr/>
        </p:nvSpPr>
        <p:spPr>
          <a:xfrm>
            <a:off x="731520" y="4599432"/>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Highest-risk customers</a:t>
            </a:r>
            <a:endParaRPr lang="en-US" sz="1050" dirty="0"/>
          </a:p>
        </p:txBody>
      </p:sp>
      <p:sp>
        <p:nvSpPr>
          <p:cNvPr id="13" name="Shape 11"/>
          <p:cNvSpPr/>
          <p:nvPr/>
        </p:nvSpPr>
        <p:spPr>
          <a:xfrm>
            <a:off x="3337560" y="1463040"/>
            <a:ext cx="2651760" cy="4709160"/>
          </a:xfrm>
          <a:prstGeom prst="roundRect">
            <a:avLst>
              <a:gd name="adj" fmla="val 275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4" name="Shape 12"/>
          <p:cNvSpPr/>
          <p:nvPr/>
        </p:nvSpPr>
        <p:spPr>
          <a:xfrm>
            <a:off x="4366260" y="1668780"/>
            <a:ext cx="594360" cy="594360"/>
          </a:xfrm>
          <a:prstGeom prst="ellipse">
            <a:avLst/>
          </a:prstGeom>
          <a:solidFill>
            <a:srgbClr val="2E9E62"/>
          </a:solidFill>
          <a:ln/>
        </p:spPr>
      </p:sp>
      <p:sp>
        <p:nvSpPr>
          <p:cNvPr id="15" name="Text 13"/>
          <p:cNvSpPr/>
          <p:nvPr/>
        </p:nvSpPr>
        <p:spPr>
          <a:xfrm>
            <a:off x="4366260" y="1668780"/>
            <a:ext cx="594360" cy="594360"/>
          </a:xfrm>
          <a:prstGeom prst="rect">
            <a:avLst/>
          </a:prstGeom>
          <a:noFill/>
          <a:ln/>
        </p:spPr>
        <p:txBody>
          <a:bodyPr wrap="square" rtlCol="0" anchor="ctr"/>
          <a:lstStyle/>
          <a:p>
            <a:pPr algn="ctr" indent="0" marL="0">
              <a:buNone/>
            </a:pPr>
            <a:r>
              <a:rPr lang="en-US" sz="1690" b="1" dirty="0">
                <a:solidFill>
                  <a:srgbClr val="FFFFFF"/>
                </a:solidFill>
                <a:latin typeface="Calibri" pitchFamily="34" charset="0"/>
                <a:ea typeface="Calibri" pitchFamily="34" charset="-122"/>
                <a:cs typeface="Calibri" pitchFamily="34" charset="-120"/>
              </a:rPr>
              <a:t>2</a:t>
            </a:r>
            <a:endParaRPr lang="en-US" sz="1690" dirty="0"/>
          </a:p>
        </p:txBody>
      </p:sp>
      <p:sp>
        <p:nvSpPr>
          <p:cNvPr id="16" name="Text 14"/>
          <p:cNvSpPr/>
          <p:nvPr/>
        </p:nvSpPr>
        <p:spPr>
          <a:xfrm>
            <a:off x="3474720" y="2377440"/>
            <a:ext cx="2377440" cy="548640"/>
          </a:xfrm>
          <a:prstGeom prst="rect">
            <a:avLst/>
          </a:prstGeom>
          <a:noFill/>
          <a:ln/>
        </p:spPr>
        <p:txBody>
          <a:bodyPr wrap="square" rtlCol="0" anchor="ctr"/>
          <a:lstStyle/>
          <a:p>
            <a:pPr algn="ctr" indent="0" marL="0">
              <a:buNone/>
            </a:pPr>
            <a:r>
              <a:rPr lang="en-US" sz="1400" b="1" dirty="0">
                <a:solidFill>
                  <a:srgbClr val="16234A"/>
                </a:solidFill>
                <a:latin typeface="Calibri" pitchFamily="34" charset="0"/>
                <a:ea typeface="Calibri" pitchFamily="34" charset="-122"/>
                <a:cs typeface="Calibri" pitchFamily="34" charset="-120"/>
              </a:rPr>
              <a:t>Customer Investigation</a:t>
            </a:r>
            <a:endParaRPr lang="en-US" sz="1400" dirty="0"/>
          </a:p>
        </p:txBody>
      </p:sp>
      <p:sp>
        <p:nvSpPr>
          <p:cNvPr id="17" name="Text 15"/>
          <p:cNvSpPr/>
          <p:nvPr/>
        </p:nvSpPr>
        <p:spPr>
          <a:xfrm>
            <a:off x="3566160" y="3063240"/>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Search by Customer ID</a:t>
            </a:r>
            <a:endParaRPr lang="en-US" sz="1050" dirty="0"/>
          </a:p>
        </p:txBody>
      </p:sp>
      <p:sp>
        <p:nvSpPr>
          <p:cNvPr id="18" name="Text 16"/>
          <p:cNvSpPr/>
          <p:nvPr/>
        </p:nvSpPr>
        <p:spPr>
          <a:xfrm>
            <a:off x="3566160" y="3447288"/>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Final risk score &amp; level</a:t>
            </a:r>
            <a:endParaRPr lang="en-US" sz="1050" dirty="0"/>
          </a:p>
        </p:txBody>
      </p:sp>
      <p:sp>
        <p:nvSpPr>
          <p:cNvPr id="19" name="Text 17"/>
          <p:cNvSpPr/>
          <p:nvPr/>
        </p:nvSpPr>
        <p:spPr>
          <a:xfrm>
            <a:off x="3566160" y="3831336"/>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ML risk · Graph risk</a:t>
            </a:r>
            <a:endParaRPr lang="en-US" sz="1050" dirty="0"/>
          </a:p>
        </p:txBody>
      </p:sp>
      <p:sp>
        <p:nvSpPr>
          <p:cNvPr id="20" name="Text 18"/>
          <p:cNvSpPr/>
          <p:nvPr/>
        </p:nvSpPr>
        <p:spPr>
          <a:xfrm>
            <a:off x="3566160" y="4215384"/>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Fraud ring · Network metrics</a:t>
            </a:r>
            <a:endParaRPr lang="en-US" sz="1050" dirty="0"/>
          </a:p>
        </p:txBody>
      </p:sp>
      <p:sp>
        <p:nvSpPr>
          <p:cNvPr id="21" name="Text 19"/>
          <p:cNvSpPr/>
          <p:nvPr/>
        </p:nvSpPr>
        <p:spPr>
          <a:xfrm>
            <a:off x="3566160" y="4599432"/>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Risk reason</a:t>
            </a:r>
            <a:endParaRPr lang="en-US" sz="1050" dirty="0"/>
          </a:p>
        </p:txBody>
      </p:sp>
      <p:sp>
        <p:nvSpPr>
          <p:cNvPr id="22" name="Shape 20"/>
          <p:cNvSpPr/>
          <p:nvPr/>
        </p:nvSpPr>
        <p:spPr>
          <a:xfrm>
            <a:off x="6172200" y="1463040"/>
            <a:ext cx="2651760" cy="4709160"/>
          </a:xfrm>
          <a:prstGeom prst="roundRect">
            <a:avLst>
              <a:gd name="adj" fmla="val 275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3" name="Shape 21"/>
          <p:cNvSpPr/>
          <p:nvPr/>
        </p:nvSpPr>
        <p:spPr>
          <a:xfrm>
            <a:off x="7200900" y="1668780"/>
            <a:ext cx="594360" cy="594360"/>
          </a:xfrm>
          <a:prstGeom prst="ellipse">
            <a:avLst/>
          </a:prstGeom>
          <a:solidFill>
            <a:srgbClr val="F0A23A"/>
          </a:solidFill>
          <a:ln/>
        </p:spPr>
      </p:sp>
      <p:sp>
        <p:nvSpPr>
          <p:cNvPr id="24" name="Text 22"/>
          <p:cNvSpPr/>
          <p:nvPr/>
        </p:nvSpPr>
        <p:spPr>
          <a:xfrm>
            <a:off x="7200900" y="1668780"/>
            <a:ext cx="594360" cy="594360"/>
          </a:xfrm>
          <a:prstGeom prst="rect">
            <a:avLst/>
          </a:prstGeom>
          <a:noFill/>
          <a:ln/>
        </p:spPr>
        <p:txBody>
          <a:bodyPr wrap="square" rtlCol="0" anchor="ctr"/>
          <a:lstStyle/>
          <a:p>
            <a:pPr algn="ctr" indent="0" marL="0">
              <a:buNone/>
            </a:pPr>
            <a:r>
              <a:rPr lang="en-US" sz="1690" b="1" dirty="0">
                <a:solidFill>
                  <a:srgbClr val="FFFFFF"/>
                </a:solidFill>
                <a:latin typeface="Calibri" pitchFamily="34" charset="0"/>
                <a:ea typeface="Calibri" pitchFamily="34" charset="-122"/>
                <a:cs typeface="Calibri" pitchFamily="34" charset="-120"/>
              </a:rPr>
              <a:t>3</a:t>
            </a:r>
            <a:endParaRPr lang="en-US" sz="1690" dirty="0"/>
          </a:p>
        </p:txBody>
      </p:sp>
      <p:sp>
        <p:nvSpPr>
          <p:cNvPr id="25" name="Text 23"/>
          <p:cNvSpPr/>
          <p:nvPr/>
        </p:nvSpPr>
        <p:spPr>
          <a:xfrm>
            <a:off x="6309360" y="2377440"/>
            <a:ext cx="2377440" cy="548640"/>
          </a:xfrm>
          <a:prstGeom prst="rect">
            <a:avLst/>
          </a:prstGeom>
          <a:noFill/>
          <a:ln/>
        </p:spPr>
        <p:txBody>
          <a:bodyPr wrap="square" rtlCol="0" anchor="ctr"/>
          <a:lstStyle/>
          <a:p>
            <a:pPr algn="ctr" indent="0" marL="0">
              <a:buNone/>
            </a:pPr>
            <a:r>
              <a:rPr lang="en-US" sz="1400" b="1" dirty="0">
                <a:solidFill>
                  <a:srgbClr val="16234A"/>
                </a:solidFill>
                <a:latin typeface="Calibri" pitchFamily="34" charset="0"/>
                <a:ea typeface="Calibri" pitchFamily="34" charset="-122"/>
                <a:cs typeface="Calibri" pitchFamily="34" charset="-120"/>
              </a:rPr>
              <a:t>Fraud Ring Intelligence</a:t>
            </a:r>
            <a:endParaRPr lang="en-US" sz="1400" dirty="0"/>
          </a:p>
        </p:txBody>
      </p:sp>
      <p:sp>
        <p:nvSpPr>
          <p:cNvPr id="26" name="Text 24"/>
          <p:cNvSpPr/>
          <p:nvPr/>
        </p:nvSpPr>
        <p:spPr>
          <a:xfrm>
            <a:off x="6400800" y="3063240"/>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Fraud ring types</a:t>
            </a:r>
            <a:endParaRPr lang="en-US" sz="1050" dirty="0"/>
          </a:p>
        </p:txBody>
      </p:sp>
      <p:sp>
        <p:nvSpPr>
          <p:cNvPr id="27" name="Text 25"/>
          <p:cNvSpPr/>
          <p:nvPr/>
        </p:nvSpPr>
        <p:spPr>
          <a:xfrm>
            <a:off x="6400800" y="3447288"/>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Number of customers</a:t>
            </a:r>
            <a:endParaRPr lang="en-US" sz="1050" dirty="0"/>
          </a:p>
        </p:txBody>
      </p:sp>
      <p:sp>
        <p:nvSpPr>
          <p:cNvPr id="28" name="Text 26"/>
          <p:cNvSpPr/>
          <p:nvPr/>
        </p:nvSpPr>
        <p:spPr>
          <a:xfrm>
            <a:off x="6400800" y="3831336"/>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Average / maximum risk</a:t>
            </a:r>
            <a:endParaRPr lang="en-US" sz="1050" dirty="0"/>
          </a:p>
        </p:txBody>
      </p:sp>
      <p:sp>
        <p:nvSpPr>
          <p:cNvPr id="29" name="Text 27"/>
          <p:cNvSpPr/>
          <p:nvPr/>
        </p:nvSpPr>
        <p:spPr>
          <a:xfrm>
            <a:off x="6400800" y="4215384"/>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Ring selector</a:t>
            </a:r>
            <a:endParaRPr lang="en-US" sz="1050" dirty="0"/>
          </a:p>
        </p:txBody>
      </p:sp>
      <p:sp>
        <p:nvSpPr>
          <p:cNvPr id="30" name="Text 28"/>
          <p:cNvSpPr/>
          <p:nvPr/>
        </p:nvSpPr>
        <p:spPr>
          <a:xfrm>
            <a:off x="6400800" y="4599432"/>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Customers in selected ring</a:t>
            </a:r>
            <a:endParaRPr lang="en-US" sz="1050" dirty="0"/>
          </a:p>
        </p:txBody>
      </p:sp>
      <p:sp>
        <p:nvSpPr>
          <p:cNvPr id="31" name="Shape 29"/>
          <p:cNvSpPr/>
          <p:nvPr/>
        </p:nvSpPr>
        <p:spPr>
          <a:xfrm>
            <a:off x="9006840" y="1463040"/>
            <a:ext cx="2651760" cy="4709160"/>
          </a:xfrm>
          <a:prstGeom prst="roundRect">
            <a:avLst>
              <a:gd name="adj" fmla="val 2759"/>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2" name="Shape 30"/>
          <p:cNvSpPr/>
          <p:nvPr/>
        </p:nvSpPr>
        <p:spPr>
          <a:xfrm>
            <a:off x="10035540" y="1668780"/>
            <a:ext cx="594360" cy="594360"/>
          </a:xfrm>
          <a:prstGeom prst="ellipse">
            <a:avLst/>
          </a:prstGeom>
          <a:solidFill>
            <a:srgbClr val="8E5FD1"/>
          </a:solidFill>
          <a:ln/>
        </p:spPr>
      </p:sp>
      <p:sp>
        <p:nvSpPr>
          <p:cNvPr id="33" name="Text 31"/>
          <p:cNvSpPr/>
          <p:nvPr/>
        </p:nvSpPr>
        <p:spPr>
          <a:xfrm>
            <a:off x="10035540" y="1668780"/>
            <a:ext cx="594360" cy="594360"/>
          </a:xfrm>
          <a:prstGeom prst="rect">
            <a:avLst/>
          </a:prstGeom>
          <a:noFill/>
          <a:ln/>
        </p:spPr>
        <p:txBody>
          <a:bodyPr wrap="square" rtlCol="0" anchor="ctr"/>
          <a:lstStyle/>
          <a:p>
            <a:pPr algn="ctr" indent="0" marL="0">
              <a:buNone/>
            </a:pPr>
            <a:r>
              <a:rPr lang="en-US" sz="1690" b="1" dirty="0">
                <a:solidFill>
                  <a:srgbClr val="FFFFFF"/>
                </a:solidFill>
                <a:latin typeface="Calibri" pitchFamily="34" charset="0"/>
                <a:ea typeface="Calibri" pitchFamily="34" charset="-122"/>
                <a:cs typeface="Calibri" pitchFamily="34" charset="-120"/>
              </a:rPr>
              <a:t>4</a:t>
            </a:r>
            <a:endParaRPr lang="en-US" sz="1690" dirty="0"/>
          </a:p>
        </p:txBody>
      </p:sp>
      <p:sp>
        <p:nvSpPr>
          <p:cNvPr id="34" name="Text 32"/>
          <p:cNvSpPr/>
          <p:nvPr/>
        </p:nvSpPr>
        <p:spPr>
          <a:xfrm>
            <a:off x="9144000" y="2377440"/>
            <a:ext cx="2377440" cy="548640"/>
          </a:xfrm>
          <a:prstGeom prst="rect">
            <a:avLst/>
          </a:prstGeom>
          <a:noFill/>
          <a:ln/>
        </p:spPr>
        <p:txBody>
          <a:bodyPr wrap="square" rtlCol="0" anchor="ctr"/>
          <a:lstStyle/>
          <a:p>
            <a:pPr algn="ctr" indent="0" marL="0">
              <a:buNone/>
            </a:pPr>
            <a:r>
              <a:rPr lang="en-US" sz="1400" b="1" dirty="0">
                <a:solidFill>
                  <a:srgbClr val="16234A"/>
                </a:solidFill>
                <a:latin typeface="Calibri" pitchFamily="34" charset="0"/>
                <a:ea typeface="Calibri" pitchFamily="34" charset="-122"/>
                <a:cs typeface="Calibri" pitchFamily="34" charset="-120"/>
              </a:rPr>
              <a:t>Risk Analysis</a:t>
            </a:r>
            <a:endParaRPr lang="en-US" sz="1400" dirty="0"/>
          </a:p>
        </p:txBody>
      </p:sp>
      <p:sp>
        <p:nvSpPr>
          <p:cNvPr id="35" name="Text 33"/>
          <p:cNvSpPr/>
          <p:nvPr/>
        </p:nvSpPr>
        <p:spPr>
          <a:xfrm>
            <a:off x="9235440" y="3063240"/>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Additional analysis and</a:t>
            </a:r>
            <a:endParaRPr lang="en-US" sz="1050" dirty="0"/>
          </a:p>
        </p:txBody>
      </p:sp>
      <p:sp>
        <p:nvSpPr>
          <p:cNvPr id="36" name="Text 34"/>
          <p:cNvSpPr/>
          <p:nvPr/>
        </p:nvSpPr>
        <p:spPr>
          <a:xfrm>
            <a:off x="9235440" y="3447288"/>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visualization of risk</a:t>
            </a:r>
            <a:endParaRPr lang="en-US" sz="1050" dirty="0"/>
          </a:p>
        </p:txBody>
      </p:sp>
      <p:sp>
        <p:nvSpPr>
          <p:cNvPr id="37" name="Text 35"/>
          <p:cNvSpPr/>
          <p:nvPr/>
        </p:nvSpPr>
        <p:spPr>
          <a:xfrm>
            <a:off x="9235440" y="3831336"/>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patterns across the</a:t>
            </a:r>
            <a:endParaRPr lang="en-US" sz="1050" dirty="0"/>
          </a:p>
        </p:txBody>
      </p:sp>
      <p:sp>
        <p:nvSpPr>
          <p:cNvPr id="38" name="Text 36"/>
          <p:cNvSpPr/>
          <p:nvPr/>
        </p:nvSpPr>
        <p:spPr>
          <a:xfrm>
            <a:off x="9235440" y="4215384"/>
            <a:ext cx="2286000" cy="36576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customer base</a:t>
            </a:r>
            <a:endParaRPr lang="en-US" sz="1050" dirty="0"/>
          </a:p>
        </p:txBody>
      </p:sp>
      <p:sp>
        <p:nvSpPr>
          <p:cNvPr id="39" name="Text 3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23 · STREAMLIT DASHBOARD</a:t>
            </a:r>
            <a:endParaRPr lang="en-US" sz="900" dirty="0"/>
          </a:p>
        </p:txBody>
      </p:sp>
      <p:sp>
        <p:nvSpPr>
          <p:cNvPr id="40" name="Text 3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41" name="Text 3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F3C"/>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F0A23A"/>
                </a:solidFill>
                <a:latin typeface="Calibri" pitchFamily="34" charset="0"/>
                <a:ea typeface="Calibri" pitchFamily="34" charset="-122"/>
                <a:cs typeface="Calibri" pitchFamily="34" charset="-120"/>
              </a:rPr>
              <a:t>SECTION 24</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API + Dashboard Integration</a:t>
            </a:r>
            <a:endParaRPr lang="en-US" sz="3000" dirty="0"/>
          </a:p>
        </p:txBody>
      </p:sp>
      <p:sp>
        <p:nvSpPr>
          <p:cNvPr id="4" name="Shape 2"/>
          <p:cNvSpPr/>
          <p:nvPr/>
        </p:nvSpPr>
        <p:spPr>
          <a:xfrm>
            <a:off x="4023360" y="1463040"/>
            <a:ext cx="4114800" cy="548640"/>
          </a:xfrm>
          <a:prstGeom prst="roundRect">
            <a:avLst>
              <a:gd name="adj" fmla="val 13333"/>
            </a:avLst>
          </a:prstGeom>
          <a:solidFill>
            <a:srgbClr val="1B2E58"/>
          </a:solidFill>
          <a:ln/>
        </p:spPr>
      </p:sp>
      <p:sp>
        <p:nvSpPr>
          <p:cNvPr id="5" name="Text 3"/>
          <p:cNvSpPr/>
          <p:nvPr/>
        </p:nvSpPr>
        <p:spPr>
          <a:xfrm>
            <a:off x="4023360" y="1463040"/>
            <a:ext cx="411480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sp>
        <p:nvSpPr>
          <p:cNvPr id="6" name="Shape 4"/>
          <p:cNvSpPr/>
          <p:nvPr/>
        </p:nvSpPr>
        <p:spPr>
          <a:xfrm>
            <a:off x="5998464" y="2029968"/>
            <a:ext cx="164592" cy="115214"/>
          </a:xfrm>
          <a:prstGeom prst="downArrow">
            <a:avLst/>
          </a:prstGeom>
          <a:solidFill>
            <a:srgbClr val="F0A23A"/>
          </a:solidFill>
          <a:ln/>
        </p:spPr>
      </p:sp>
      <p:sp>
        <p:nvSpPr>
          <p:cNvPr id="7" name="Shape 5"/>
          <p:cNvSpPr/>
          <p:nvPr/>
        </p:nvSpPr>
        <p:spPr>
          <a:xfrm>
            <a:off x="4023360" y="2240280"/>
            <a:ext cx="4114800" cy="548640"/>
          </a:xfrm>
          <a:prstGeom prst="roundRect">
            <a:avLst>
              <a:gd name="adj" fmla="val 13333"/>
            </a:avLst>
          </a:prstGeom>
          <a:solidFill>
            <a:srgbClr val="3A6FF0"/>
          </a:solidFill>
          <a:ln/>
        </p:spPr>
      </p:sp>
      <p:sp>
        <p:nvSpPr>
          <p:cNvPr id="8" name="Text 6"/>
          <p:cNvSpPr/>
          <p:nvPr/>
        </p:nvSpPr>
        <p:spPr>
          <a:xfrm>
            <a:off x="4023360" y="2240280"/>
            <a:ext cx="411480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STREAMLIT DASHBOARD</a:t>
            </a:r>
            <a:endParaRPr lang="en-US" sz="1300" dirty="0"/>
          </a:p>
        </p:txBody>
      </p:sp>
      <p:sp>
        <p:nvSpPr>
          <p:cNvPr id="9" name="Shape 7"/>
          <p:cNvSpPr/>
          <p:nvPr/>
        </p:nvSpPr>
        <p:spPr>
          <a:xfrm>
            <a:off x="5998464" y="2807208"/>
            <a:ext cx="164592" cy="115214"/>
          </a:xfrm>
          <a:prstGeom prst="downArrow">
            <a:avLst/>
          </a:prstGeom>
          <a:solidFill>
            <a:srgbClr val="F0A23A"/>
          </a:solidFill>
          <a:ln/>
        </p:spPr>
      </p:sp>
      <p:sp>
        <p:nvSpPr>
          <p:cNvPr id="10" name="Shape 8"/>
          <p:cNvSpPr/>
          <p:nvPr/>
        </p:nvSpPr>
        <p:spPr>
          <a:xfrm>
            <a:off x="4023360" y="3017520"/>
            <a:ext cx="4114800" cy="548640"/>
          </a:xfrm>
          <a:prstGeom prst="roundRect">
            <a:avLst>
              <a:gd name="adj" fmla="val 13333"/>
            </a:avLst>
          </a:prstGeom>
          <a:solidFill>
            <a:srgbClr val="1B2E58"/>
          </a:solidFill>
          <a:ln/>
        </p:spPr>
      </p:sp>
      <p:sp>
        <p:nvSpPr>
          <p:cNvPr id="11" name="Text 9"/>
          <p:cNvSpPr/>
          <p:nvPr/>
        </p:nvSpPr>
        <p:spPr>
          <a:xfrm>
            <a:off x="4023360" y="3017520"/>
            <a:ext cx="411480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FASTAPI API</a:t>
            </a:r>
            <a:endParaRPr lang="en-US" sz="1300" dirty="0"/>
          </a:p>
        </p:txBody>
      </p:sp>
      <p:sp>
        <p:nvSpPr>
          <p:cNvPr id="12" name="Shape 10"/>
          <p:cNvSpPr/>
          <p:nvPr/>
        </p:nvSpPr>
        <p:spPr>
          <a:xfrm>
            <a:off x="5998464" y="3584448"/>
            <a:ext cx="164592" cy="115214"/>
          </a:xfrm>
          <a:prstGeom prst="downArrow">
            <a:avLst/>
          </a:prstGeom>
          <a:solidFill>
            <a:srgbClr val="F0A23A"/>
          </a:solidFill>
          <a:ln/>
        </p:spPr>
      </p:sp>
      <p:sp>
        <p:nvSpPr>
          <p:cNvPr id="13" name="Shape 11"/>
          <p:cNvSpPr/>
          <p:nvPr/>
        </p:nvSpPr>
        <p:spPr>
          <a:xfrm>
            <a:off x="4023360" y="3794760"/>
            <a:ext cx="4114800" cy="548640"/>
          </a:xfrm>
          <a:prstGeom prst="roundRect">
            <a:avLst>
              <a:gd name="adj" fmla="val 13333"/>
            </a:avLst>
          </a:prstGeom>
          <a:solidFill>
            <a:srgbClr val="3A6FF0"/>
          </a:solidFill>
          <a:ln/>
        </p:spPr>
      </p:sp>
      <p:sp>
        <p:nvSpPr>
          <p:cNvPr id="14" name="Text 12"/>
          <p:cNvSpPr/>
          <p:nvPr/>
        </p:nvSpPr>
        <p:spPr>
          <a:xfrm>
            <a:off x="4023360" y="3794760"/>
            <a:ext cx="411480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FRAUD RISK DATA</a:t>
            </a:r>
            <a:endParaRPr lang="en-US" sz="1300" dirty="0"/>
          </a:p>
        </p:txBody>
      </p:sp>
      <p:sp>
        <p:nvSpPr>
          <p:cNvPr id="15" name="Shape 13"/>
          <p:cNvSpPr/>
          <p:nvPr/>
        </p:nvSpPr>
        <p:spPr>
          <a:xfrm>
            <a:off x="5998464" y="4361688"/>
            <a:ext cx="164592" cy="115214"/>
          </a:xfrm>
          <a:prstGeom prst="downArrow">
            <a:avLst/>
          </a:prstGeom>
          <a:solidFill>
            <a:srgbClr val="F0A23A"/>
          </a:solidFill>
          <a:ln/>
        </p:spPr>
      </p:sp>
      <p:sp>
        <p:nvSpPr>
          <p:cNvPr id="16" name="Shape 14"/>
          <p:cNvSpPr/>
          <p:nvPr/>
        </p:nvSpPr>
        <p:spPr>
          <a:xfrm>
            <a:off x="4023360" y="4572000"/>
            <a:ext cx="4114800" cy="548640"/>
          </a:xfrm>
          <a:prstGeom prst="roundRect">
            <a:avLst>
              <a:gd name="adj" fmla="val 13333"/>
            </a:avLst>
          </a:prstGeom>
          <a:solidFill>
            <a:srgbClr val="1B2E58"/>
          </a:solidFill>
          <a:ln/>
        </p:spPr>
      </p:sp>
      <p:sp>
        <p:nvSpPr>
          <p:cNvPr id="17" name="Text 15"/>
          <p:cNvSpPr/>
          <p:nvPr/>
        </p:nvSpPr>
        <p:spPr>
          <a:xfrm>
            <a:off x="4023360" y="4572000"/>
            <a:ext cx="411480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JSON RESPONSE</a:t>
            </a:r>
            <a:endParaRPr lang="en-US" sz="1300" dirty="0"/>
          </a:p>
        </p:txBody>
      </p:sp>
      <p:sp>
        <p:nvSpPr>
          <p:cNvPr id="18" name="Shape 16"/>
          <p:cNvSpPr/>
          <p:nvPr/>
        </p:nvSpPr>
        <p:spPr>
          <a:xfrm>
            <a:off x="5998464" y="5138928"/>
            <a:ext cx="164592" cy="115214"/>
          </a:xfrm>
          <a:prstGeom prst="downArrow">
            <a:avLst/>
          </a:prstGeom>
          <a:solidFill>
            <a:srgbClr val="F0A23A"/>
          </a:solidFill>
          <a:ln/>
        </p:spPr>
      </p:sp>
      <p:sp>
        <p:nvSpPr>
          <p:cNvPr id="19" name="Shape 17"/>
          <p:cNvSpPr/>
          <p:nvPr/>
        </p:nvSpPr>
        <p:spPr>
          <a:xfrm>
            <a:off x="4023360" y="5349240"/>
            <a:ext cx="4114800" cy="548640"/>
          </a:xfrm>
          <a:prstGeom prst="roundRect">
            <a:avLst>
              <a:gd name="adj" fmla="val 13333"/>
            </a:avLst>
          </a:prstGeom>
          <a:solidFill>
            <a:srgbClr val="3A6FF0"/>
          </a:solidFill>
          <a:ln/>
        </p:spPr>
      </p:sp>
      <p:sp>
        <p:nvSpPr>
          <p:cNvPr id="20" name="Text 18"/>
          <p:cNvSpPr/>
          <p:nvPr/>
        </p:nvSpPr>
        <p:spPr>
          <a:xfrm>
            <a:off x="4023360" y="5349240"/>
            <a:ext cx="411480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STREAMLIT DISPLAY</a:t>
            </a:r>
            <a:endParaRPr lang="en-US" sz="1300" dirty="0"/>
          </a:p>
        </p:txBody>
      </p:sp>
      <p:sp>
        <p:nvSpPr>
          <p:cNvPr id="21" name="Text 19"/>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SECTION 24 · API + DASHBOARD INTEGRATION</a:t>
            </a:r>
            <a:endParaRPr lang="en-US" sz="900" dirty="0"/>
          </a:p>
        </p:txBody>
      </p:sp>
      <p:sp>
        <p:nvSpPr>
          <p:cNvPr id="22" name="Text 20"/>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23" name="Text 21"/>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25</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Project Folder Structure</a:t>
            </a:r>
            <a:endParaRPr lang="en-US" sz="3000" dirty="0"/>
          </a:p>
        </p:txBody>
      </p:sp>
      <p:sp>
        <p:nvSpPr>
          <p:cNvPr id="4" name="Shape 2"/>
          <p:cNvSpPr/>
          <p:nvPr/>
        </p:nvSpPr>
        <p:spPr>
          <a:xfrm>
            <a:off x="502920" y="1417320"/>
            <a:ext cx="11155680" cy="4892040"/>
          </a:xfrm>
          <a:prstGeom prst="roundRect">
            <a:avLst>
              <a:gd name="adj" fmla="val 1495"/>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Text 3"/>
          <p:cNvSpPr/>
          <p:nvPr/>
        </p:nvSpPr>
        <p:spPr>
          <a:xfrm>
            <a:off x="777240" y="1600200"/>
            <a:ext cx="10607040" cy="4572000"/>
          </a:xfrm>
          <a:prstGeom prst="rect">
            <a:avLst/>
          </a:prstGeom>
          <a:noFill/>
          <a:ln/>
        </p:spPr>
        <p:txBody>
          <a:bodyPr wrap="square" rtlCol="0" anchor="ctr"/>
          <a:lstStyle/>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risknet-ai/</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api/                    ├── src/</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__init__.py         │   ├── data_loader.py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main.py             │   ├── risk_engine.py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 final_risk_engine.py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dashboard/               │   ├── features/</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__init__.py         │   │   ├── build_graph.py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app.py              │   │   ├── customer_features.py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api_client.py       │   │   ├── fraud_graph.py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   ├── graph_risk.py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data/                    │   │   ├── ring_detector.py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raw/                │   │   ├── ring_classifier.py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 AI_Risk_Manager_ │   │   ├── coupon_ring.py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Synthetic_       │   │   ├── card_testing_ring.py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Dataset_v2.xlsx  │   │   └── chargeback_ring.py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processed/           │   └── ml/</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customer_risk_   │       ├── train_model.py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features.csv     │       ├── predict.py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final_risk_      │       └── evaluate_model.py</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results.csv      │</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fraud_ring_      ├── models/risk_model.pkl</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classification   ├── Dockerfile</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.csv             ├── docker-compose.yml</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graph_risk_      ├── requirements.txt</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results.csv      └── README.md</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ml_predictions</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.csv</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 network_metrics</a:t>
            </a:r>
            <a:endParaRPr lang="en-US" sz="900" dirty="0"/>
          </a:p>
          <a:p>
            <a:pPr indent="0" marL="0">
              <a:lnSpc>
                <a:spcPct val="105000"/>
              </a:lnSpc>
              <a:buNone/>
            </a:pPr>
            <a:r>
              <a:rPr lang="en-US" sz="900" dirty="0">
                <a:solidFill>
                  <a:srgbClr val="D8E3F5"/>
                </a:solidFill>
                <a:latin typeface="Courier New" pitchFamily="34" charset="0"/>
                <a:ea typeface="Courier New" pitchFamily="34" charset="-122"/>
                <a:cs typeface="Courier New" pitchFamily="34" charset="-120"/>
              </a:rPr>
              <a:t>│           .csv</a:t>
            </a:r>
            <a:endParaRPr lang="en-US" sz="900" dirty="0"/>
          </a:p>
        </p:txBody>
      </p:sp>
      <p:sp>
        <p:nvSpPr>
          <p:cNvPr id="6" name="Text 4"/>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25 · FOLDER STRUCTURE</a:t>
            </a:r>
            <a:endParaRPr lang="en-US" sz="900" dirty="0"/>
          </a:p>
        </p:txBody>
      </p:sp>
      <p:sp>
        <p:nvSpPr>
          <p:cNvPr id="7" name="Text 5"/>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8" name="Text 6"/>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26</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502920" y="15087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Shape 3"/>
          <p:cNvSpPr/>
          <p:nvPr/>
        </p:nvSpPr>
        <p:spPr>
          <a:xfrm>
            <a:off x="685800" y="1691640"/>
            <a:ext cx="548640" cy="548640"/>
          </a:xfrm>
          <a:prstGeom prst="ellipse">
            <a:avLst/>
          </a:prstGeom>
          <a:solidFill>
            <a:srgbClr val="101F3C"/>
          </a:solidFill>
          <a:ln/>
        </p:spPr>
      </p:sp>
      <p:sp>
        <p:nvSpPr>
          <p:cNvPr id="6" name="Text 4"/>
          <p:cNvSpPr/>
          <p:nvPr/>
        </p:nvSpPr>
        <p:spPr>
          <a:xfrm>
            <a:off x="685800" y="16916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P</a:t>
            </a:r>
            <a:endParaRPr lang="en-US" sz="1560" dirty="0"/>
          </a:p>
        </p:txBody>
      </p:sp>
      <p:sp>
        <p:nvSpPr>
          <p:cNvPr id="7" name="Text 5"/>
          <p:cNvSpPr/>
          <p:nvPr/>
        </p:nvSpPr>
        <p:spPr>
          <a:xfrm>
            <a:off x="685800" y="23317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Python</a:t>
            </a:r>
            <a:endParaRPr lang="en-US" sz="1300" dirty="0"/>
          </a:p>
        </p:txBody>
      </p:sp>
      <p:sp>
        <p:nvSpPr>
          <p:cNvPr id="8" name="Text 6"/>
          <p:cNvSpPr/>
          <p:nvPr/>
        </p:nvSpPr>
        <p:spPr>
          <a:xfrm>
            <a:off x="685800" y="26243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Core programming</a:t>
            </a:r>
            <a:endParaRPr lang="en-US" sz="1000" dirty="0"/>
          </a:p>
        </p:txBody>
      </p:sp>
      <p:sp>
        <p:nvSpPr>
          <p:cNvPr id="9" name="Shape 7"/>
          <p:cNvSpPr/>
          <p:nvPr/>
        </p:nvSpPr>
        <p:spPr>
          <a:xfrm>
            <a:off x="3337560" y="15087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0" name="Shape 8"/>
          <p:cNvSpPr/>
          <p:nvPr/>
        </p:nvSpPr>
        <p:spPr>
          <a:xfrm>
            <a:off x="3520440" y="1691640"/>
            <a:ext cx="548640" cy="548640"/>
          </a:xfrm>
          <a:prstGeom prst="ellipse">
            <a:avLst/>
          </a:prstGeom>
          <a:solidFill>
            <a:srgbClr val="101F3C"/>
          </a:solidFill>
          <a:ln/>
        </p:spPr>
      </p:sp>
      <p:sp>
        <p:nvSpPr>
          <p:cNvPr id="11" name="Text 9"/>
          <p:cNvSpPr/>
          <p:nvPr/>
        </p:nvSpPr>
        <p:spPr>
          <a:xfrm>
            <a:off x="3520440" y="16916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P</a:t>
            </a:r>
            <a:endParaRPr lang="en-US" sz="1560" dirty="0"/>
          </a:p>
        </p:txBody>
      </p:sp>
      <p:sp>
        <p:nvSpPr>
          <p:cNvPr id="12" name="Text 10"/>
          <p:cNvSpPr/>
          <p:nvPr/>
        </p:nvSpPr>
        <p:spPr>
          <a:xfrm>
            <a:off x="3520440" y="23317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Pandas</a:t>
            </a:r>
            <a:endParaRPr lang="en-US" sz="1300" dirty="0"/>
          </a:p>
        </p:txBody>
      </p:sp>
      <p:sp>
        <p:nvSpPr>
          <p:cNvPr id="13" name="Text 11"/>
          <p:cNvSpPr/>
          <p:nvPr/>
        </p:nvSpPr>
        <p:spPr>
          <a:xfrm>
            <a:off x="3520440" y="26243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Data processing</a:t>
            </a:r>
            <a:endParaRPr lang="en-US" sz="1000" dirty="0"/>
          </a:p>
        </p:txBody>
      </p:sp>
      <p:sp>
        <p:nvSpPr>
          <p:cNvPr id="14" name="Shape 12"/>
          <p:cNvSpPr/>
          <p:nvPr/>
        </p:nvSpPr>
        <p:spPr>
          <a:xfrm>
            <a:off x="6172200" y="15087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5" name="Shape 13"/>
          <p:cNvSpPr/>
          <p:nvPr/>
        </p:nvSpPr>
        <p:spPr>
          <a:xfrm>
            <a:off x="6355080" y="1691640"/>
            <a:ext cx="548640" cy="548640"/>
          </a:xfrm>
          <a:prstGeom prst="ellipse">
            <a:avLst/>
          </a:prstGeom>
          <a:solidFill>
            <a:srgbClr val="101F3C"/>
          </a:solidFill>
          <a:ln/>
        </p:spPr>
      </p:sp>
      <p:sp>
        <p:nvSpPr>
          <p:cNvPr id="16" name="Text 14"/>
          <p:cNvSpPr/>
          <p:nvPr/>
        </p:nvSpPr>
        <p:spPr>
          <a:xfrm>
            <a:off x="6355080" y="16916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N</a:t>
            </a:r>
            <a:endParaRPr lang="en-US" sz="1560" dirty="0"/>
          </a:p>
        </p:txBody>
      </p:sp>
      <p:sp>
        <p:nvSpPr>
          <p:cNvPr id="17" name="Text 15"/>
          <p:cNvSpPr/>
          <p:nvPr/>
        </p:nvSpPr>
        <p:spPr>
          <a:xfrm>
            <a:off x="6355080" y="23317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NumPy</a:t>
            </a:r>
            <a:endParaRPr lang="en-US" sz="1300" dirty="0"/>
          </a:p>
        </p:txBody>
      </p:sp>
      <p:sp>
        <p:nvSpPr>
          <p:cNvPr id="18" name="Text 16"/>
          <p:cNvSpPr/>
          <p:nvPr/>
        </p:nvSpPr>
        <p:spPr>
          <a:xfrm>
            <a:off x="6355080" y="26243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Numerical operations</a:t>
            </a:r>
            <a:endParaRPr lang="en-US" sz="1000" dirty="0"/>
          </a:p>
        </p:txBody>
      </p:sp>
      <p:sp>
        <p:nvSpPr>
          <p:cNvPr id="19" name="Shape 17"/>
          <p:cNvSpPr/>
          <p:nvPr/>
        </p:nvSpPr>
        <p:spPr>
          <a:xfrm>
            <a:off x="9006840" y="15087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0" name="Shape 18"/>
          <p:cNvSpPr/>
          <p:nvPr/>
        </p:nvSpPr>
        <p:spPr>
          <a:xfrm>
            <a:off x="9189720" y="1691640"/>
            <a:ext cx="548640" cy="548640"/>
          </a:xfrm>
          <a:prstGeom prst="ellipse">
            <a:avLst/>
          </a:prstGeom>
          <a:solidFill>
            <a:srgbClr val="101F3C"/>
          </a:solidFill>
          <a:ln/>
        </p:spPr>
      </p:sp>
      <p:sp>
        <p:nvSpPr>
          <p:cNvPr id="21" name="Text 19"/>
          <p:cNvSpPr/>
          <p:nvPr/>
        </p:nvSpPr>
        <p:spPr>
          <a:xfrm>
            <a:off x="9189720" y="16916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S</a:t>
            </a:r>
            <a:endParaRPr lang="en-US" sz="1560" dirty="0"/>
          </a:p>
        </p:txBody>
      </p:sp>
      <p:sp>
        <p:nvSpPr>
          <p:cNvPr id="22" name="Text 20"/>
          <p:cNvSpPr/>
          <p:nvPr/>
        </p:nvSpPr>
        <p:spPr>
          <a:xfrm>
            <a:off x="9189720" y="23317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Scikit-learn</a:t>
            </a:r>
            <a:endParaRPr lang="en-US" sz="1300" dirty="0"/>
          </a:p>
        </p:txBody>
      </p:sp>
      <p:sp>
        <p:nvSpPr>
          <p:cNvPr id="23" name="Text 21"/>
          <p:cNvSpPr/>
          <p:nvPr/>
        </p:nvSpPr>
        <p:spPr>
          <a:xfrm>
            <a:off x="9189720" y="26243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Machine Learning</a:t>
            </a:r>
            <a:endParaRPr lang="en-US" sz="1000" dirty="0"/>
          </a:p>
        </p:txBody>
      </p:sp>
      <p:sp>
        <p:nvSpPr>
          <p:cNvPr id="24" name="Shape 22"/>
          <p:cNvSpPr/>
          <p:nvPr/>
        </p:nvSpPr>
        <p:spPr>
          <a:xfrm>
            <a:off x="502920" y="31089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5" name="Shape 23"/>
          <p:cNvSpPr/>
          <p:nvPr/>
        </p:nvSpPr>
        <p:spPr>
          <a:xfrm>
            <a:off x="685800" y="3291840"/>
            <a:ext cx="548640" cy="548640"/>
          </a:xfrm>
          <a:prstGeom prst="ellipse">
            <a:avLst/>
          </a:prstGeom>
          <a:solidFill>
            <a:srgbClr val="101F3C"/>
          </a:solidFill>
          <a:ln/>
        </p:spPr>
      </p:sp>
      <p:sp>
        <p:nvSpPr>
          <p:cNvPr id="26" name="Text 24"/>
          <p:cNvSpPr/>
          <p:nvPr/>
        </p:nvSpPr>
        <p:spPr>
          <a:xfrm>
            <a:off x="685800" y="32918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N</a:t>
            </a:r>
            <a:endParaRPr lang="en-US" sz="1560" dirty="0"/>
          </a:p>
        </p:txBody>
      </p:sp>
      <p:sp>
        <p:nvSpPr>
          <p:cNvPr id="27" name="Text 25"/>
          <p:cNvSpPr/>
          <p:nvPr/>
        </p:nvSpPr>
        <p:spPr>
          <a:xfrm>
            <a:off x="685800" y="39319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NetworkX</a:t>
            </a:r>
            <a:endParaRPr lang="en-US" sz="1300" dirty="0"/>
          </a:p>
        </p:txBody>
      </p:sp>
      <p:sp>
        <p:nvSpPr>
          <p:cNvPr id="28" name="Text 26"/>
          <p:cNvSpPr/>
          <p:nvPr/>
        </p:nvSpPr>
        <p:spPr>
          <a:xfrm>
            <a:off x="685800" y="42245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Graph analysis</a:t>
            </a:r>
            <a:endParaRPr lang="en-US" sz="1000" dirty="0"/>
          </a:p>
        </p:txBody>
      </p:sp>
      <p:sp>
        <p:nvSpPr>
          <p:cNvPr id="29" name="Shape 27"/>
          <p:cNvSpPr/>
          <p:nvPr/>
        </p:nvSpPr>
        <p:spPr>
          <a:xfrm>
            <a:off x="3337560" y="31089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0" name="Shape 28"/>
          <p:cNvSpPr/>
          <p:nvPr/>
        </p:nvSpPr>
        <p:spPr>
          <a:xfrm>
            <a:off x="3520440" y="3291840"/>
            <a:ext cx="548640" cy="548640"/>
          </a:xfrm>
          <a:prstGeom prst="ellipse">
            <a:avLst/>
          </a:prstGeom>
          <a:solidFill>
            <a:srgbClr val="101F3C"/>
          </a:solidFill>
          <a:ln/>
        </p:spPr>
      </p:sp>
      <p:sp>
        <p:nvSpPr>
          <p:cNvPr id="31" name="Text 29"/>
          <p:cNvSpPr/>
          <p:nvPr/>
        </p:nvSpPr>
        <p:spPr>
          <a:xfrm>
            <a:off x="3520440" y="32918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F</a:t>
            </a:r>
            <a:endParaRPr lang="en-US" sz="1560" dirty="0"/>
          </a:p>
        </p:txBody>
      </p:sp>
      <p:sp>
        <p:nvSpPr>
          <p:cNvPr id="32" name="Text 30"/>
          <p:cNvSpPr/>
          <p:nvPr/>
        </p:nvSpPr>
        <p:spPr>
          <a:xfrm>
            <a:off x="3520440" y="39319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FastAPI</a:t>
            </a:r>
            <a:endParaRPr lang="en-US" sz="1300" dirty="0"/>
          </a:p>
        </p:txBody>
      </p:sp>
      <p:sp>
        <p:nvSpPr>
          <p:cNvPr id="33" name="Text 31"/>
          <p:cNvSpPr/>
          <p:nvPr/>
        </p:nvSpPr>
        <p:spPr>
          <a:xfrm>
            <a:off x="3520440" y="42245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REST API</a:t>
            </a:r>
            <a:endParaRPr lang="en-US" sz="1000" dirty="0"/>
          </a:p>
        </p:txBody>
      </p:sp>
      <p:sp>
        <p:nvSpPr>
          <p:cNvPr id="34" name="Shape 32"/>
          <p:cNvSpPr/>
          <p:nvPr/>
        </p:nvSpPr>
        <p:spPr>
          <a:xfrm>
            <a:off x="6172200" y="31089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5" name="Shape 33"/>
          <p:cNvSpPr/>
          <p:nvPr/>
        </p:nvSpPr>
        <p:spPr>
          <a:xfrm>
            <a:off x="6355080" y="3291840"/>
            <a:ext cx="548640" cy="548640"/>
          </a:xfrm>
          <a:prstGeom prst="ellipse">
            <a:avLst/>
          </a:prstGeom>
          <a:solidFill>
            <a:srgbClr val="101F3C"/>
          </a:solidFill>
          <a:ln/>
        </p:spPr>
      </p:sp>
      <p:sp>
        <p:nvSpPr>
          <p:cNvPr id="36" name="Text 34"/>
          <p:cNvSpPr/>
          <p:nvPr/>
        </p:nvSpPr>
        <p:spPr>
          <a:xfrm>
            <a:off x="6355080" y="32918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U</a:t>
            </a:r>
            <a:endParaRPr lang="en-US" sz="1560" dirty="0"/>
          </a:p>
        </p:txBody>
      </p:sp>
      <p:sp>
        <p:nvSpPr>
          <p:cNvPr id="37" name="Text 35"/>
          <p:cNvSpPr/>
          <p:nvPr/>
        </p:nvSpPr>
        <p:spPr>
          <a:xfrm>
            <a:off x="6355080" y="39319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Uvicorn</a:t>
            </a:r>
            <a:endParaRPr lang="en-US" sz="1300" dirty="0"/>
          </a:p>
        </p:txBody>
      </p:sp>
      <p:sp>
        <p:nvSpPr>
          <p:cNvPr id="38" name="Text 36"/>
          <p:cNvSpPr/>
          <p:nvPr/>
        </p:nvSpPr>
        <p:spPr>
          <a:xfrm>
            <a:off x="6355080" y="42245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API server</a:t>
            </a:r>
            <a:endParaRPr lang="en-US" sz="1000" dirty="0"/>
          </a:p>
        </p:txBody>
      </p:sp>
      <p:sp>
        <p:nvSpPr>
          <p:cNvPr id="39" name="Shape 37"/>
          <p:cNvSpPr/>
          <p:nvPr/>
        </p:nvSpPr>
        <p:spPr>
          <a:xfrm>
            <a:off x="9006840" y="31089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40" name="Shape 38"/>
          <p:cNvSpPr/>
          <p:nvPr/>
        </p:nvSpPr>
        <p:spPr>
          <a:xfrm>
            <a:off x="9189720" y="3291840"/>
            <a:ext cx="548640" cy="548640"/>
          </a:xfrm>
          <a:prstGeom prst="ellipse">
            <a:avLst/>
          </a:prstGeom>
          <a:solidFill>
            <a:srgbClr val="101F3C"/>
          </a:solidFill>
          <a:ln/>
        </p:spPr>
      </p:sp>
      <p:sp>
        <p:nvSpPr>
          <p:cNvPr id="41" name="Text 39"/>
          <p:cNvSpPr/>
          <p:nvPr/>
        </p:nvSpPr>
        <p:spPr>
          <a:xfrm>
            <a:off x="9189720" y="32918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S</a:t>
            </a:r>
            <a:endParaRPr lang="en-US" sz="1560" dirty="0"/>
          </a:p>
        </p:txBody>
      </p:sp>
      <p:sp>
        <p:nvSpPr>
          <p:cNvPr id="42" name="Text 40"/>
          <p:cNvSpPr/>
          <p:nvPr/>
        </p:nvSpPr>
        <p:spPr>
          <a:xfrm>
            <a:off x="9189720" y="39319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Streamlit</a:t>
            </a:r>
            <a:endParaRPr lang="en-US" sz="1300" dirty="0"/>
          </a:p>
        </p:txBody>
      </p:sp>
      <p:sp>
        <p:nvSpPr>
          <p:cNvPr id="43" name="Text 41"/>
          <p:cNvSpPr/>
          <p:nvPr/>
        </p:nvSpPr>
        <p:spPr>
          <a:xfrm>
            <a:off x="9189720" y="42245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Dashboard</a:t>
            </a:r>
            <a:endParaRPr lang="en-US" sz="1000" dirty="0"/>
          </a:p>
        </p:txBody>
      </p:sp>
      <p:sp>
        <p:nvSpPr>
          <p:cNvPr id="44" name="Shape 42"/>
          <p:cNvSpPr/>
          <p:nvPr/>
        </p:nvSpPr>
        <p:spPr>
          <a:xfrm>
            <a:off x="502920" y="47091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45" name="Shape 43"/>
          <p:cNvSpPr/>
          <p:nvPr/>
        </p:nvSpPr>
        <p:spPr>
          <a:xfrm>
            <a:off x="685800" y="4892040"/>
            <a:ext cx="548640" cy="548640"/>
          </a:xfrm>
          <a:prstGeom prst="ellipse">
            <a:avLst/>
          </a:prstGeom>
          <a:solidFill>
            <a:srgbClr val="101F3C"/>
          </a:solidFill>
          <a:ln/>
        </p:spPr>
      </p:sp>
      <p:sp>
        <p:nvSpPr>
          <p:cNvPr id="46" name="Text 44"/>
          <p:cNvSpPr/>
          <p:nvPr/>
        </p:nvSpPr>
        <p:spPr>
          <a:xfrm>
            <a:off x="685800" y="48920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D</a:t>
            </a:r>
            <a:endParaRPr lang="en-US" sz="1560" dirty="0"/>
          </a:p>
        </p:txBody>
      </p:sp>
      <p:sp>
        <p:nvSpPr>
          <p:cNvPr id="47" name="Text 45"/>
          <p:cNvSpPr/>
          <p:nvPr/>
        </p:nvSpPr>
        <p:spPr>
          <a:xfrm>
            <a:off x="685800" y="55321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Docker</a:t>
            </a:r>
            <a:endParaRPr lang="en-US" sz="1300" dirty="0"/>
          </a:p>
        </p:txBody>
      </p:sp>
      <p:sp>
        <p:nvSpPr>
          <p:cNvPr id="48" name="Text 46"/>
          <p:cNvSpPr/>
          <p:nvPr/>
        </p:nvSpPr>
        <p:spPr>
          <a:xfrm>
            <a:off x="685800" y="58247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Containerization</a:t>
            </a:r>
            <a:endParaRPr lang="en-US" sz="1000" dirty="0"/>
          </a:p>
        </p:txBody>
      </p:sp>
      <p:sp>
        <p:nvSpPr>
          <p:cNvPr id="49" name="Shape 47"/>
          <p:cNvSpPr/>
          <p:nvPr/>
        </p:nvSpPr>
        <p:spPr>
          <a:xfrm>
            <a:off x="3337560" y="47091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0" name="Shape 48"/>
          <p:cNvSpPr/>
          <p:nvPr/>
        </p:nvSpPr>
        <p:spPr>
          <a:xfrm>
            <a:off x="3520440" y="4892040"/>
            <a:ext cx="548640" cy="548640"/>
          </a:xfrm>
          <a:prstGeom prst="ellipse">
            <a:avLst/>
          </a:prstGeom>
          <a:solidFill>
            <a:srgbClr val="101F3C"/>
          </a:solidFill>
          <a:ln/>
        </p:spPr>
      </p:sp>
      <p:sp>
        <p:nvSpPr>
          <p:cNvPr id="51" name="Text 49"/>
          <p:cNvSpPr/>
          <p:nvPr/>
        </p:nvSpPr>
        <p:spPr>
          <a:xfrm>
            <a:off x="3520440" y="48920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G</a:t>
            </a:r>
            <a:endParaRPr lang="en-US" sz="1560" dirty="0"/>
          </a:p>
        </p:txBody>
      </p:sp>
      <p:sp>
        <p:nvSpPr>
          <p:cNvPr id="52" name="Text 50"/>
          <p:cNvSpPr/>
          <p:nvPr/>
        </p:nvSpPr>
        <p:spPr>
          <a:xfrm>
            <a:off x="3520440" y="55321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Git</a:t>
            </a:r>
            <a:endParaRPr lang="en-US" sz="1300" dirty="0"/>
          </a:p>
        </p:txBody>
      </p:sp>
      <p:sp>
        <p:nvSpPr>
          <p:cNvPr id="53" name="Text 51"/>
          <p:cNvSpPr/>
          <p:nvPr/>
        </p:nvSpPr>
        <p:spPr>
          <a:xfrm>
            <a:off x="3520440" y="58247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Version control</a:t>
            </a:r>
            <a:endParaRPr lang="en-US" sz="1000" dirty="0"/>
          </a:p>
        </p:txBody>
      </p:sp>
      <p:sp>
        <p:nvSpPr>
          <p:cNvPr id="54" name="Shape 52"/>
          <p:cNvSpPr/>
          <p:nvPr/>
        </p:nvSpPr>
        <p:spPr>
          <a:xfrm>
            <a:off x="6172200" y="4709160"/>
            <a:ext cx="2651760" cy="1417320"/>
          </a:xfrm>
          <a:prstGeom prst="roundRect">
            <a:avLst>
              <a:gd name="adj" fmla="val 5161"/>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5" name="Shape 53"/>
          <p:cNvSpPr/>
          <p:nvPr/>
        </p:nvSpPr>
        <p:spPr>
          <a:xfrm>
            <a:off x="6355080" y="4892040"/>
            <a:ext cx="548640" cy="548640"/>
          </a:xfrm>
          <a:prstGeom prst="ellipse">
            <a:avLst/>
          </a:prstGeom>
          <a:solidFill>
            <a:srgbClr val="101F3C"/>
          </a:solidFill>
          <a:ln/>
        </p:spPr>
      </p:sp>
      <p:sp>
        <p:nvSpPr>
          <p:cNvPr id="56" name="Text 54"/>
          <p:cNvSpPr/>
          <p:nvPr/>
        </p:nvSpPr>
        <p:spPr>
          <a:xfrm>
            <a:off x="6355080" y="48920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G</a:t>
            </a:r>
            <a:endParaRPr lang="en-US" sz="1560" dirty="0"/>
          </a:p>
        </p:txBody>
      </p:sp>
      <p:sp>
        <p:nvSpPr>
          <p:cNvPr id="57" name="Text 55"/>
          <p:cNvSpPr/>
          <p:nvPr/>
        </p:nvSpPr>
        <p:spPr>
          <a:xfrm>
            <a:off x="6355080" y="5532120"/>
            <a:ext cx="2331720" cy="320040"/>
          </a:xfrm>
          <a:prstGeom prst="rect">
            <a:avLst/>
          </a:prstGeom>
          <a:noFill/>
          <a:ln/>
        </p:spPr>
        <p:txBody>
          <a:bodyPr wrap="square" rtlCol="0" anchor="ctr"/>
          <a:lstStyle/>
          <a:p>
            <a:pPr indent="0" marL="0">
              <a:buNone/>
            </a:pPr>
            <a:r>
              <a:rPr lang="en-US" sz="1300" b="1" dirty="0">
                <a:solidFill>
                  <a:srgbClr val="16234A"/>
                </a:solidFill>
                <a:latin typeface="Calibri" pitchFamily="34" charset="0"/>
                <a:ea typeface="Calibri" pitchFamily="34" charset="-122"/>
                <a:cs typeface="Calibri" pitchFamily="34" charset="-120"/>
              </a:rPr>
              <a:t>GitHub</a:t>
            </a:r>
            <a:endParaRPr lang="en-US" sz="1300" dirty="0"/>
          </a:p>
        </p:txBody>
      </p:sp>
      <p:sp>
        <p:nvSpPr>
          <p:cNvPr id="58" name="Text 56"/>
          <p:cNvSpPr/>
          <p:nvPr/>
        </p:nvSpPr>
        <p:spPr>
          <a:xfrm>
            <a:off x="6355080" y="5824728"/>
            <a:ext cx="2331720" cy="274320"/>
          </a:xfrm>
          <a:prstGeom prst="rect">
            <a:avLst/>
          </a:prstGeom>
          <a:noFill/>
          <a:ln/>
        </p:spPr>
        <p:txBody>
          <a:bodyPr wrap="square" rtlCol="0" anchor="ctr"/>
          <a:lstStyle/>
          <a:p>
            <a:pPr indent="0" marL="0">
              <a:buNone/>
            </a:pPr>
            <a:r>
              <a:rPr lang="en-US" sz="1000" dirty="0">
                <a:solidFill>
                  <a:srgbClr val="5B6B8C"/>
                </a:solidFill>
                <a:latin typeface="Calibri" pitchFamily="34" charset="0"/>
                <a:ea typeface="Calibri" pitchFamily="34" charset="-122"/>
                <a:cs typeface="Calibri" pitchFamily="34" charset="-120"/>
              </a:rPr>
              <a:t>Source code repository</a:t>
            </a:r>
            <a:endParaRPr lang="en-US" sz="1000" dirty="0"/>
          </a:p>
        </p:txBody>
      </p:sp>
      <p:sp>
        <p:nvSpPr>
          <p:cNvPr id="59" name="Text 5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26 · TECHNOLOGY STACK</a:t>
            </a:r>
            <a:endParaRPr lang="en-US" sz="900" dirty="0"/>
          </a:p>
        </p:txBody>
      </p:sp>
      <p:sp>
        <p:nvSpPr>
          <p:cNvPr id="60" name="Text 5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61" name="Text 5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01F3C"/>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F0A23A"/>
                </a:solidFill>
                <a:latin typeface="Calibri" pitchFamily="34" charset="0"/>
                <a:ea typeface="Calibri" pitchFamily="34" charset="-122"/>
                <a:cs typeface="Calibri" pitchFamily="34" charset="-120"/>
              </a:rPr>
              <a:t>SECTION 27</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Docker Deployment</a:t>
            </a:r>
            <a:endParaRPr lang="en-US" sz="3000" dirty="0"/>
          </a:p>
        </p:txBody>
      </p:sp>
      <p:sp>
        <p:nvSpPr>
          <p:cNvPr id="4" name="Text 2"/>
          <p:cNvSpPr/>
          <p:nvPr/>
        </p:nvSpPr>
        <p:spPr>
          <a:xfrm>
            <a:off x="502920" y="1371600"/>
            <a:ext cx="10972800" cy="411480"/>
          </a:xfrm>
          <a:prstGeom prst="rect">
            <a:avLst/>
          </a:prstGeom>
          <a:noFill/>
          <a:ln/>
        </p:spPr>
        <p:txBody>
          <a:bodyPr wrap="square" rtlCol="0" anchor="ctr"/>
          <a:lstStyle/>
          <a:p>
            <a:pPr indent="0" marL="0">
              <a:buNone/>
            </a:pPr>
            <a:r>
              <a:rPr lang="en-US" sz="1400" dirty="0">
                <a:solidFill>
                  <a:srgbClr val="D8E3F5"/>
                </a:solidFill>
                <a:latin typeface="Calibri" pitchFamily="34" charset="0"/>
                <a:ea typeface="Calibri" pitchFamily="34" charset="-122"/>
                <a:cs typeface="Calibri" pitchFamily="34" charset="-120"/>
              </a:rPr>
              <a:t>Docker makes the project portable and reproducible.</a:t>
            </a:r>
            <a:endParaRPr lang="en-US" sz="1400" dirty="0"/>
          </a:p>
        </p:txBody>
      </p:sp>
      <p:sp>
        <p:nvSpPr>
          <p:cNvPr id="5" name="Shape 3"/>
          <p:cNvSpPr/>
          <p:nvPr/>
        </p:nvSpPr>
        <p:spPr>
          <a:xfrm>
            <a:off x="548640" y="1965960"/>
            <a:ext cx="2103120" cy="914400"/>
          </a:xfrm>
          <a:prstGeom prst="roundRect">
            <a:avLst>
              <a:gd name="adj" fmla="val 8000"/>
            </a:avLst>
          </a:prstGeom>
          <a:solidFill>
            <a:srgbClr val="1B2E58"/>
          </a:solidFill>
          <a:ln/>
        </p:spPr>
      </p:sp>
      <p:sp>
        <p:nvSpPr>
          <p:cNvPr id="6" name="Text 4"/>
          <p:cNvSpPr/>
          <p:nvPr/>
        </p:nvSpPr>
        <p:spPr>
          <a:xfrm>
            <a:off x="548640" y="1965960"/>
            <a:ext cx="2103120" cy="914400"/>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Developer</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Machine</a:t>
            </a:r>
            <a:endParaRPr lang="en-US" sz="1200" dirty="0"/>
          </a:p>
        </p:txBody>
      </p:sp>
      <p:sp>
        <p:nvSpPr>
          <p:cNvPr id="7" name="Shape 5"/>
          <p:cNvSpPr/>
          <p:nvPr/>
        </p:nvSpPr>
        <p:spPr>
          <a:xfrm>
            <a:off x="2679192" y="2286000"/>
            <a:ext cx="146304" cy="274320"/>
          </a:xfrm>
          <a:prstGeom prst="rightArrow">
            <a:avLst/>
          </a:prstGeom>
          <a:solidFill>
            <a:srgbClr val="F0A23A"/>
          </a:solidFill>
          <a:ln/>
        </p:spPr>
      </p:sp>
      <p:sp>
        <p:nvSpPr>
          <p:cNvPr id="8" name="Shape 6"/>
          <p:cNvSpPr/>
          <p:nvPr/>
        </p:nvSpPr>
        <p:spPr>
          <a:xfrm>
            <a:off x="2852928" y="1965960"/>
            <a:ext cx="2103120" cy="914400"/>
          </a:xfrm>
          <a:prstGeom prst="roundRect">
            <a:avLst>
              <a:gd name="adj" fmla="val 8000"/>
            </a:avLst>
          </a:prstGeom>
          <a:solidFill>
            <a:srgbClr val="1B2E58"/>
          </a:solidFill>
          <a:ln/>
        </p:spPr>
      </p:sp>
      <p:sp>
        <p:nvSpPr>
          <p:cNvPr id="9" name="Text 7"/>
          <p:cNvSpPr/>
          <p:nvPr/>
        </p:nvSpPr>
        <p:spPr>
          <a:xfrm>
            <a:off x="2852928" y="1965960"/>
            <a:ext cx="2103120" cy="914400"/>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Docker</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Build</a:t>
            </a:r>
            <a:endParaRPr lang="en-US" sz="1200" dirty="0"/>
          </a:p>
        </p:txBody>
      </p:sp>
      <p:sp>
        <p:nvSpPr>
          <p:cNvPr id="10" name="Shape 8"/>
          <p:cNvSpPr/>
          <p:nvPr/>
        </p:nvSpPr>
        <p:spPr>
          <a:xfrm>
            <a:off x="4983480" y="2286000"/>
            <a:ext cx="146304" cy="274320"/>
          </a:xfrm>
          <a:prstGeom prst="rightArrow">
            <a:avLst/>
          </a:prstGeom>
          <a:solidFill>
            <a:srgbClr val="F0A23A"/>
          </a:solidFill>
          <a:ln/>
        </p:spPr>
      </p:sp>
      <p:sp>
        <p:nvSpPr>
          <p:cNvPr id="11" name="Shape 9"/>
          <p:cNvSpPr/>
          <p:nvPr/>
        </p:nvSpPr>
        <p:spPr>
          <a:xfrm>
            <a:off x="5157216" y="1965960"/>
            <a:ext cx="2103120" cy="914400"/>
          </a:xfrm>
          <a:prstGeom prst="roundRect">
            <a:avLst>
              <a:gd name="adj" fmla="val 8000"/>
            </a:avLst>
          </a:prstGeom>
          <a:solidFill>
            <a:srgbClr val="1B2E58"/>
          </a:solidFill>
          <a:ln/>
        </p:spPr>
      </p:sp>
      <p:sp>
        <p:nvSpPr>
          <p:cNvPr id="12" name="Text 10"/>
          <p:cNvSpPr/>
          <p:nvPr/>
        </p:nvSpPr>
        <p:spPr>
          <a:xfrm>
            <a:off x="5157216" y="1965960"/>
            <a:ext cx="2103120" cy="914400"/>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Docker</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Image</a:t>
            </a:r>
            <a:endParaRPr lang="en-US" sz="1200" dirty="0"/>
          </a:p>
        </p:txBody>
      </p:sp>
      <p:sp>
        <p:nvSpPr>
          <p:cNvPr id="13" name="Shape 11"/>
          <p:cNvSpPr/>
          <p:nvPr/>
        </p:nvSpPr>
        <p:spPr>
          <a:xfrm>
            <a:off x="7287768" y="2286000"/>
            <a:ext cx="146304" cy="274320"/>
          </a:xfrm>
          <a:prstGeom prst="rightArrow">
            <a:avLst/>
          </a:prstGeom>
          <a:solidFill>
            <a:srgbClr val="F0A23A"/>
          </a:solidFill>
          <a:ln/>
        </p:spPr>
      </p:sp>
      <p:sp>
        <p:nvSpPr>
          <p:cNvPr id="14" name="Shape 12"/>
          <p:cNvSpPr/>
          <p:nvPr/>
        </p:nvSpPr>
        <p:spPr>
          <a:xfrm>
            <a:off x="7461504" y="1965960"/>
            <a:ext cx="2103120" cy="914400"/>
          </a:xfrm>
          <a:prstGeom prst="roundRect">
            <a:avLst>
              <a:gd name="adj" fmla="val 8000"/>
            </a:avLst>
          </a:prstGeom>
          <a:solidFill>
            <a:srgbClr val="1B2E58"/>
          </a:solidFill>
          <a:ln/>
        </p:spPr>
      </p:sp>
      <p:sp>
        <p:nvSpPr>
          <p:cNvPr id="15" name="Text 13"/>
          <p:cNvSpPr/>
          <p:nvPr/>
        </p:nvSpPr>
        <p:spPr>
          <a:xfrm>
            <a:off x="7461504" y="1965960"/>
            <a:ext cx="2103120" cy="914400"/>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Docker</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Container</a:t>
            </a:r>
            <a:endParaRPr lang="en-US" sz="1200" dirty="0"/>
          </a:p>
        </p:txBody>
      </p:sp>
      <p:sp>
        <p:nvSpPr>
          <p:cNvPr id="16" name="Shape 14"/>
          <p:cNvSpPr/>
          <p:nvPr/>
        </p:nvSpPr>
        <p:spPr>
          <a:xfrm>
            <a:off x="9592056" y="2286000"/>
            <a:ext cx="146304" cy="274320"/>
          </a:xfrm>
          <a:prstGeom prst="rightArrow">
            <a:avLst/>
          </a:prstGeom>
          <a:solidFill>
            <a:srgbClr val="F0A23A"/>
          </a:solidFill>
          <a:ln/>
        </p:spPr>
      </p:sp>
      <p:sp>
        <p:nvSpPr>
          <p:cNvPr id="17" name="Shape 15"/>
          <p:cNvSpPr/>
          <p:nvPr/>
        </p:nvSpPr>
        <p:spPr>
          <a:xfrm>
            <a:off x="9765792" y="1965960"/>
            <a:ext cx="2103120" cy="914400"/>
          </a:xfrm>
          <a:prstGeom prst="roundRect">
            <a:avLst>
              <a:gd name="adj" fmla="val 8000"/>
            </a:avLst>
          </a:prstGeom>
          <a:solidFill>
            <a:srgbClr val="1B2E58"/>
          </a:solidFill>
          <a:ln/>
        </p:spPr>
      </p:sp>
      <p:sp>
        <p:nvSpPr>
          <p:cNvPr id="18" name="Text 16"/>
          <p:cNvSpPr/>
          <p:nvPr/>
        </p:nvSpPr>
        <p:spPr>
          <a:xfrm>
            <a:off x="9765792" y="1965960"/>
            <a:ext cx="2103120" cy="914400"/>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RISKNET AI</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Application</a:t>
            </a:r>
            <a:endParaRPr lang="en-US" sz="1200" dirty="0"/>
          </a:p>
        </p:txBody>
      </p:sp>
      <p:sp>
        <p:nvSpPr>
          <p:cNvPr id="19" name="Shape 17"/>
          <p:cNvSpPr/>
          <p:nvPr/>
        </p:nvSpPr>
        <p:spPr>
          <a:xfrm>
            <a:off x="548640" y="3337560"/>
            <a:ext cx="5394960" cy="1965960"/>
          </a:xfrm>
          <a:prstGeom prst="roundRect">
            <a:avLst>
              <a:gd name="adj" fmla="val 3721"/>
            </a:avLst>
          </a:prstGeom>
          <a:solidFill>
            <a:srgbClr val="1B2E58"/>
          </a:solidFill>
          <a:ln/>
        </p:spPr>
      </p:sp>
      <p:sp>
        <p:nvSpPr>
          <p:cNvPr id="20" name="Text 18"/>
          <p:cNvSpPr/>
          <p:nvPr/>
        </p:nvSpPr>
        <p:spPr>
          <a:xfrm>
            <a:off x="822960" y="3520440"/>
            <a:ext cx="4572000" cy="274320"/>
          </a:xfrm>
          <a:prstGeom prst="rect">
            <a:avLst/>
          </a:prstGeom>
          <a:noFill/>
          <a:ln/>
        </p:spPr>
        <p:txBody>
          <a:bodyPr wrap="square" rtlCol="0" anchor="ctr"/>
          <a:lstStyle/>
          <a:p>
            <a:pPr indent="0" marL="0">
              <a:buNone/>
            </a:pPr>
            <a:r>
              <a:rPr lang="en-US" sz="1150" b="1" spc="100" kern="0" dirty="0">
                <a:solidFill>
                  <a:srgbClr val="F0A23A"/>
                </a:solidFill>
                <a:latin typeface="Calibri" pitchFamily="34" charset="0"/>
                <a:ea typeface="Calibri" pitchFamily="34" charset="-122"/>
                <a:cs typeface="Calibri" pitchFamily="34" charset="-120"/>
              </a:rPr>
              <a:t>BUILD</a:t>
            </a:r>
            <a:endParaRPr lang="en-US" sz="1150" dirty="0"/>
          </a:p>
        </p:txBody>
      </p:sp>
      <p:sp>
        <p:nvSpPr>
          <p:cNvPr id="21" name="Text 19"/>
          <p:cNvSpPr/>
          <p:nvPr/>
        </p:nvSpPr>
        <p:spPr>
          <a:xfrm>
            <a:off x="822960" y="3840480"/>
            <a:ext cx="4846320" cy="457200"/>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docker build -t risknet-ai-api .</a:t>
            </a:r>
            <a:endParaRPr lang="en-US" sz="1300" dirty="0"/>
          </a:p>
        </p:txBody>
      </p:sp>
      <p:sp>
        <p:nvSpPr>
          <p:cNvPr id="22" name="Text 20"/>
          <p:cNvSpPr/>
          <p:nvPr/>
        </p:nvSpPr>
        <p:spPr>
          <a:xfrm>
            <a:off x="822960" y="4434840"/>
            <a:ext cx="4572000" cy="274320"/>
          </a:xfrm>
          <a:prstGeom prst="rect">
            <a:avLst/>
          </a:prstGeom>
          <a:noFill/>
          <a:ln/>
        </p:spPr>
        <p:txBody>
          <a:bodyPr wrap="square" rtlCol="0" anchor="ctr"/>
          <a:lstStyle/>
          <a:p>
            <a:pPr indent="0" marL="0">
              <a:buNone/>
            </a:pPr>
            <a:r>
              <a:rPr lang="en-US" sz="1150" b="1" spc="100" kern="0" dirty="0">
                <a:solidFill>
                  <a:srgbClr val="F0A23A"/>
                </a:solidFill>
                <a:latin typeface="Calibri" pitchFamily="34" charset="0"/>
                <a:ea typeface="Calibri" pitchFamily="34" charset="-122"/>
                <a:cs typeface="Calibri" pitchFamily="34" charset="-120"/>
              </a:rPr>
              <a:t>RUN</a:t>
            </a:r>
            <a:endParaRPr lang="en-US" sz="1150" dirty="0"/>
          </a:p>
        </p:txBody>
      </p:sp>
      <p:sp>
        <p:nvSpPr>
          <p:cNvPr id="23" name="Text 21"/>
          <p:cNvSpPr/>
          <p:nvPr/>
        </p:nvSpPr>
        <p:spPr>
          <a:xfrm>
            <a:off x="822960" y="4754880"/>
            <a:ext cx="4937760" cy="457200"/>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docker run --rm -p 8000:8000 risknet-ai-api</a:t>
            </a:r>
            <a:endParaRPr lang="en-US" sz="1300" dirty="0"/>
          </a:p>
        </p:txBody>
      </p:sp>
      <p:sp>
        <p:nvSpPr>
          <p:cNvPr id="24" name="Shape 22"/>
          <p:cNvSpPr/>
          <p:nvPr/>
        </p:nvSpPr>
        <p:spPr>
          <a:xfrm>
            <a:off x="6217920" y="3337560"/>
            <a:ext cx="5394960" cy="1965960"/>
          </a:xfrm>
          <a:prstGeom prst="roundRect">
            <a:avLst>
              <a:gd name="adj" fmla="val 3721"/>
            </a:avLst>
          </a:prstGeom>
          <a:solidFill>
            <a:srgbClr val="F0A23A"/>
          </a:solidFill>
          <a:ln/>
        </p:spPr>
      </p:sp>
      <p:sp>
        <p:nvSpPr>
          <p:cNvPr id="25" name="Text 23"/>
          <p:cNvSpPr/>
          <p:nvPr/>
        </p:nvSpPr>
        <p:spPr>
          <a:xfrm>
            <a:off x="6217920" y="3657600"/>
            <a:ext cx="5394960" cy="365760"/>
          </a:xfrm>
          <a:prstGeom prst="rect">
            <a:avLst/>
          </a:prstGeom>
          <a:noFill/>
          <a:ln/>
        </p:spPr>
        <p:txBody>
          <a:bodyPr wrap="square" rtlCol="0" anchor="ctr"/>
          <a:lstStyle/>
          <a:p>
            <a:pPr algn="ctr" indent="0" marL="0">
              <a:buNone/>
            </a:pPr>
            <a:r>
              <a:rPr lang="en-US" sz="1300" b="1" spc="100" kern="0" dirty="0">
                <a:solidFill>
                  <a:srgbClr val="101F3C"/>
                </a:solidFill>
                <a:latin typeface="Calibri" pitchFamily="34" charset="0"/>
                <a:ea typeface="Calibri" pitchFamily="34" charset="-122"/>
                <a:cs typeface="Calibri" pitchFamily="34" charset="-120"/>
              </a:rPr>
              <a:t>API AVAILABLE ON PORT</a:t>
            </a:r>
            <a:endParaRPr lang="en-US" sz="1300" dirty="0"/>
          </a:p>
        </p:txBody>
      </p:sp>
      <p:sp>
        <p:nvSpPr>
          <p:cNvPr id="26" name="Text 24"/>
          <p:cNvSpPr/>
          <p:nvPr/>
        </p:nvSpPr>
        <p:spPr>
          <a:xfrm>
            <a:off x="6217920" y="3977640"/>
            <a:ext cx="5394960" cy="1097280"/>
          </a:xfrm>
          <a:prstGeom prst="rect">
            <a:avLst/>
          </a:prstGeom>
          <a:noFill/>
          <a:ln/>
        </p:spPr>
        <p:txBody>
          <a:bodyPr wrap="square" rtlCol="0" anchor="ctr"/>
          <a:lstStyle/>
          <a:p>
            <a:pPr algn="ctr" indent="0" marL="0">
              <a:buNone/>
            </a:pPr>
            <a:r>
              <a:rPr lang="en-US" sz="5200" b="1" dirty="0">
                <a:solidFill>
                  <a:srgbClr val="101F3C"/>
                </a:solidFill>
                <a:latin typeface="Cambria" pitchFamily="34" charset="0"/>
                <a:ea typeface="Cambria" pitchFamily="34" charset="-122"/>
                <a:cs typeface="Cambria" pitchFamily="34" charset="-120"/>
              </a:rPr>
              <a:t>8000</a:t>
            </a:r>
            <a:endParaRPr lang="en-US" sz="5200" dirty="0"/>
          </a:p>
        </p:txBody>
      </p:sp>
      <p:sp>
        <p:nvSpPr>
          <p:cNvPr id="27" name="Text 25"/>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SECTION 27 · DOCKER DEPLOYMENT</a:t>
            </a:r>
            <a:endParaRPr lang="en-US" sz="900" dirty="0"/>
          </a:p>
        </p:txBody>
      </p:sp>
      <p:sp>
        <p:nvSpPr>
          <p:cNvPr id="28" name="Text 26"/>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29" name="Text 2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28</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Complete Project Workflow</a:t>
            </a:r>
            <a:endParaRPr lang="en-US" sz="3000" dirty="0"/>
          </a:p>
        </p:txBody>
      </p:sp>
      <p:sp>
        <p:nvSpPr>
          <p:cNvPr id="4" name="Shape 2"/>
          <p:cNvSpPr/>
          <p:nvPr/>
        </p:nvSpPr>
        <p:spPr>
          <a:xfrm>
            <a:off x="544068" y="1504188"/>
            <a:ext cx="502920" cy="502920"/>
          </a:xfrm>
          <a:prstGeom prst="ellipse">
            <a:avLst/>
          </a:prstGeom>
          <a:solidFill>
            <a:srgbClr val="3A6FF0"/>
          </a:solidFill>
          <a:ln/>
        </p:spPr>
      </p:sp>
      <p:sp>
        <p:nvSpPr>
          <p:cNvPr id="5" name="Text 3"/>
          <p:cNvSpPr/>
          <p:nvPr/>
        </p:nvSpPr>
        <p:spPr>
          <a:xfrm>
            <a:off x="544068" y="1504188"/>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6" name="Text 4"/>
          <p:cNvSpPr/>
          <p:nvPr/>
        </p:nvSpPr>
        <p:spPr>
          <a:xfrm>
            <a:off x="1188720" y="1463040"/>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Load Raw Dataset</a:t>
            </a:r>
            <a:endParaRPr lang="en-US" sz="1200" dirty="0"/>
          </a:p>
        </p:txBody>
      </p:sp>
      <p:sp>
        <p:nvSpPr>
          <p:cNvPr id="7" name="Shape 5"/>
          <p:cNvSpPr/>
          <p:nvPr/>
        </p:nvSpPr>
        <p:spPr>
          <a:xfrm>
            <a:off x="795528" y="2057400"/>
            <a:ext cx="0" cy="320040"/>
          </a:xfrm>
          <a:prstGeom prst="line">
            <a:avLst/>
          </a:prstGeom>
          <a:noFill/>
          <a:ln w="19050">
            <a:solidFill>
              <a:srgbClr val="E2E7F1"/>
            </a:solidFill>
            <a:prstDash val="solid"/>
          </a:ln>
        </p:spPr>
      </p:sp>
      <p:sp>
        <p:nvSpPr>
          <p:cNvPr id="8" name="Shape 6"/>
          <p:cNvSpPr/>
          <p:nvPr/>
        </p:nvSpPr>
        <p:spPr>
          <a:xfrm>
            <a:off x="544068" y="2436876"/>
            <a:ext cx="502920" cy="502920"/>
          </a:xfrm>
          <a:prstGeom prst="ellipse">
            <a:avLst/>
          </a:prstGeom>
          <a:solidFill>
            <a:srgbClr val="3A6FF0"/>
          </a:solidFill>
          <a:ln/>
        </p:spPr>
      </p:sp>
      <p:sp>
        <p:nvSpPr>
          <p:cNvPr id="9" name="Text 7"/>
          <p:cNvSpPr/>
          <p:nvPr/>
        </p:nvSpPr>
        <p:spPr>
          <a:xfrm>
            <a:off x="544068" y="2436876"/>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2</a:t>
            </a:r>
            <a:endParaRPr lang="en-US" sz="1430" dirty="0"/>
          </a:p>
        </p:txBody>
      </p:sp>
      <p:sp>
        <p:nvSpPr>
          <p:cNvPr id="10" name="Text 8"/>
          <p:cNvSpPr/>
          <p:nvPr/>
        </p:nvSpPr>
        <p:spPr>
          <a:xfrm>
            <a:off x="1188720" y="2395728"/>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Clean and Process Data</a:t>
            </a:r>
            <a:endParaRPr lang="en-US" sz="1200" dirty="0"/>
          </a:p>
        </p:txBody>
      </p:sp>
      <p:sp>
        <p:nvSpPr>
          <p:cNvPr id="11" name="Shape 9"/>
          <p:cNvSpPr/>
          <p:nvPr/>
        </p:nvSpPr>
        <p:spPr>
          <a:xfrm>
            <a:off x="795528" y="2990088"/>
            <a:ext cx="0" cy="320040"/>
          </a:xfrm>
          <a:prstGeom prst="line">
            <a:avLst/>
          </a:prstGeom>
          <a:noFill/>
          <a:ln w="19050">
            <a:solidFill>
              <a:srgbClr val="E2E7F1"/>
            </a:solidFill>
            <a:prstDash val="solid"/>
          </a:ln>
        </p:spPr>
      </p:sp>
      <p:sp>
        <p:nvSpPr>
          <p:cNvPr id="12" name="Shape 10"/>
          <p:cNvSpPr/>
          <p:nvPr/>
        </p:nvSpPr>
        <p:spPr>
          <a:xfrm>
            <a:off x="544068" y="3369564"/>
            <a:ext cx="502920" cy="502920"/>
          </a:xfrm>
          <a:prstGeom prst="ellipse">
            <a:avLst/>
          </a:prstGeom>
          <a:solidFill>
            <a:srgbClr val="3A6FF0"/>
          </a:solidFill>
          <a:ln/>
        </p:spPr>
      </p:sp>
      <p:sp>
        <p:nvSpPr>
          <p:cNvPr id="13" name="Text 11"/>
          <p:cNvSpPr/>
          <p:nvPr/>
        </p:nvSpPr>
        <p:spPr>
          <a:xfrm>
            <a:off x="544068" y="3369564"/>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3</a:t>
            </a:r>
            <a:endParaRPr lang="en-US" sz="1430" dirty="0"/>
          </a:p>
        </p:txBody>
      </p:sp>
      <p:sp>
        <p:nvSpPr>
          <p:cNvPr id="14" name="Text 12"/>
          <p:cNvSpPr/>
          <p:nvPr/>
        </p:nvSpPr>
        <p:spPr>
          <a:xfrm>
            <a:off x="1188720" y="3328416"/>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Generate Customer Features</a:t>
            </a:r>
            <a:endParaRPr lang="en-US" sz="1200" dirty="0"/>
          </a:p>
        </p:txBody>
      </p:sp>
      <p:sp>
        <p:nvSpPr>
          <p:cNvPr id="15" name="Shape 13"/>
          <p:cNvSpPr/>
          <p:nvPr/>
        </p:nvSpPr>
        <p:spPr>
          <a:xfrm>
            <a:off x="795528" y="3922776"/>
            <a:ext cx="0" cy="320040"/>
          </a:xfrm>
          <a:prstGeom prst="line">
            <a:avLst/>
          </a:prstGeom>
          <a:noFill/>
          <a:ln w="19050">
            <a:solidFill>
              <a:srgbClr val="E2E7F1"/>
            </a:solidFill>
            <a:prstDash val="solid"/>
          </a:ln>
        </p:spPr>
      </p:sp>
      <p:sp>
        <p:nvSpPr>
          <p:cNvPr id="16" name="Shape 14"/>
          <p:cNvSpPr/>
          <p:nvPr/>
        </p:nvSpPr>
        <p:spPr>
          <a:xfrm>
            <a:off x="544068" y="4302252"/>
            <a:ext cx="502920" cy="502920"/>
          </a:xfrm>
          <a:prstGeom prst="ellipse">
            <a:avLst/>
          </a:prstGeom>
          <a:solidFill>
            <a:srgbClr val="3A6FF0"/>
          </a:solidFill>
          <a:ln/>
        </p:spPr>
      </p:sp>
      <p:sp>
        <p:nvSpPr>
          <p:cNvPr id="17" name="Text 15"/>
          <p:cNvSpPr/>
          <p:nvPr/>
        </p:nvSpPr>
        <p:spPr>
          <a:xfrm>
            <a:off x="544068" y="4302252"/>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4</a:t>
            </a:r>
            <a:endParaRPr lang="en-US" sz="1430" dirty="0"/>
          </a:p>
        </p:txBody>
      </p:sp>
      <p:sp>
        <p:nvSpPr>
          <p:cNvPr id="18" name="Text 16"/>
          <p:cNvSpPr/>
          <p:nvPr/>
        </p:nvSpPr>
        <p:spPr>
          <a:xfrm>
            <a:off x="1188720" y="4261104"/>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Calculate Behavioral Risk</a:t>
            </a:r>
            <a:endParaRPr lang="en-US" sz="1200" dirty="0"/>
          </a:p>
        </p:txBody>
      </p:sp>
      <p:sp>
        <p:nvSpPr>
          <p:cNvPr id="19" name="Shape 17"/>
          <p:cNvSpPr/>
          <p:nvPr/>
        </p:nvSpPr>
        <p:spPr>
          <a:xfrm>
            <a:off x="795528" y="4855464"/>
            <a:ext cx="0" cy="320040"/>
          </a:xfrm>
          <a:prstGeom prst="line">
            <a:avLst/>
          </a:prstGeom>
          <a:noFill/>
          <a:ln w="19050">
            <a:solidFill>
              <a:srgbClr val="E2E7F1"/>
            </a:solidFill>
            <a:prstDash val="solid"/>
          </a:ln>
        </p:spPr>
      </p:sp>
      <p:sp>
        <p:nvSpPr>
          <p:cNvPr id="20" name="Shape 18"/>
          <p:cNvSpPr/>
          <p:nvPr/>
        </p:nvSpPr>
        <p:spPr>
          <a:xfrm>
            <a:off x="544068" y="5234940"/>
            <a:ext cx="502920" cy="502920"/>
          </a:xfrm>
          <a:prstGeom prst="ellipse">
            <a:avLst/>
          </a:prstGeom>
          <a:solidFill>
            <a:srgbClr val="3A6FF0"/>
          </a:solidFill>
          <a:ln/>
        </p:spPr>
      </p:sp>
      <p:sp>
        <p:nvSpPr>
          <p:cNvPr id="21" name="Text 19"/>
          <p:cNvSpPr/>
          <p:nvPr/>
        </p:nvSpPr>
        <p:spPr>
          <a:xfrm>
            <a:off x="544068" y="5234940"/>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5</a:t>
            </a:r>
            <a:endParaRPr lang="en-US" sz="1430" dirty="0"/>
          </a:p>
        </p:txBody>
      </p:sp>
      <p:sp>
        <p:nvSpPr>
          <p:cNvPr id="22" name="Text 20"/>
          <p:cNvSpPr/>
          <p:nvPr/>
        </p:nvSpPr>
        <p:spPr>
          <a:xfrm>
            <a:off x="1188720" y="5193792"/>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Train Machine Learning Model</a:t>
            </a:r>
            <a:endParaRPr lang="en-US" sz="1200" dirty="0"/>
          </a:p>
        </p:txBody>
      </p:sp>
      <p:sp>
        <p:nvSpPr>
          <p:cNvPr id="23" name="Shape 21"/>
          <p:cNvSpPr/>
          <p:nvPr/>
        </p:nvSpPr>
        <p:spPr>
          <a:xfrm>
            <a:off x="4338828" y="1504188"/>
            <a:ext cx="502920" cy="502920"/>
          </a:xfrm>
          <a:prstGeom prst="ellipse">
            <a:avLst/>
          </a:prstGeom>
          <a:solidFill>
            <a:srgbClr val="3A6FF0"/>
          </a:solidFill>
          <a:ln/>
        </p:spPr>
      </p:sp>
      <p:sp>
        <p:nvSpPr>
          <p:cNvPr id="24" name="Text 22"/>
          <p:cNvSpPr/>
          <p:nvPr/>
        </p:nvSpPr>
        <p:spPr>
          <a:xfrm>
            <a:off x="4338828" y="1504188"/>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6</a:t>
            </a:r>
            <a:endParaRPr lang="en-US" sz="1430" dirty="0"/>
          </a:p>
        </p:txBody>
      </p:sp>
      <p:sp>
        <p:nvSpPr>
          <p:cNvPr id="25" name="Text 23"/>
          <p:cNvSpPr/>
          <p:nvPr/>
        </p:nvSpPr>
        <p:spPr>
          <a:xfrm>
            <a:off x="4983480" y="1463040"/>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Generate ML Predictions</a:t>
            </a:r>
            <a:endParaRPr lang="en-US" sz="1200" dirty="0"/>
          </a:p>
        </p:txBody>
      </p:sp>
      <p:sp>
        <p:nvSpPr>
          <p:cNvPr id="26" name="Shape 24"/>
          <p:cNvSpPr/>
          <p:nvPr/>
        </p:nvSpPr>
        <p:spPr>
          <a:xfrm>
            <a:off x="4590288" y="2057400"/>
            <a:ext cx="0" cy="320040"/>
          </a:xfrm>
          <a:prstGeom prst="line">
            <a:avLst/>
          </a:prstGeom>
          <a:noFill/>
          <a:ln w="19050">
            <a:solidFill>
              <a:srgbClr val="E2E7F1"/>
            </a:solidFill>
            <a:prstDash val="solid"/>
          </a:ln>
        </p:spPr>
      </p:sp>
      <p:sp>
        <p:nvSpPr>
          <p:cNvPr id="27" name="Shape 25"/>
          <p:cNvSpPr/>
          <p:nvPr/>
        </p:nvSpPr>
        <p:spPr>
          <a:xfrm>
            <a:off x="4338828" y="2436876"/>
            <a:ext cx="502920" cy="502920"/>
          </a:xfrm>
          <a:prstGeom prst="ellipse">
            <a:avLst/>
          </a:prstGeom>
          <a:solidFill>
            <a:srgbClr val="3A6FF0"/>
          </a:solidFill>
          <a:ln/>
        </p:spPr>
      </p:sp>
      <p:sp>
        <p:nvSpPr>
          <p:cNvPr id="28" name="Text 26"/>
          <p:cNvSpPr/>
          <p:nvPr/>
        </p:nvSpPr>
        <p:spPr>
          <a:xfrm>
            <a:off x="4338828" y="2436876"/>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7</a:t>
            </a:r>
            <a:endParaRPr lang="en-US" sz="1430" dirty="0"/>
          </a:p>
        </p:txBody>
      </p:sp>
      <p:sp>
        <p:nvSpPr>
          <p:cNvPr id="29" name="Text 27"/>
          <p:cNvSpPr/>
          <p:nvPr/>
        </p:nvSpPr>
        <p:spPr>
          <a:xfrm>
            <a:off x="4983480" y="2395728"/>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Build Fraud Graph</a:t>
            </a:r>
            <a:endParaRPr lang="en-US" sz="1200" dirty="0"/>
          </a:p>
        </p:txBody>
      </p:sp>
      <p:sp>
        <p:nvSpPr>
          <p:cNvPr id="30" name="Shape 28"/>
          <p:cNvSpPr/>
          <p:nvPr/>
        </p:nvSpPr>
        <p:spPr>
          <a:xfrm>
            <a:off x="4590288" y="2990088"/>
            <a:ext cx="0" cy="320040"/>
          </a:xfrm>
          <a:prstGeom prst="line">
            <a:avLst/>
          </a:prstGeom>
          <a:noFill/>
          <a:ln w="19050">
            <a:solidFill>
              <a:srgbClr val="E2E7F1"/>
            </a:solidFill>
            <a:prstDash val="solid"/>
          </a:ln>
        </p:spPr>
      </p:sp>
      <p:sp>
        <p:nvSpPr>
          <p:cNvPr id="31" name="Shape 29"/>
          <p:cNvSpPr/>
          <p:nvPr/>
        </p:nvSpPr>
        <p:spPr>
          <a:xfrm>
            <a:off x="4338828" y="3369564"/>
            <a:ext cx="502920" cy="502920"/>
          </a:xfrm>
          <a:prstGeom prst="ellipse">
            <a:avLst/>
          </a:prstGeom>
          <a:solidFill>
            <a:srgbClr val="3A6FF0"/>
          </a:solidFill>
          <a:ln/>
        </p:spPr>
      </p:sp>
      <p:sp>
        <p:nvSpPr>
          <p:cNvPr id="32" name="Text 30"/>
          <p:cNvSpPr/>
          <p:nvPr/>
        </p:nvSpPr>
        <p:spPr>
          <a:xfrm>
            <a:off x="4338828" y="3369564"/>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8</a:t>
            </a:r>
            <a:endParaRPr lang="en-US" sz="1430" dirty="0"/>
          </a:p>
        </p:txBody>
      </p:sp>
      <p:sp>
        <p:nvSpPr>
          <p:cNvPr id="33" name="Text 31"/>
          <p:cNvSpPr/>
          <p:nvPr/>
        </p:nvSpPr>
        <p:spPr>
          <a:xfrm>
            <a:off x="4983480" y="3328416"/>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Calculate Graph Risk</a:t>
            </a:r>
            <a:endParaRPr lang="en-US" sz="1200" dirty="0"/>
          </a:p>
        </p:txBody>
      </p:sp>
      <p:sp>
        <p:nvSpPr>
          <p:cNvPr id="34" name="Shape 32"/>
          <p:cNvSpPr/>
          <p:nvPr/>
        </p:nvSpPr>
        <p:spPr>
          <a:xfrm>
            <a:off x="4590288" y="3922776"/>
            <a:ext cx="0" cy="320040"/>
          </a:xfrm>
          <a:prstGeom prst="line">
            <a:avLst/>
          </a:prstGeom>
          <a:noFill/>
          <a:ln w="19050">
            <a:solidFill>
              <a:srgbClr val="E2E7F1"/>
            </a:solidFill>
            <a:prstDash val="solid"/>
          </a:ln>
        </p:spPr>
      </p:sp>
      <p:sp>
        <p:nvSpPr>
          <p:cNvPr id="35" name="Shape 33"/>
          <p:cNvSpPr/>
          <p:nvPr/>
        </p:nvSpPr>
        <p:spPr>
          <a:xfrm>
            <a:off x="4338828" y="4302252"/>
            <a:ext cx="502920" cy="502920"/>
          </a:xfrm>
          <a:prstGeom prst="ellipse">
            <a:avLst/>
          </a:prstGeom>
          <a:solidFill>
            <a:srgbClr val="3A6FF0"/>
          </a:solidFill>
          <a:ln/>
        </p:spPr>
      </p:sp>
      <p:sp>
        <p:nvSpPr>
          <p:cNvPr id="36" name="Text 34"/>
          <p:cNvSpPr/>
          <p:nvPr/>
        </p:nvSpPr>
        <p:spPr>
          <a:xfrm>
            <a:off x="4338828" y="4302252"/>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9</a:t>
            </a:r>
            <a:endParaRPr lang="en-US" sz="1430" dirty="0"/>
          </a:p>
        </p:txBody>
      </p:sp>
      <p:sp>
        <p:nvSpPr>
          <p:cNvPr id="37" name="Text 35"/>
          <p:cNvSpPr/>
          <p:nvPr/>
        </p:nvSpPr>
        <p:spPr>
          <a:xfrm>
            <a:off x="4983480" y="4261104"/>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Detect Connected Fraud Rings</a:t>
            </a:r>
            <a:endParaRPr lang="en-US" sz="1200" dirty="0"/>
          </a:p>
        </p:txBody>
      </p:sp>
      <p:sp>
        <p:nvSpPr>
          <p:cNvPr id="38" name="Shape 36"/>
          <p:cNvSpPr/>
          <p:nvPr/>
        </p:nvSpPr>
        <p:spPr>
          <a:xfrm>
            <a:off x="4590288" y="4855464"/>
            <a:ext cx="0" cy="320040"/>
          </a:xfrm>
          <a:prstGeom prst="line">
            <a:avLst/>
          </a:prstGeom>
          <a:noFill/>
          <a:ln w="19050">
            <a:solidFill>
              <a:srgbClr val="E2E7F1"/>
            </a:solidFill>
            <a:prstDash val="solid"/>
          </a:ln>
        </p:spPr>
      </p:sp>
      <p:sp>
        <p:nvSpPr>
          <p:cNvPr id="39" name="Shape 37"/>
          <p:cNvSpPr/>
          <p:nvPr/>
        </p:nvSpPr>
        <p:spPr>
          <a:xfrm>
            <a:off x="4338828" y="5234940"/>
            <a:ext cx="502920" cy="502920"/>
          </a:xfrm>
          <a:prstGeom prst="ellipse">
            <a:avLst/>
          </a:prstGeom>
          <a:solidFill>
            <a:srgbClr val="3A6FF0"/>
          </a:solidFill>
          <a:ln/>
        </p:spPr>
      </p:sp>
      <p:sp>
        <p:nvSpPr>
          <p:cNvPr id="40" name="Text 38"/>
          <p:cNvSpPr/>
          <p:nvPr/>
        </p:nvSpPr>
        <p:spPr>
          <a:xfrm>
            <a:off x="4338828" y="5234940"/>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10</a:t>
            </a:r>
            <a:endParaRPr lang="en-US" sz="1430" dirty="0"/>
          </a:p>
        </p:txBody>
      </p:sp>
      <p:sp>
        <p:nvSpPr>
          <p:cNvPr id="41" name="Text 39"/>
          <p:cNvSpPr/>
          <p:nvPr/>
        </p:nvSpPr>
        <p:spPr>
          <a:xfrm>
            <a:off x="4983480" y="5193792"/>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Classify Fraud Ring Type</a:t>
            </a:r>
            <a:endParaRPr lang="en-US" sz="1200" dirty="0"/>
          </a:p>
        </p:txBody>
      </p:sp>
      <p:sp>
        <p:nvSpPr>
          <p:cNvPr id="42" name="Shape 40"/>
          <p:cNvSpPr/>
          <p:nvPr/>
        </p:nvSpPr>
        <p:spPr>
          <a:xfrm>
            <a:off x="8133588" y="1504188"/>
            <a:ext cx="502920" cy="502920"/>
          </a:xfrm>
          <a:prstGeom prst="ellipse">
            <a:avLst/>
          </a:prstGeom>
          <a:solidFill>
            <a:srgbClr val="3A6FF0"/>
          </a:solidFill>
          <a:ln/>
        </p:spPr>
      </p:sp>
      <p:sp>
        <p:nvSpPr>
          <p:cNvPr id="43" name="Text 41"/>
          <p:cNvSpPr/>
          <p:nvPr/>
        </p:nvSpPr>
        <p:spPr>
          <a:xfrm>
            <a:off x="8133588" y="1504188"/>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11</a:t>
            </a:r>
            <a:endParaRPr lang="en-US" sz="1430" dirty="0"/>
          </a:p>
        </p:txBody>
      </p:sp>
      <p:sp>
        <p:nvSpPr>
          <p:cNvPr id="44" name="Text 42"/>
          <p:cNvSpPr/>
          <p:nvPr/>
        </p:nvSpPr>
        <p:spPr>
          <a:xfrm>
            <a:off x="8778240" y="1463040"/>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Combine Risk Scores</a:t>
            </a:r>
            <a:endParaRPr lang="en-US" sz="1200" dirty="0"/>
          </a:p>
        </p:txBody>
      </p:sp>
      <p:sp>
        <p:nvSpPr>
          <p:cNvPr id="45" name="Shape 43"/>
          <p:cNvSpPr/>
          <p:nvPr/>
        </p:nvSpPr>
        <p:spPr>
          <a:xfrm>
            <a:off x="8385048" y="2057400"/>
            <a:ext cx="0" cy="320040"/>
          </a:xfrm>
          <a:prstGeom prst="line">
            <a:avLst/>
          </a:prstGeom>
          <a:noFill/>
          <a:ln w="19050">
            <a:solidFill>
              <a:srgbClr val="E2E7F1"/>
            </a:solidFill>
            <a:prstDash val="solid"/>
          </a:ln>
        </p:spPr>
      </p:sp>
      <p:sp>
        <p:nvSpPr>
          <p:cNvPr id="46" name="Shape 44"/>
          <p:cNvSpPr/>
          <p:nvPr/>
        </p:nvSpPr>
        <p:spPr>
          <a:xfrm>
            <a:off x="8133588" y="2436876"/>
            <a:ext cx="502920" cy="502920"/>
          </a:xfrm>
          <a:prstGeom prst="ellipse">
            <a:avLst/>
          </a:prstGeom>
          <a:solidFill>
            <a:srgbClr val="3A6FF0"/>
          </a:solidFill>
          <a:ln/>
        </p:spPr>
      </p:sp>
      <p:sp>
        <p:nvSpPr>
          <p:cNvPr id="47" name="Text 45"/>
          <p:cNvSpPr/>
          <p:nvPr/>
        </p:nvSpPr>
        <p:spPr>
          <a:xfrm>
            <a:off x="8133588" y="2436876"/>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12</a:t>
            </a:r>
            <a:endParaRPr lang="en-US" sz="1430" dirty="0"/>
          </a:p>
        </p:txBody>
      </p:sp>
      <p:sp>
        <p:nvSpPr>
          <p:cNvPr id="48" name="Text 46"/>
          <p:cNvSpPr/>
          <p:nvPr/>
        </p:nvSpPr>
        <p:spPr>
          <a:xfrm>
            <a:off x="8778240" y="2395728"/>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Generate Final Risk Level</a:t>
            </a:r>
            <a:endParaRPr lang="en-US" sz="1200" dirty="0"/>
          </a:p>
        </p:txBody>
      </p:sp>
      <p:sp>
        <p:nvSpPr>
          <p:cNvPr id="49" name="Shape 47"/>
          <p:cNvSpPr/>
          <p:nvPr/>
        </p:nvSpPr>
        <p:spPr>
          <a:xfrm>
            <a:off x="8385048" y="2990088"/>
            <a:ext cx="0" cy="320040"/>
          </a:xfrm>
          <a:prstGeom prst="line">
            <a:avLst/>
          </a:prstGeom>
          <a:noFill/>
          <a:ln w="19050">
            <a:solidFill>
              <a:srgbClr val="E2E7F1"/>
            </a:solidFill>
            <a:prstDash val="solid"/>
          </a:ln>
        </p:spPr>
      </p:sp>
      <p:sp>
        <p:nvSpPr>
          <p:cNvPr id="50" name="Shape 48"/>
          <p:cNvSpPr/>
          <p:nvPr/>
        </p:nvSpPr>
        <p:spPr>
          <a:xfrm>
            <a:off x="8133588" y="3369564"/>
            <a:ext cx="502920" cy="502920"/>
          </a:xfrm>
          <a:prstGeom prst="ellipse">
            <a:avLst/>
          </a:prstGeom>
          <a:solidFill>
            <a:srgbClr val="3A6FF0"/>
          </a:solidFill>
          <a:ln/>
        </p:spPr>
      </p:sp>
      <p:sp>
        <p:nvSpPr>
          <p:cNvPr id="51" name="Text 49"/>
          <p:cNvSpPr/>
          <p:nvPr/>
        </p:nvSpPr>
        <p:spPr>
          <a:xfrm>
            <a:off x="8133588" y="3369564"/>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13</a:t>
            </a:r>
            <a:endParaRPr lang="en-US" sz="1430" dirty="0"/>
          </a:p>
        </p:txBody>
      </p:sp>
      <p:sp>
        <p:nvSpPr>
          <p:cNvPr id="52" name="Text 50"/>
          <p:cNvSpPr/>
          <p:nvPr/>
        </p:nvSpPr>
        <p:spPr>
          <a:xfrm>
            <a:off x="8778240" y="3328416"/>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Expose Results Using FastAPI</a:t>
            </a:r>
            <a:endParaRPr lang="en-US" sz="1200" dirty="0"/>
          </a:p>
        </p:txBody>
      </p:sp>
      <p:sp>
        <p:nvSpPr>
          <p:cNvPr id="53" name="Shape 51"/>
          <p:cNvSpPr/>
          <p:nvPr/>
        </p:nvSpPr>
        <p:spPr>
          <a:xfrm>
            <a:off x="8385048" y="3922776"/>
            <a:ext cx="0" cy="320040"/>
          </a:xfrm>
          <a:prstGeom prst="line">
            <a:avLst/>
          </a:prstGeom>
          <a:noFill/>
          <a:ln w="19050">
            <a:solidFill>
              <a:srgbClr val="E2E7F1"/>
            </a:solidFill>
            <a:prstDash val="solid"/>
          </a:ln>
        </p:spPr>
      </p:sp>
      <p:sp>
        <p:nvSpPr>
          <p:cNvPr id="54" name="Shape 52"/>
          <p:cNvSpPr/>
          <p:nvPr/>
        </p:nvSpPr>
        <p:spPr>
          <a:xfrm>
            <a:off x="8133588" y="4302252"/>
            <a:ext cx="502920" cy="502920"/>
          </a:xfrm>
          <a:prstGeom prst="ellipse">
            <a:avLst/>
          </a:prstGeom>
          <a:solidFill>
            <a:srgbClr val="3A6FF0"/>
          </a:solidFill>
          <a:ln/>
        </p:spPr>
      </p:sp>
      <p:sp>
        <p:nvSpPr>
          <p:cNvPr id="55" name="Text 53"/>
          <p:cNvSpPr/>
          <p:nvPr/>
        </p:nvSpPr>
        <p:spPr>
          <a:xfrm>
            <a:off x="8133588" y="4302252"/>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14</a:t>
            </a:r>
            <a:endParaRPr lang="en-US" sz="1430" dirty="0"/>
          </a:p>
        </p:txBody>
      </p:sp>
      <p:sp>
        <p:nvSpPr>
          <p:cNvPr id="56" name="Text 54"/>
          <p:cNvSpPr/>
          <p:nvPr/>
        </p:nvSpPr>
        <p:spPr>
          <a:xfrm>
            <a:off x="8778240" y="4261104"/>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Visualize Results Using Streamlit</a:t>
            </a:r>
            <a:endParaRPr lang="en-US" sz="1200" dirty="0"/>
          </a:p>
        </p:txBody>
      </p:sp>
      <p:sp>
        <p:nvSpPr>
          <p:cNvPr id="57" name="Shape 55"/>
          <p:cNvSpPr/>
          <p:nvPr/>
        </p:nvSpPr>
        <p:spPr>
          <a:xfrm>
            <a:off x="8385048" y="4855464"/>
            <a:ext cx="0" cy="320040"/>
          </a:xfrm>
          <a:prstGeom prst="line">
            <a:avLst/>
          </a:prstGeom>
          <a:noFill/>
          <a:ln w="19050">
            <a:solidFill>
              <a:srgbClr val="E2E7F1"/>
            </a:solidFill>
            <a:prstDash val="solid"/>
          </a:ln>
        </p:spPr>
      </p:sp>
      <p:sp>
        <p:nvSpPr>
          <p:cNvPr id="58" name="Shape 56"/>
          <p:cNvSpPr/>
          <p:nvPr/>
        </p:nvSpPr>
        <p:spPr>
          <a:xfrm>
            <a:off x="8133588" y="5234940"/>
            <a:ext cx="502920" cy="502920"/>
          </a:xfrm>
          <a:prstGeom prst="ellipse">
            <a:avLst/>
          </a:prstGeom>
          <a:solidFill>
            <a:srgbClr val="3A6FF0"/>
          </a:solidFill>
          <a:ln/>
        </p:spPr>
      </p:sp>
      <p:sp>
        <p:nvSpPr>
          <p:cNvPr id="59" name="Text 57"/>
          <p:cNvSpPr/>
          <p:nvPr/>
        </p:nvSpPr>
        <p:spPr>
          <a:xfrm>
            <a:off x="8133588" y="5234940"/>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15</a:t>
            </a:r>
            <a:endParaRPr lang="en-US" sz="1430" dirty="0"/>
          </a:p>
        </p:txBody>
      </p:sp>
      <p:sp>
        <p:nvSpPr>
          <p:cNvPr id="60" name="Text 58"/>
          <p:cNvSpPr/>
          <p:nvPr/>
        </p:nvSpPr>
        <p:spPr>
          <a:xfrm>
            <a:off x="8778240" y="5193792"/>
            <a:ext cx="2971800" cy="594360"/>
          </a:xfrm>
          <a:prstGeom prst="rect">
            <a:avLst/>
          </a:prstGeom>
          <a:noFill/>
          <a:ln/>
        </p:spPr>
        <p:txBody>
          <a:bodyPr wrap="square"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Containerize Using Docker</a:t>
            </a:r>
            <a:endParaRPr lang="en-US" sz="1200" dirty="0"/>
          </a:p>
        </p:txBody>
      </p:sp>
      <p:sp>
        <p:nvSpPr>
          <p:cNvPr id="61" name="Text 59"/>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28 · PROJECT WORKFLOW</a:t>
            </a:r>
            <a:endParaRPr lang="en-US" sz="900" dirty="0"/>
          </a:p>
        </p:txBody>
      </p:sp>
      <p:sp>
        <p:nvSpPr>
          <p:cNvPr id="62" name="Text 60"/>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63" name="Text 61"/>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29–30</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Functional &amp; Non-Functional Requirements</a:t>
            </a:r>
            <a:endParaRPr lang="en-US" sz="3000" dirty="0"/>
          </a:p>
        </p:txBody>
      </p:sp>
      <p:sp>
        <p:nvSpPr>
          <p:cNvPr id="4" name="Shape 2"/>
          <p:cNvSpPr/>
          <p:nvPr/>
        </p:nvSpPr>
        <p:spPr>
          <a:xfrm>
            <a:off x="502920" y="1417320"/>
            <a:ext cx="5623560" cy="4754880"/>
          </a:xfrm>
          <a:prstGeom prst="roundRect">
            <a:avLst>
              <a:gd name="adj" fmla="val 1538"/>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Text 3"/>
          <p:cNvSpPr/>
          <p:nvPr/>
        </p:nvSpPr>
        <p:spPr>
          <a:xfrm>
            <a:off x="777240" y="1645920"/>
            <a:ext cx="5029200" cy="320040"/>
          </a:xfrm>
          <a:prstGeom prst="rect">
            <a:avLst/>
          </a:prstGeom>
          <a:noFill/>
          <a:ln/>
        </p:spPr>
        <p:txBody>
          <a:bodyPr wrap="square" rtlCol="0" anchor="ctr"/>
          <a:lstStyle/>
          <a:p>
            <a:pPr indent="0" marL="0">
              <a:buNone/>
            </a:pPr>
            <a:r>
              <a:rPr lang="en-US" sz="1300" b="1" spc="100" kern="0" dirty="0">
                <a:solidFill>
                  <a:srgbClr val="3A6FF0"/>
                </a:solidFill>
                <a:latin typeface="Calibri" pitchFamily="34" charset="0"/>
                <a:ea typeface="Calibri" pitchFamily="34" charset="-122"/>
                <a:cs typeface="Calibri" pitchFamily="34" charset="-120"/>
              </a:rPr>
              <a:t>FUNCTIONAL REQUIREMENTS</a:t>
            </a:r>
            <a:endParaRPr lang="en-US" sz="1300" dirty="0"/>
          </a:p>
        </p:txBody>
      </p:sp>
      <p:sp>
        <p:nvSpPr>
          <p:cNvPr id="6" name="Shape 4"/>
          <p:cNvSpPr/>
          <p:nvPr/>
        </p:nvSpPr>
        <p:spPr>
          <a:xfrm>
            <a:off x="822960" y="2157984"/>
            <a:ext cx="109728" cy="109728"/>
          </a:xfrm>
          <a:prstGeom prst="ellipse">
            <a:avLst/>
          </a:prstGeom>
          <a:solidFill>
            <a:srgbClr val="3A6FF0"/>
          </a:solidFill>
          <a:ln/>
        </p:spPr>
      </p:sp>
      <p:sp>
        <p:nvSpPr>
          <p:cNvPr id="7" name="Text 5"/>
          <p:cNvSpPr/>
          <p:nvPr/>
        </p:nvSpPr>
        <p:spPr>
          <a:xfrm>
            <a:off x="1051560" y="206654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Load customer data</a:t>
            </a:r>
            <a:endParaRPr lang="en-US" sz="1100" dirty="0"/>
          </a:p>
        </p:txBody>
      </p:sp>
      <p:sp>
        <p:nvSpPr>
          <p:cNvPr id="8" name="Shape 6"/>
          <p:cNvSpPr/>
          <p:nvPr/>
        </p:nvSpPr>
        <p:spPr>
          <a:xfrm>
            <a:off x="822960" y="2523744"/>
            <a:ext cx="109728" cy="109728"/>
          </a:xfrm>
          <a:prstGeom prst="ellipse">
            <a:avLst/>
          </a:prstGeom>
          <a:solidFill>
            <a:srgbClr val="3A6FF0"/>
          </a:solidFill>
          <a:ln/>
        </p:spPr>
      </p:sp>
      <p:sp>
        <p:nvSpPr>
          <p:cNvPr id="9" name="Text 7"/>
          <p:cNvSpPr/>
          <p:nvPr/>
        </p:nvSpPr>
        <p:spPr>
          <a:xfrm>
            <a:off x="1051560" y="243230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Process risk features</a:t>
            </a:r>
            <a:endParaRPr lang="en-US" sz="1100" dirty="0"/>
          </a:p>
        </p:txBody>
      </p:sp>
      <p:sp>
        <p:nvSpPr>
          <p:cNvPr id="10" name="Shape 8"/>
          <p:cNvSpPr/>
          <p:nvPr/>
        </p:nvSpPr>
        <p:spPr>
          <a:xfrm>
            <a:off x="822960" y="2889504"/>
            <a:ext cx="109728" cy="109728"/>
          </a:xfrm>
          <a:prstGeom prst="ellipse">
            <a:avLst/>
          </a:prstGeom>
          <a:solidFill>
            <a:srgbClr val="3A6FF0"/>
          </a:solidFill>
          <a:ln/>
        </p:spPr>
      </p:sp>
      <p:sp>
        <p:nvSpPr>
          <p:cNvPr id="11" name="Text 9"/>
          <p:cNvSpPr/>
          <p:nvPr/>
        </p:nvSpPr>
        <p:spPr>
          <a:xfrm>
            <a:off x="1051560" y="279806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Analyze transaction behavior</a:t>
            </a:r>
            <a:endParaRPr lang="en-US" sz="1100" dirty="0"/>
          </a:p>
        </p:txBody>
      </p:sp>
      <p:sp>
        <p:nvSpPr>
          <p:cNvPr id="12" name="Shape 10"/>
          <p:cNvSpPr/>
          <p:nvPr/>
        </p:nvSpPr>
        <p:spPr>
          <a:xfrm>
            <a:off x="822960" y="3255264"/>
            <a:ext cx="109728" cy="109728"/>
          </a:xfrm>
          <a:prstGeom prst="ellipse">
            <a:avLst/>
          </a:prstGeom>
          <a:solidFill>
            <a:srgbClr val="3A6FF0"/>
          </a:solidFill>
          <a:ln/>
        </p:spPr>
      </p:sp>
      <p:sp>
        <p:nvSpPr>
          <p:cNvPr id="13" name="Text 11"/>
          <p:cNvSpPr/>
          <p:nvPr/>
        </p:nvSpPr>
        <p:spPr>
          <a:xfrm>
            <a:off x="1051560" y="316382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Generate ML predictions</a:t>
            </a:r>
            <a:endParaRPr lang="en-US" sz="1100" dirty="0"/>
          </a:p>
        </p:txBody>
      </p:sp>
      <p:sp>
        <p:nvSpPr>
          <p:cNvPr id="14" name="Shape 12"/>
          <p:cNvSpPr/>
          <p:nvPr/>
        </p:nvSpPr>
        <p:spPr>
          <a:xfrm>
            <a:off x="822960" y="3621024"/>
            <a:ext cx="109728" cy="109728"/>
          </a:xfrm>
          <a:prstGeom prst="ellipse">
            <a:avLst/>
          </a:prstGeom>
          <a:solidFill>
            <a:srgbClr val="3A6FF0"/>
          </a:solidFill>
          <a:ln/>
        </p:spPr>
      </p:sp>
      <p:sp>
        <p:nvSpPr>
          <p:cNvPr id="15" name="Text 13"/>
          <p:cNvSpPr/>
          <p:nvPr/>
        </p:nvSpPr>
        <p:spPr>
          <a:xfrm>
            <a:off x="1051560" y="352958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Build fraud relationship graphs</a:t>
            </a:r>
            <a:endParaRPr lang="en-US" sz="1100" dirty="0"/>
          </a:p>
        </p:txBody>
      </p:sp>
      <p:sp>
        <p:nvSpPr>
          <p:cNvPr id="16" name="Shape 14"/>
          <p:cNvSpPr/>
          <p:nvPr/>
        </p:nvSpPr>
        <p:spPr>
          <a:xfrm>
            <a:off x="822960" y="3986784"/>
            <a:ext cx="109728" cy="109728"/>
          </a:xfrm>
          <a:prstGeom prst="ellipse">
            <a:avLst/>
          </a:prstGeom>
          <a:solidFill>
            <a:srgbClr val="3A6FF0"/>
          </a:solidFill>
          <a:ln/>
        </p:spPr>
      </p:sp>
      <p:sp>
        <p:nvSpPr>
          <p:cNvPr id="17" name="Text 15"/>
          <p:cNvSpPr/>
          <p:nvPr/>
        </p:nvSpPr>
        <p:spPr>
          <a:xfrm>
            <a:off x="1051560" y="389534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Detect fraud rings</a:t>
            </a:r>
            <a:endParaRPr lang="en-US" sz="1100" dirty="0"/>
          </a:p>
        </p:txBody>
      </p:sp>
      <p:sp>
        <p:nvSpPr>
          <p:cNvPr id="18" name="Shape 16"/>
          <p:cNvSpPr/>
          <p:nvPr/>
        </p:nvSpPr>
        <p:spPr>
          <a:xfrm>
            <a:off x="822960" y="4352544"/>
            <a:ext cx="109728" cy="109728"/>
          </a:xfrm>
          <a:prstGeom prst="ellipse">
            <a:avLst/>
          </a:prstGeom>
          <a:solidFill>
            <a:srgbClr val="3A6FF0"/>
          </a:solidFill>
          <a:ln/>
        </p:spPr>
      </p:sp>
      <p:sp>
        <p:nvSpPr>
          <p:cNvPr id="19" name="Text 17"/>
          <p:cNvSpPr/>
          <p:nvPr/>
        </p:nvSpPr>
        <p:spPr>
          <a:xfrm>
            <a:off x="1051560" y="426110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Classify fraud patterns</a:t>
            </a:r>
            <a:endParaRPr lang="en-US" sz="1100" dirty="0"/>
          </a:p>
        </p:txBody>
      </p:sp>
      <p:sp>
        <p:nvSpPr>
          <p:cNvPr id="20" name="Shape 18"/>
          <p:cNvSpPr/>
          <p:nvPr/>
        </p:nvSpPr>
        <p:spPr>
          <a:xfrm>
            <a:off x="822960" y="4718304"/>
            <a:ext cx="109728" cy="109728"/>
          </a:xfrm>
          <a:prstGeom prst="ellipse">
            <a:avLst/>
          </a:prstGeom>
          <a:solidFill>
            <a:srgbClr val="3A6FF0"/>
          </a:solidFill>
          <a:ln/>
        </p:spPr>
      </p:sp>
      <p:sp>
        <p:nvSpPr>
          <p:cNvPr id="21" name="Text 19"/>
          <p:cNvSpPr/>
          <p:nvPr/>
        </p:nvSpPr>
        <p:spPr>
          <a:xfrm>
            <a:off x="1051560" y="462686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Generate final risk scores</a:t>
            </a:r>
            <a:endParaRPr lang="en-US" sz="1100" dirty="0"/>
          </a:p>
        </p:txBody>
      </p:sp>
      <p:sp>
        <p:nvSpPr>
          <p:cNvPr id="22" name="Shape 20"/>
          <p:cNvSpPr/>
          <p:nvPr/>
        </p:nvSpPr>
        <p:spPr>
          <a:xfrm>
            <a:off x="822960" y="5084064"/>
            <a:ext cx="109728" cy="109728"/>
          </a:xfrm>
          <a:prstGeom prst="ellipse">
            <a:avLst/>
          </a:prstGeom>
          <a:solidFill>
            <a:srgbClr val="3A6FF0"/>
          </a:solidFill>
          <a:ln/>
        </p:spPr>
      </p:sp>
      <p:sp>
        <p:nvSpPr>
          <p:cNvPr id="23" name="Text 21"/>
          <p:cNvSpPr/>
          <p:nvPr/>
        </p:nvSpPr>
        <p:spPr>
          <a:xfrm>
            <a:off x="1051560" y="499262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Provide customer investigation</a:t>
            </a:r>
            <a:endParaRPr lang="en-US" sz="1100" dirty="0"/>
          </a:p>
        </p:txBody>
      </p:sp>
      <p:sp>
        <p:nvSpPr>
          <p:cNvPr id="24" name="Shape 22"/>
          <p:cNvSpPr/>
          <p:nvPr/>
        </p:nvSpPr>
        <p:spPr>
          <a:xfrm>
            <a:off x="822960" y="5449824"/>
            <a:ext cx="109728" cy="109728"/>
          </a:xfrm>
          <a:prstGeom prst="ellipse">
            <a:avLst/>
          </a:prstGeom>
          <a:solidFill>
            <a:srgbClr val="3A6FF0"/>
          </a:solidFill>
          <a:ln/>
        </p:spPr>
      </p:sp>
      <p:sp>
        <p:nvSpPr>
          <p:cNvPr id="25" name="Text 23"/>
          <p:cNvSpPr/>
          <p:nvPr/>
        </p:nvSpPr>
        <p:spPr>
          <a:xfrm>
            <a:off x="1051560" y="535838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Display dashboard analytics</a:t>
            </a:r>
            <a:endParaRPr lang="en-US" sz="1100" dirty="0"/>
          </a:p>
        </p:txBody>
      </p:sp>
      <p:sp>
        <p:nvSpPr>
          <p:cNvPr id="26" name="Shape 24"/>
          <p:cNvSpPr/>
          <p:nvPr/>
        </p:nvSpPr>
        <p:spPr>
          <a:xfrm>
            <a:off x="822960" y="5815584"/>
            <a:ext cx="109728" cy="109728"/>
          </a:xfrm>
          <a:prstGeom prst="ellipse">
            <a:avLst/>
          </a:prstGeom>
          <a:solidFill>
            <a:srgbClr val="3A6FF0"/>
          </a:solidFill>
          <a:ln/>
        </p:spPr>
      </p:sp>
      <p:sp>
        <p:nvSpPr>
          <p:cNvPr id="27" name="Text 25"/>
          <p:cNvSpPr/>
          <p:nvPr/>
        </p:nvSpPr>
        <p:spPr>
          <a:xfrm>
            <a:off x="1051560" y="5724144"/>
            <a:ext cx="4846320" cy="320040"/>
          </a:xfrm>
          <a:prstGeom prst="rect">
            <a:avLst/>
          </a:prstGeom>
          <a:noFill/>
          <a:ln/>
        </p:spPr>
        <p:txBody>
          <a:bodyPr wrap="square" rtlCol="0" anchor="ctr"/>
          <a:lstStyle/>
          <a:p>
            <a:pPr indent="0" marL="0">
              <a:buNone/>
            </a:pPr>
            <a:r>
              <a:rPr lang="en-US" sz="1100" dirty="0">
                <a:solidFill>
                  <a:srgbClr val="16234A"/>
                </a:solidFill>
                <a:latin typeface="Calibri" pitchFamily="34" charset="0"/>
                <a:ea typeface="Calibri" pitchFamily="34" charset="-122"/>
                <a:cs typeface="Calibri" pitchFamily="34" charset="-120"/>
              </a:rPr>
              <a:t>Provide REST API endpoints</a:t>
            </a:r>
            <a:endParaRPr lang="en-US" sz="1100" dirty="0"/>
          </a:p>
        </p:txBody>
      </p:sp>
      <p:sp>
        <p:nvSpPr>
          <p:cNvPr id="28" name="Shape 26"/>
          <p:cNvSpPr/>
          <p:nvPr/>
        </p:nvSpPr>
        <p:spPr>
          <a:xfrm>
            <a:off x="6309360" y="1417320"/>
            <a:ext cx="5349240" cy="4754880"/>
          </a:xfrm>
          <a:prstGeom prst="roundRect">
            <a:avLst>
              <a:gd name="adj" fmla="val 1538"/>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9" name="Text 27"/>
          <p:cNvSpPr/>
          <p:nvPr/>
        </p:nvSpPr>
        <p:spPr>
          <a:xfrm>
            <a:off x="6583680" y="1645920"/>
            <a:ext cx="4846320" cy="320040"/>
          </a:xfrm>
          <a:prstGeom prst="rect">
            <a:avLst/>
          </a:prstGeom>
          <a:noFill/>
          <a:ln/>
        </p:spPr>
        <p:txBody>
          <a:bodyPr wrap="square" rtlCol="0" anchor="ctr"/>
          <a:lstStyle/>
          <a:p>
            <a:pPr indent="0" marL="0">
              <a:buNone/>
            </a:pPr>
            <a:r>
              <a:rPr lang="en-US" sz="1300" b="1" spc="100" kern="0" dirty="0">
                <a:solidFill>
                  <a:srgbClr val="F0A23A"/>
                </a:solidFill>
                <a:latin typeface="Calibri" pitchFamily="34" charset="0"/>
                <a:ea typeface="Calibri" pitchFamily="34" charset="-122"/>
                <a:cs typeface="Calibri" pitchFamily="34" charset="-120"/>
              </a:rPr>
              <a:t>NON-FUNCTIONAL REQUIREMENTS</a:t>
            </a:r>
            <a:endParaRPr lang="en-US" sz="1300" dirty="0"/>
          </a:p>
        </p:txBody>
      </p:sp>
      <p:sp>
        <p:nvSpPr>
          <p:cNvPr id="30" name="Text 28"/>
          <p:cNvSpPr/>
          <p:nvPr/>
        </p:nvSpPr>
        <p:spPr>
          <a:xfrm>
            <a:off x="6583680" y="2103120"/>
            <a:ext cx="484632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Performance</a:t>
            </a:r>
            <a:endParaRPr lang="en-US" sz="1250" dirty="0"/>
          </a:p>
        </p:txBody>
      </p:sp>
      <p:sp>
        <p:nvSpPr>
          <p:cNvPr id="31" name="Text 29"/>
          <p:cNvSpPr/>
          <p:nvPr/>
        </p:nvSpPr>
        <p:spPr>
          <a:xfrm>
            <a:off x="6583680" y="2377440"/>
            <a:ext cx="4846320" cy="365760"/>
          </a:xfrm>
          <a:prstGeom prst="rect">
            <a:avLst/>
          </a:prstGeom>
          <a:noFill/>
          <a:ln/>
        </p:spPr>
        <p:txBody>
          <a:bodyPr wrap="square" rtlCol="0" anchor="ctr"/>
          <a:lstStyle/>
          <a:p>
            <a:pPr indent="0" marL="0">
              <a:buNone/>
            </a:pPr>
            <a:r>
              <a:rPr lang="en-US" sz="1100" dirty="0">
                <a:solidFill>
                  <a:srgbClr val="9FB1D6"/>
                </a:solidFill>
                <a:latin typeface="Calibri" pitchFamily="34" charset="0"/>
                <a:ea typeface="Calibri" pitchFamily="34" charset="-122"/>
                <a:cs typeface="Calibri" pitchFamily="34" charset="-120"/>
              </a:rPr>
              <a:t>Provides quick risk analysis</a:t>
            </a:r>
            <a:endParaRPr lang="en-US" sz="1100" dirty="0"/>
          </a:p>
        </p:txBody>
      </p:sp>
      <p:sp>
        <p:nvSpPr>
          <p:cNvPr id="32" name="Text 30"/>
          <p:cNvSpPr/>
          <p:nvPr/>
        </p:nvSpPr>
        <p:spPr>
          <a:xfrm>
            <a:off x="6583680" y="2788920"/>
            <a:ext cx="484632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Scalability</a:t>
            </a:r>
            <a:endParaRPr lang="en-US" sz="1250" dirty="0"/>
          </a:p>
        </p:txBody>
      </p:sp>
      <p:sp>
        <p:nvSpPr>
          <p:cNvPr id="33" name="Text 31"/>
          <p:cNvSpPr/>
          <p:nvPr/>
        </p:nvSpPr>
        <p:spPr>
          <a:xfrm>
            <a:off x="6583680" y="3063240"/>
            <a:ext cx="4846320" cy="365760"/>
          </a:xfrm>
          <a:prstGeom prst="rect">
            <a:avLst/>
          </a:prstGeom>
          <a:noFill/>
          <a:ln/>
        </p:spPr>
        <p:txBody>
          <a:bodyPr wrap="square" rtlCol="0" anchor="ctr"/>
          <a:lstStyle/>
          <a:p>
            <a:pPr indent="0" marL="0">
              <a:buNone/>
            </a:pPr>
            <a:r>
              <a:rPr lang="en-US" sz="1100" dirty="0">
                <a:solidFill>
                  <a:srgbClr val="9FB1D6"/>
                </a:solidFill>
                <a:latin typeface="Calibri" pitchFamily="34" charset="0"/>
                <a:ea typeface="Calibri" pitchFamily="34" charset="-122"/>
                <a:cs typeface="Calibri" pitchFamily="34" charset="-120"/>
              </a:rPr>
              <a:t>Architecture can extend to larger datasets</a:t>
            </a:r>
            <a:endParaRPr lang="en-US" sz="1100" dirty="0"/>
          </a:p>
        </p:txBody>
      </p:sp>
      <p:sp>
        <p:nvSpPr>
          <p:cNvPr id="34" name="Text 32"/>
          <p:cNvSpPr/>
          <p:nvPr/>
        </p:nvSpPr>
        <p:spPr>
          <a:xfrm>
            <a:off x="6583680" y="3474720"/>
            <a:ext cx="484632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Explainability</a:t>
            </a:r>
            <a:endParaRPr lang="en-US" sz="1250" dirty="0"/>
          </a:p>
        </p:txBody>
      </p:sp>
      <p:sp>
        <p:nvSpPr>
          <p:cNvPr id="35" name="Text 33"/>
          <p:cNvSpPr/>
          <p:nvPr/>
        </p:nvSpPr>
        <p:spPr>
          <a:xfrm>
            <a:off x="6583680" y="3749040"/>
            <a:ext cx="4846320" cy="365760"/>
          </a:xfrm>
          <a:prstGeom prst="rect">
            <a:avLst/>
          </a:prstGeom>
          <a:noFill/>
          <a:ln/>
        </p:spPr>
        <p:txBody>
          <a:bodyPr wrap="square" rtlCol="0" anchor="ctr"/>
          <a:lstStyle/>
          <a:p>
            <a:pPr indent="0" marL="0">
              <a:buNone/>
            </a:pPr>
            <a:r>
              <a:rPr lang="en-US" sz="1100" dirty="0">
                <a:solidFill>
                  <a:srgbClr val="9FB1D6"/>
                </a:solidFill>
                <a:latin typeface="Calibri" pitchFamily="34" charset="0"/>
                <a:ea typeface="Calibri" pitchFamily="34" charset="-122"/>
                <a:cs typeface="Calibri" pitchFamily="34" charset="-120"/>
              </a:rPr>
              <a:t>Risk decisions include understandable reasons</a:t>
            </a:r>
            <a:endParaRPr lang="en-US" sz="1100" dirty="0"/>
          </a:p>
        </p:txBody>
      </p:sp>
      <p:sp>
        <p:nvSpPr>
          <p:cNvPr id="36" name="Text 34"/>
          <p:cNvSpPr/>
          <p:nvPr/>
        </p:nvSpPr>
        <p:spPr>
          <a:xfrm>
            <a:off x="6583680" y="4160520"/>
            <a:ext cx="484632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Usability</a:t>
            </a:r>
            <a:endParaRPr lang="en-US" sz="1250" dirty="0"/>
          </a:p>
        </p:txBody>
      </p:sp>
      <p:sp>
        <p:nvSpPr>
          <p:cNvPr id="37" name="Text 35"/>
          <p:cNvSpPr/>
          <p:nvPr/>
        </p:nvSpPr>
        <p:spPr>
          <a:xfrm>
            <a:off x="6583680" y="4434840"/>
            <a:ext cx="4846320" cy="365760"/>
          </a:xfrm>
          <a:prstGeom prst="rect">
            <a:avLst/>
          </a:prstGeom>
          <a:noFill/>
          <a:ln/>
        </p:spPr>
        <p:txBody>
          <a:bodyPr wrap="square" rtlCol="0" anchor="ctr"/>
          <a:lstStyle/>
          <a:p>
            <a:pPr indent="0" marL="0">
              <a:buNone/>
            </a:pPr>
            <a:r>
              <a:rPr lang="en-US" sz="1100" dirty="0">
                <a:solidFill>
                  <a:srgbClr val="9FB1D6"/>
                </a:solidFill>
                <a:latin typeface="Calibri" pitchFamily="34" charset="0"/>
                <a:ea typeface="Calibri" pitchFamily="34" charset="-122"/>
                <a:cs typeface="Calibri" pitchFamily="34" charset="-120"/>
              </a:rPr>
              <a:t>Dashboard is simple for investigators</a:t>
            </a:r>
            <a:endParaRPr lang="en-US" sz="1100" dirty="0"/>
          </a:p>
        </p:txBody>
      </p:sp>
      <p:sp>
        <p:nvSpPr>
          <p:cNvPr id="38" name="Text 36"/>
          <p:cNvSpPr/>
          <p:nvPr/>
        </p:nvSpPr>
        <p:spPr>
          <a:xfrm>
            <a:off x="6583680" y="4846320"/>
            <a:ext cx="484632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Maintainability</a:t>
            </a:r>
            <a:endParaRPr lang="en-US" sz="1250" dirty="0"/>
          </a:p>
        </p:txBody>
      </p:sp>
      <p:sp>
        <p:nvSpPr>
          <p:cNvPr id="39" name="Text 37"/>
          <p:cNvSpPr/>
          <p:nvPr/>
        </p:nvSpPr>
        <p:spPr>
          <a:xfrm>
            <a:off x="6583680" y="5120640"/>
            <a:ext cx="4846320" cy="365760"/>
          </a:xfrm>
          <a:prstGeom prst="rect">
            <a:avLst/>
          </a:prstGeom>
          <a:noFill/>
          <a:ln/>
        </p:spPr>
        <p:txBody>
          <a:bodyPr wrap="square" rtlCol="0" anchor="ctr"/>
          <a:lstStyle/>
          <a:p>
            <a:pPr indent="0" marL="0">
              <a:buNone/>
            </a:pPr>
            <a:r>
              <a:rPr lang="en-US" sz="1100" dirty="0">
                <a:solidFill>
                  <a:srgbClr val="9FB1D6"/>
                </a:solidFill>
                <a:latin typeface="Calibri" pitchFamily="34" charset="0"/>
                <a:ea typeface="Calibri" pitchFamily="34" charset="-122"/>
                <a:cs typeface="Calibri" pitchFamily="34" charset="-120"/>
              </a:rPr>
              <a:t>Modular Python structure enables independent development</a:t>
            </a:r>
            <a:endParaRPr lang="en-US" sz="1100" dirty="0"/>
          </a:p>
        </p:txBody>
      </p:sp>
      <p:sp>
        <p:nvSpPr>
          <p:cNvPr id="40" name="Text 38"/>
          <p:cNvSpPr/>
          <p:nvPr/>
        </p:nvSpPr>
        <p:spPr>
          <a:xfrm>
            <a:off x="6583680" y="5532120"/>
            <a:ext cx="484632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Portability</a:t>
            </a:r>
            <a:endParaRPr lang="en-US" sz="1250" dirty="0"/>
          </a:p>
        </p:txBody>
      </p:sp>
      <p:sp>
        <p:nvSpPr>
          <p:cNvPr id="41" name="Text 39"/>
          <p:cNvSpPr/>
          <p:nvPr/>
        </p:nvSpPr>
        <p:spPr>
          <a:xfrm>
            <a:off x="6583680" y="5806440"/>
            <a:ext cx="4846320" cy="365760"/>
          </a:xfrm>
          <a:prstGeom prst="rect">
            <a:avLst/>
          </a:prstGeom>
          <a:noFill/>
          <a:ln/>
        </p:spPr>
        <p:txBody>
          <a:bodyPr wrap="square" rtlCol="0" anchor="ctr"/>
          <a:lstStyle/>
          <a:p>
            <a:pPr indent="0" marL="0">
              <a:buNone/>
            </a:pPr>
            <a:r>
              <a:rPr lang="en-US" sz="1100" dirty="0">
                <a:solidFill>
                  <a:srgbClr val="9FB1D6"/>
                </a:solidFill>
                <a:latin typeface="Calibri" pitchFamily="34" charset="0"/>
                <a:ea typeface="Calibri" pitchFamily="34" charset="-122"/>
                <a:cs typeface="Calibri" pitchFamily="34" charset="-120"/>
              </a:rPr>
              <a:t>Docker allows deployment across environments</a:t>
            </a:r>
            <a:endParaRPr lang="en-US" sz="1100" dirty="0"/>
          </a:p>
        </p:txBody>
      </p:sp>
      <p:sp>
        <p:nvSpPr>
          <p:cNvPr id="42" name="Text 40"/>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SECTIONS 29–30 · REQUIREMENTS</a:t>
            </a:r>
            <a:endParaRPr lang="en-US" sz="900" dirty="0"/>
          </a:p>
        </p:txBody>
      </p:sp>
      <p:sp>
        <p:nvSpPr>
          <p:cNvPr id="43" name="Text 41"/>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44" name="Text 42"/>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01F3C"/>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F0A23A"/>
                </a:solidFill>
                <a:latin typeface="Calibri" pitchFamily="34" charset="0"/>
                <a:ea typeface="Calibri" pitchFamily="34" charset="-122"/>
                <a:cs typeface="Calibri" pitchFamily="34" charset="-120"/>
              </a:rPr>
              <a:t>SECTION 31</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3566160" y="1280160"/>
            <a:ext cx="5029200" cy="457200"/>
          </a:xfrm>
          <a:prstGeom prst="roundRect">
            <a:avLst>
              <a:gd name="adj" fmla="val 16000"/>
            </a:avLst>
          </a:prstGeom>
          <a:solidFill>
            <a:srgbClr val="1B2E58"/>
          </a:solidFill>
          <a:ln/>
        </p:spPr>
      </p:sp>
      <p:sp>
        <p:nvSpPr>
          <p:cNvPr id="5" name="Text 3"/>
          <p:cNvSpPr/>
          <p:nvPr/>
        </p:nvSpPr>
        <p:spPr>
          <a:xfrm>
            <a:off x="3749040" y="1280160"/>
            <a:ext cx="2926080" cy="45720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RAW DATASET</a:t>
            </a:r>
            <a:endParaRPr lang="en-US" sz="1150" dirty="0"/>
          </a:p>
        </p:txBody>
      </p:sp>
      <p:sp>
        <p:nvSpPr>
          <p:cNvPr id="6" name="Text 4"/>
          <p:cNvSpPr/>
          <p:nvPr/>
        </p:nvSpPr>
        <p:spPr>
          <a:xfrm>
            <a:off x="6400800" y="1280160"/>
            <a:ext cx="2103120" cy="4572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Excel / CSV</a:t>
            </a:r>
            <a:endParaRPr lang="en-US" sz="900" dirty="0"/>
          </a:p>
        </p:txBody>
      </p:sp>
      <p:sp>
        <p:nvSpPr>
          <p:cNvPr id="7" name="Shape 5"/>
          <p:cNvSpPr/>
          <p:nvPr/>
        </p:nvSpPr>
        <p:spPr>
          <a:xfrm>
            <a:off x="6030468" y="1746504"/>
            <a:ext cx="100584" cy="70409"/>
          </a:xfrm>
          <a:prstGeom prst="downArrow">
            <a:avLst/>
          </a:prstGeom>
          <a:solidFill>
            <a:srgbClr val="9FB1D6"/>
          </a:solidFill>
          <a:ln/>
        </p:spPr>
      </p:sp>
      <p:sp>
        <p:nvSpPr>
          <p:cNvPr id="8" name="Shape 6"/>
          <p:cNvSpPr/>
          <p:nvPr/>
        </p:nvSpPr>
        <p:spPr>
          <a:xfrm>
            <a:off x="3566160" y="1847088"/>
            <a:ext cx="5029200" cy="457200"/>
          </a:xfrm>
          <a:prstGeom prst="roundRect">
            <a:avLst>
              <a:gd name="adj" fmla="val 16000"/>
            </a:avLst>
          </a:prstGeom>
          <a:solidFill>
            <a:srgbClr val="3A6FF0"/>
          </a:solidFill>
          <a:ln/>
        </p:spPr>
      </p:sp>
      <p:sp>
        <p:nvSpPr>
          <p:cNvPr id="9" name="Text 7"/>
          <p:cNvSpPr/>
          <p:nvPr/>
        </p:nvSpPr>
        <p:spPr>
          <a:xfrm>
            <a:off x="3749040" y="1847088"/>
            <a:ext cx="2926080" cy="45720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 PROCESSING</a:t>
            </a:r>
            <a:endParaRPr lang="en-US" sz="1150" dirty="0"/>
          </a:p>
        </p:txBody>
      </p:sp>
      <p:sp>
        <p:nvSpPr>
          <p:cNvPr id="10" name="Text 8"/>
          <p:cNvSpPr/>
          <p:nvPr/>
        </p:nvSpPr>
        <p:spPr>
          <a:xfrm>
            <a:off x="6400800" y="1847088"/>
            <a:ext cx="2103120" cy="4572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Pandas</a:t>
            </a:r>
            <a:endParaRPr lang="en-US" sz="900" dirty="0"/>
          </a:p>
        </p:txBody>
      </p:sp>
      <p:sp>
        <p:nvSpPr>
          <p:cNvPr id="11" name="Shape 9"/>
          <p:cNvSpPr/>
          <p:nvPr/>
        </p:nvSpPr>
        <p:spPr>
          <a:xfrm>
            <a:off x="6030468" y="2313432"/>
            <a:ext cx="100584" cy="70409"/>
          </a:xfrm>
          <a:prstGeom prst="downArrow">
            <a:avLst/>
          </a:prstGeom>
          <a:solidFill>
            <a:srgbClr val="9FB1D6"/>
          </a:solidFill>
          <a:ln/>
        </p:spPr>
      </p:sp>
      <p:sp>
        <p:nvSpPr>
          <p:cNvPr id="12" name="Shape 10"/>
          <p:cNvSpPr/>
          <p:nvPr/>
        </p:nvSpPr>
        <p:spPr>
          <a:xfrm>
            <a:off x="3566160" y="2414016"/>
            <a:ext cx="5029200" cy="457200"/>
          </a:xfrm>
          <a:prstGeom prst="roundRect">
            <a:avLst>
              <a:gd name="adj" fmla="val 16000"/>
            </a:avLst>
          </a:prstGeom>
          <a:solidFill>
            <a:srgbClr val="3A6FF0"/>
          </a:solidFill>
          <a:ln/>
        </p:spPr>
      </p:sp>
      <p:sp>
        <p:nvSpPr>
          <p:cNvPr id="13" name="Text 11"/>
          <p:cNvSpPr/>
          <p:nvPr/>
        </p:nvSpPr>
        <p:spPr>
          <a:xfrm>
            <a:off x="3749040" y="2414016"/>
            <a:ext cx="2926080" cy="45720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FEATURE ENGINEERING</a:t>
            </a:r>
            <a:endParaRPr lang="en-US" sz="1150" dirty="0"/>
          </a:p>
        </p:txBody>
      </p:sp>
      <p:sp>
        <p:nvSpPr>
          <p:cNvPr id="14" name="Text 12"/>
          <p:cNvSpPr/>
          <p:nvPr/>
        </p:nvSpPr>
        <p:spPr>
          <a:xfrm>
            <a:off x="6400800" y="2414016"/>
            <a:ext cx="2103120" cy="4572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Decline / Chargeback / Promo</a:t>
            </a:r>
            <a:endParaRPr lang="en-US" sz="900" dirty="0"/>
          </a:p>
        </p:txBody>
      </p:sp>
      <p:sp>
        <p:nvSpPr>
          <p:cNvPr id="15" name="Shape 13"/>
          <p:cNvSpPr/>
          <p:nvPr/>
        </p:nvSpPr>
        <p:spPr>
          <a:xfrm>
            <a:off x="6021324" y="2999232"/>
            <a:ext cx="118872" cy="83210"/>
          </a:xfrm>
          <a:prstGeom prst="downArrow">
            <a:avLst/>
          </a:prstGeom>
          <a:solidFill>
            <a:srgbClr val="9FB1D6"/>
          </a:solidFill>
          <a:ln/>
        </p:spPr>
      </p:sp>
      <p:sp>
        <p:nvSpPr>
          <p:cNvPr id="16" name="Shape 14"/>
          <p:cNvSpPr/>
          <p:nvPr/>
        </p:nvSpPr>
        <p:spPr>
          <a:xfrm>
            <a:off x="2651760" y="3182112"/>
            <a:ext cx="2011680" cy="438912"/>
          </a:xfrm>
          <a:prstGeom prst="roundRect">
            <a:avLst>
              <a:gd name="adj" fmla="val 16667"/>
            </a:avLst>
          </a:prstGeom>
          <a:solidFill>
            <a:srgbClr val="3A6FF0"/>
          </a:solidFill>
          <a:ln/>
        </p:spPr>
      </p:sp>
      <p:sp>
        <p:nvSpPr>
          <p:cNvPr id="17" name="Text 15"/>
          <p:cNvSpPr/>
          <p:nvPr/>
        </p:nvSpPr>
        <p:spPr>
          <a:xfrm>
            <a:off x="2651760" y="3182112"/>
            <a:ext cx="2011680" cy="43891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RULES ENGINE</a:t>
            </a:r>
            <a:endParaRPr lang="en-US" sz="1000" dirty="0"/>
          </a:p>
        </p:txBody>
      </p:sp>
      <p:sp>
        <p:nvSpPr>
          <p:cNvPr id="18" name="Shape 16"/>
          <p:cNvSpPr/>
          <p:nvPr/>
        </p:nvSpPr>
        <p:spPr>
          <a:xfrm>
            <a:off x="4937760" y="3182112"/>
            <a:ext cx="2011680" cy="438912"/>
          </a:xfrm>
          <a:prstGeom prst="roundRect">
            <a:avLst>
              <a:gd name="adj" fmla="val 16667"/>
            </a:avLst>
          </a:prstGeom>
          <a:solidFill>
            <a:srgbClr val="2E9E62"/>
          </a:solidFill>
          <a:ln/>
        </p:spPr>
      </p:sp>
      <p:sp>
        <p:nvSpPr>
          <p:cNvPr id="19" name="Text 17"/>
          <p:cNvSpPr/>
          <p:nvPr/>
        </p:nvSpPr>
        <p:spPr>
          <a:xfrm>
            <a:off x="4937760" y="3182112"/>
            <a:ext cx="2011680" cy="43891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ML MODEL</a:t>
            </a:r>
            <a:endParaRPr lang="en-US" sz="1000" dirty="0"/>
          </a:p>
        </p:txBody>
      </p:sp>
      <p:sp>
        <p:nvSpPr>
          <p:cNvPr id="20" name="Shape 18"/>
          <p:cNvSpPr/>
          <p:nvPr/>
        </p:nvSpPr>
        <p:spPr>
          <a:xfrm>
            <a:off x="7223760" y="3182112"/>
            <a:ext cx="2011680" cy="438912"/>
          </a:xfrm>
          <a:prstGeom prst="roundRect">
            <a:avLst>
              <a:gd name="adj" fmla="val 16667"/>
            </a:avLst>
          </a:prstGeom>
          <a:solidFill>
            <a:srgbClr val="F0A23A"/>
          </a:solidFill>
          <a:ln/>
        </p:spPr>
      </p:sp>
      <p:sp>
        <p:nvSpPr>
          <p:cNvPr id="21" name="Text 19"/>
          <p:cNvSpPr/>
          <p:nvPr/>
        </p:nvSpPr>
        <p:spPr>
          <a:xfrm>
            <a:off x="7223760" y="3182112"/>
            <a:ext cx="2011680" cy="43891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GRAPH ENGINE</a:t>
            </a:r>
            <a:endParaRPr lang="en-US" sz="1000" dirty="0"/>
          </a:p>
        </p:txBody>
      </p:sp>
      <p:sp>
        <p:nvSpPr>
          <p:cNvPr id="22" name="Shape 20"/>
          <p:cNvSpPr/>
          <p:nvPr/>
        </p:nvSpPr>
        <p:spPr>
          <a:xfrm>
            <a:off x="6021324" y="3657600"/>
            <a:ext cx="118872" cy="83210"/>
          </a:xfrm>
          <a:prstGeom prst="downArrow">
            <a:avLst/>
          </a:prstGeom>
          <a:solidFill>
            <a:srgbClr val="9FB1D6"/>
          </a:solidFill>
          <a:ln/>
        </p:spPr>
      </p:sp>
      <p:sp>
        <p:nvSpPr>
          <p:cNvPr id="23" name="Shape 21"/>
          <p:cNvSpPr/>
          <p:nvPr/>
        </p:nvSpPr>
        <p:spPr>
          <a:xfrm>
            <a:off x="3108960" y="3840480"/>
            <a:ext cx="5943600" cy="411480"/>
          </a:xfrm>
          <a:prstGeom prst="roundRect">
            <a:avLst>
              <a:gd name="adj" fmla="val 17778"/>
            </a:avLst>
          </a:prstGeom>
          <a:solidFill>
            <a:srgbClr val="24396B"/>
          </a:solidFill>
          <a:ln/>
        </p:spPr>
      </p:sp>
      <p:sp>
        <p:nvSpPr>
          <p:cNvPr id="24" name="Text 22"/>
          <p:cNvSpPr/>
          <p:nvPr/>
        </p:nvSpPr>
        <p:spPr>
          <a:xfrm>
            <a:off x="3108960" y="3840480"/>
            <a:ext cx="594360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FRAUD RING DETECTION</a:t>
            </a:r>
            <a:endParaRPr lang="en-US" sz="1100" dirty="0"/>
          </a:p>
        </p:txBody>
      </p:sp>
      <p:sp>
        <p:nvSpPr>
          <p:cNvPr id="25" name="Shape 23"/>
          <p:cNvSpPr/>
          <p:nvPr/>
        </p:nvSpPr>
        <p:spPr>
          <a:xfrm>
            <a:off x="3108960" y="4343400"/>
            <a:ext cx="5943600" cy="411480"/>
          </a:xfrm>
          <a:prstGeom prst="roundRect">
            <a:avLst>
              <a:gd name="adj" fmla="val 17778"/>
            </a:avLst>
          </a:prstGeom>
          <a:solidFill>
            <a:srgbClr val="24396B"/>
          </a:solidFill>
          <a:ln/>
        </p:spPr>
      </p:sp>
      <p:sp>
        <p:nvSpPr>
          <p:cNvPr id="26" name="Text 24"/>
          <p:cNvSpPr/>
          <p:nvPr/>
        </p:nvSpPr>
        <p:spPr>
          <a:xfrm>
            <a:off x="3108960" y="4343400"/>
            <a:ext cx="594360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FRAUD RING CLASSIFICATION — Coupon / Card / Chargeback</a:t>
            </a:r>
            <a:endParaRPr lang="en-US" sz="1100" dirty="0"/>
          </a:p>
        </p:txBody>
      </p:sp>
      <p:sp>
        <p:nvSpPr>
          <p:cNvPr id="27" name="Shape 25"/>
          <p:cNvSpPr/>
          <p:nvPr/>
        </p:nvSpPr>
        <p:spPr>
          <a:xfrm>
            <a:off x="3108960" y="4846320"/>
            <a:ext cx="5943600" cy="411480"/>
          </a:xfrm>
          <a:prstGeom prst="roundRect">
            <a:avLst>
              <a:gd name="adj" fmla="val 17778"/>
            </a:avLst>
          </a:prstGeom>
          <a:solidFill>
            <a:srgbClr val="F0A23A"/>
          </a:solidFill>
          <a:ln/>
        </p:spPr>
      </p:sp>
      <p:sp>
        <p:nvSpPr>
          <p:cNvPr id="28" name="Text 26"/>
          <p:cNvSpPr/>
          <p:nvPr/>
        </p:nvSpPr>
        <p:spPr>
          <a:xfrm>
            <a:off x="3108960" y="4846320"/>
            <a:ext cx="5943600" cy="411480"/>
          </a:xfrm>
          <a:prstGeom prst="rect">
            <a:avLst/>
          </a:prstGeom>
          <a:noFill/>
          <a:ln/>
        </p:spPr>
        <p:txBody>
          <a:bodyPr wrap="square" rtlCol="0" anchor="ctr"/>
          <a:lstStyle/>
          <a:p>
            <a:pPr algn="ctr" indent="0" marL="0">
              <a:buNone/>
            </a:pPr>
            <a:r>
              <a:rPr lang="en-US" sz="1100" b="1" dirty="0">
                <a:solidFill>
                  <a:srgbClr val="101F3C"/>
                </a:solidFill>
                <a:latin typeface="Calibri" pitchFamily="34" charset="0"/>
                <a:ea typeface="Calibri" pitchFamily="34" charset="-122"/>
                <a:cs typeface="Calibri" pitchFamily="34" charset="-120"/>
              </a:rPr>
              <a:t>FINAL RISK ENGINE</a:t>
            </a:r>
            <a:endParaRPr lang="en-US" sz="1100" dirty="0"/>
          </a:p>
        </p:txBody>
      </p:sp>
      <p:sp>
        <p:nvSpPr>
          <p:cNvPr id="29" name="Shape 27"/>
          <p:cNvSpPr/>
          <p:nvPr/>
        </p:nvSpPr>
        <p:spPr>
          <a:xfrm>
            <a:off x="6025896" y="5394960"/>
            <a:ext cx="109728" cy="76810"/>
          </a:xfrm>
          <a:prstGeom prst="downArrow">
            <a:avLst/>
          </a:prstGeom>
          <a:solidFill>
            <a:srgbClr val="9FB1D6"/>
          </a:solidFill>
          <a:ln/>
        </p:spPr>
      </p:sp>
      <p:sp>
        <p:nvSpPr>
          <p:cNvPr id="30" name="Shape 28"/>
          <p:cNvSpPr/>
          <p:nvPr/>
        </p:nvSpPr>
        <p:spPr>
          <a:xfrm>
            <a:off x="3794760" y="5532120"/>
            <a:ext cx="2148840" cy="438912"/>
          </a:xfrm>
          <a:prstGeom prst="roundRect">
            <a:avLst>
              <a:gd name="adj" fmla="val 16667"/>
            </a:avLst>
          </a:prstGeom>
          <a:solidFill>
            <a:srgbClr val="1B2E58"/>
          </a:solidFill>
          <a:ln w="12700">
            <a:solidFill>
              <a:srgbClr val="E2E7F1"/>
            </a:solidFill>
            <a:prstDash val="solid"/>
          </a:ln>
        </p:spPr>
      </p:sp>
      <p:sp>
        <p:nvSpPr>
          <p:cNvPr id="31" name="Text 29"/>
          <p:cNvSpPr/>
          <p:nvPr/>
        </p:nvSpPr>
        <p:spPr>
          <a:xfrm>
            <a:off x="3794760" y="5532120"/>
            <a:ext cx="2148840" cy="43891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FASTAPI API</a:t>
            </a:r>
            <a:endParaRPr lang="en-US" sz="1050" dirty="0"/>
          </a:p>
        </p:txBody>
      </p:sp>
      <p:sp>
        <p:nvSpPr>
          <p:cNvPr id="32" name="Shape 30"/>
          <p:cNvSpPr/>
          <p:nvPr/>
        </p:nvSpPr>
        <p:spPr>
          <a:xfrm>
            <a:off x="6172200" y="5532120"/>
            <a:ext cx="2148840" cy="438912"/>
          </a:xfrm>
          <a:prstGeom prst="roundRect">
            <a:avLst>
              <a:gd name="adj" fmla="val 16667"/>
            </a:avLst>
          </a:prstGeom>
          <a:solidFill>
            <a:srgbClr val="1B2E58"/>
          </a:solidFill>
          <a:ln w="12700">
            <a:solidFill>
              <a:srgbClr val="E2E7F1"/>
            </a:solidFill>
            <a:prstDash val="solid"/>
          </a:ln>
        </p:spPr>
      </p:sp>
      <p:sp>
        <p:nvSpPr>
          <p:cNvPr id="33" name="Text 31"/>
          <p:cNvSpPr/>
          <p:nvPr/>
        </p:nvSpPr>
        <p:spPr>
          <a:xfrm>
            <a:off x="6172200" y="5532120"/>
            <a:ext cx="2148840" cy="43891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STREAMLIT DASHBOARD</a:t>
            </a:r>
            <a:endParaRPr lang="en-US" sz="950" dirty="0"/>
          </a:p>
        </p:txBody>
      </p:sp>
      <p:sp>
        <p:nvSpPr>
          <p:cNvPr id="34" name="Text 32"/>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SECTION 31 · SYSTEM ARCHITECTURE</a:t>
            </a:r>
            <a:endParaRPr lang="en-US" sz="900" dirty="0"/>
          </a:p>
        </p:txBody>
      </p:sp>
      <p:sp>
        <p:nvSpPr>
          <p:cNvPr id="35" name="Text 33"/>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36" name="Text 34"/>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32</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Project Results</a:t>
            </a:r>
            <a:endParaRPr lang="en-US" sz="3000" dirty="0"/>
          </a:p>
        </p:txBody>
      </p:sp>
      <p:sp>
        <p:nvSpPr>
          <p:cNvPr id="4" name="Shape 2"/>
          <p:cNvSpPr/>
          <p:nvPr/>
        </p:nvSpPr>
        <p:spPr>
          <a:xfrm>
            <a:off x="502920" y="1463040"/>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Shape 3"/>
          <p:cNvSpPr/>
          <p:nvPr/>
        </p:nvSpPr>
        <p:spPr>
          <a:xfrm>
            <a:off x="685800" y="1545336"/>
            <a:ext cx="365760" cy="365760"/>
          </a:xfrm>
          <a:prstGeom prst="ellipse">
            <a:avLst/>
          </a:prstGeom>
          <a:solidFill>
            <a:srgbClr val="2E9E62"/>
          </a:solidFill>
          <a:ln/>
        </p:spPr>
      </p:sp>
      <p:sp>
        <p:nvSpPr>
          <p:cNvPr id="6" name="Text 4"/>
          <p:cNvSpPr/>
          <p:nvPr/>
        </p:nvSpPr>
        <p:spPr>
          <a:xfrm>
            <a:off x="685800" y="1545336"/>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7" name="Text 5"/>
          <p:cNvSpPr/>
          <p:nvPr/>
        </p:nvSpPr>
        <p:spPr>
          <a:xfrm>
            <a:off x="1188720" y="1463040"/>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Customer-level risk analysis</a:t>
            </a:r>
            <a:endParaRPr lang="en-US" sz="1200" dirty="0"/>
          </a:p>
        </p:txBody>
      </p:sp>
      <p:sp>
        <p:nvSpPr>
          <p:cNvPr id="8" name="Shape 6"/>
          <p:cNvSpPr/>
          <p:nvPr/>
        </p:nvSpPr>
        <p:spPr>
          <a:xfrm>
            <a:off x="6172200" y="1463040"/>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9" name="Shape 7"/>
          <p:cNvSpPr/>
          <p:nvPr/>
        </p:nvSpPr>
        <p:spPr>
          <a:xfrm>
            <a:off x="6355080" y="1545336"/>
            <a:ext cx="365760" cy="365760"/>
          </a:xfrm>
          <a:prstGeom prst="ellipse">
            <a:avLst/>
          </a:prstGeom>
          <a:solidFill>
            <a:srgbClr val="2E9E62"/>
          </a:solidFill>
          <a:ln/>
        </p:spPr>
      </p:sp>
      <p:sp>
        <p:nvSpPr>
          <p:cNvPr id="10" name="Text 8"/>
          <p:cNvSpPr/>
          <p:nvPr/>
        </p:nvSpPr>
        <p:spPr>
          <a:xfrm>
            <a:off x="6355080" y="1545336"/>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1" name="Text 9"/>
          <p:cNvSpPr/>
          <p:nvPr/>
        </p:nvSpPr>
        <p:spPr>
          <a:xfrm>
            <a:off x="6858000" y="1463040"/>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Machine Learning predictions</a:t>
            </a:r>
            <a:endParaRPr lang="en-US" sz="1200" dirty="0"/>
          </a:p>
        </p:txBody>
      </p:sp>
      <p:sp>
        <p:nvSpPr>
          <p:cNvPr id="12" name="Shape 10"/>
          <p:cNvSpPr/>
          <p:nvPr/>
        </p:nvSpPr>
        <p:spPr>
          <a:xfrm>
            <a:off x="502920" y="2121408"/>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3" name="Shape 11"/>
          <p:cNvSpPr/>
          <p:nvPr/>
        </p:nvSpPr>
        <p:spPr>
          <a:xfrm>
            <a:off x="685800" y="2203704"/>
            <a:ext cx="365760" cy="365760"/>
          </a:xfrm>
          <a:prstGeom prst="ellipse">
            <a:avLst/>
          </a:prstGeom>
          <a:solidFill>
            <a:srgbClr val="2E9E62"/>
          </a:solidFill>
          <a:ln/>
        </p:spPr>
      </p:sp>
      <p:sp>
        <p:nvSpPr>
          <p:cNvPr id="14" name="Text 12"/>
          <p:cNvSpPr/>
          <p:nvPr/>
        </p:nvSpPr>
        <p:spPr>
          <a:xfrm>
            <a:off x="685800" y="2203704"/>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5" name="Text 13"/>
          <p:cNvSpPr/>
          <p:nvPr/>
        </p:nvSpPr>
        <p:spPr>
          <a:xfrm>
            <a:off x="1188720" y="2121408"/>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Behavioral risk analysis</a:t>
            </a:r>
            <a:endParaRPr lang="en-US" sz="1200" dirty="0"/>
          </a:p>
        </p:txBody>
      </p:sp>
      <p:sp>
        <p:nvSpPr>
          <p:cNvPr id="16" name="Shape 14"/>
          <p:cNvSpPr/>
          <p:nvPr/>
        </p:nvSpPr>
        <p:spPr>
          <a:xfrm>
            <a:off x="6172200" y="2121408"/>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7" name="Shape 15"/>
          <p:cNvSpPr/>
          <p:nvPr/>
        </p:nvSpPr>
        <p:spPr>
          <a:xfrm>
            <a:off x="6355080" y="2203704"/>
            <a:ext cx="365760" cy="365760"/>
          </a:xfrm>
          <a:prstGeom prst="ellipse">
            <a:avLst/>
          </a:prstGeom>
          <a:solidFill>
            <a:srgbClr val="2E9E62"/>
          </a:solidFill>
          <a:ln/>
        </p:spPr>
      </p:sp>
      <p:sp>
        <p:nvSpPr>
          <p:cNvPr id="18" name="Text 16"/>
          <p:cNvSpPr/>
          <p:nvPr/>
        </p:nvSpPr>
        <p:spPr>
          <a:xfrm>
            <a:off x="6355080" y="2203704"/>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9" name="Text 17"/>
          <p:cNvSpPr/>
          <p:nvPr/>
        </p:nvSpPr>
        <p:spPr>
          <a:xfrm>
            <a:off x="6858000" y="2121408"/>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Graph-based fraud detection</a:t>
            </a:r>
            <a:endParaRPr lang="en-US" sz="1200" dirty="0"/>
          </a:p>
        </p:txBody>
      </p:sp>
      <p:sp>
        <p:nvSpPr>
          <p:cNvPr id="20" name="Shape 18"/>
          <p:cNvSpPr/>
          <p:nvPr/>
        </p:nvSpPr>
        <p:spPr>
          <a:xfrm>
            <a:off x="502920" y="2779776"/>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1" name="Shape 19"/>
          <p:cNvSpPr/>
          <p:nvPr/>
        </p:nvSpPr>
        <p:spPr>
          <a:xfrm>
            <a:off x="685800" y="2862072"/>
            <a:ext cx="365760" cy="365760"/>
          </a:xfrm>
          <a:prstGeom prst="ellipse">
            <a:avLst/>
          </a:prstGeom>
          <a:solidFill>
            <a:srgbClr val="2E9E62"/>
          </a:solidFill>
          <a:ln/>
        </p:spPr>
      </p:sp>
      <p:sp>
        <p:nvSpPr>
          <p:cNvPr id="22" name="Text 20"/>
          <p:cNvSpPr/>
          <p:nvPr/>
        </p:nvSpPr>
        <p:spPr>
          <a:xfrm>
            <a:off x="685800" y="2862072"/>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23" name="Text 21"/>
          <p:cNvSpPr/>
          <p:nvPr/>
        </p:nvSpPr>
        <p:spPr>
          <a:xfrm>
            <a:off x="1188720" y="2779776"/>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Connected fraud ring detection</a:t>
            </a:r>
            <a:endParaRPr lang="en-US" sz="1200" dirty="0"/>
          </a:p>
        </p:txBody>
      </p:sp>
      <p:sp>
        <p:nvSpPr>
          <p:cNvPr id="24" name="Shape 22"/>
          <p:cNvSpPr/>
          <p:nvPr/>
        </p:nvSpPr>
        <p:spPr>
          <a:xfrm>
            <a:off x="6172200" y="2779776"/>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5" name="Shape 23"/>
          <p:cNvSpPr/>
          <p:nvPr/>
        </p:nvSpPr>
        <p:spPr>
          <a:xfrm>
            <a:off x="6355080" y="2862072"/>
            <a:ext cx="365760" cy="365760"/>
          </a:xfrm>
          <a:prstGeom prst="ellipse">
            <a:avLst/>
          </a:prstGeom>
          <a:solidFill>
            <a:srgbClr val="2E9E62"/>
          </a:solidFill>
          <a:ln/>
        </p:spPr>
      </p:sp>
      <p:sp>
        <p:nvSpPr>
          <p:cNvPr id="26" name="Text 24"/>
          <p:cNvSpPr/>
          <p:nvPr/>
        </p:nvSpPr>
        <p:spPr>
          <a:xfrm>
            <a:off x="6355080" y="2862072"/>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27" name="Text 25"/>
          <p:cNvSpPr/>
          <p:nvPr/>
        </p:nvSpPr>
        <p:spPr>
          <a:xfrm>
            <a:off x="6858000" y="2779776"/>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Fraud ring classification</a:t>
            </a:r>
            <a:endParaRPr lang="en-US" sz="1200" dirty="0"/>
          </a:p>
        </p:txBody>
      </p:sp>
      <p:sp>
        <p:nvSpPr>
          <p:cNvPr id="28" name="Shape 26"/>
          <p:cNvSpPr/>
          <p:nvPr/>
        </p:nvSpPr>
        <p:spPr>
          <a:xfrm>
            <a:off x="502920" y="3438144"/>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9" name="Shape 27"/>
          <p:cNvSpPr/>
          <p:nvPr/>
        </p:nvSpPr>
        <p:spPr>
          <a:xfrm>
            <a:off x="685800" y="3520440"/>
            <a:ext cx="365760" cy="365760"/>
          </a:xfrm>
          <a:prstGeom prst="ellipse">
            <a:avLst/>
          </a:prstGeom>
          <a:solidFill>
            <a:srgbClr val="2E9E62"/>
          </a:solidFill>
          <a:ln/>
        </p:spPr>
      </p:sp>
      <p:sp>
        <p:nvSpPr>
          <p:cNvPr id="30" name="Text 28"/>
          <p:cNvSpPr/>
          <p:nvPr/>
        </p:nvSpPr>
        <p:spPr>
          <a:xfrm>
            <a:off x="685800" y="352044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31" name="Text 29"/>
          <p:cNvSpPr/>
          <p:nvPr/>
        </p:nvSpPr>
        <p:spPr>
          <a:xfrm>
            <a:off x="1188720" y="3438144"/>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Coupon abuse detection</a:t>
            </a:r>
            <a:endParaRPr lang="en-US" sz="1200" dirty="0"/>
          </a:p>
        </p:txBody>
      </p:sp>
      <p:sp>
        <p:nvSpPr>
          <p:cNvPr id="32" name="Shape 30"/>
          <p:cNvSpPr/>
          <p:nvPr/>
        </p:nvSpPr>
        <p:spPr>
          <a:xfrm>
            <a:off x="6172200" y="3438144"/>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3" name="Shape 31"/>
          <p:cNvSpPr/>
          <p:nvPr/>
        </p:nvSpPr>
        <p:spPr>
          <a:xfrm>
            <a:off x="6355080" y="3520440"/>
            <a:ext cx="365760" cy="365760"/>
          </a:xfrm>
          <a:prstGeom prst="ellipse">
            <a:avLst/>
          </a:prstGeom>
          <a:solidFill>
            <a:srgbClr val="2E9E62"/>
          </a:solidFill>
          <a:ln/>
        </p:spPr>
      </p:sp>
      <p:sp>
        <p:nvSpPr>
          <p:cNvPr id="34" name="Text 32"/>
          <p:cNvSpPr/>
          <p:nvPr/>
        </p:nvSpPr>
        <p:spPr>
          <a:xfrm>
            <a:off x="6355080" y="3520440"/>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35" name="Text 33"/>
          <p:cNvSpPr/>
          <p:nvPr/>
        </p:nvSpPr>
        <p:spPr>
          <a:xfrm>
            <a:off x="6858000" y="3438144"/>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Card testing detection</a:t>
            </a:r>
            <a:endParaRPr lang="en-US" sz="1200" dirty="0"/>
          </a:p>
        </p:txBody>
      </p:sp>
      <p:sp>
        <p:nvSpPr>
          <p:cNvPr id="36" name="Shape 34"/>
          <p:cNvSpPr/>
          <p:nvPr/>
        </p:nvSpPr>
        <p:spPr>
          <a:xfrm>
            <a:off x="502920" y="4096512"/>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37" name="Shape 35"/>
          <p:cNvSpPr/>
          <p:nvPr/>
        </p:nvSpPr>
        <p:spPr>
          <a:xfrm>
            <a:off x="685800" y="4178808"/>
            <a:ext cx="365760" cy="365760"/>
          </a:xfrm>
          <a:prstGeom prst="ellipse">
            <a:avLst/>
          </a:prstGeom>
          <a:solidFill>
            <a:srgbClr val="2E9E62"/>
          </a:solidFill>
          <a:ln/>
        </p:spPr>
      </p:sp>
      <p:sp>
        <p:nvSpPr>
          <p:cNvPr id="38" name="Text 36"/>
          <p:cNvSpPr/>
          <p:nvPr/>
        </p:nvSpPr>
        <p:spPr>
          <a:xfrm>
            <a:off x="685800" y="4178808"/>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39" name="Text 37"/>
          <p:cNvSpPr/>
          <p:nvPr/>
        </p:nvSpPr>
        <p:spPr>
          <a:xfrm>
            <a:off x="1188720" y="4096512"/>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Chargeback fraud detection</a:t>
            </a:r>
            <a:endParaRPr lang="en-US" sz="1200" dirty="0"/>
          </a:p>
        </p:txBody>
      </p:sp>
      <p:sp>
        <p:nvSpPr>
          <p:cNvPr id="40" name="Shape 38"/>
          <p:cNvSpPr/>
          <p:nvPr/>
        </p:nvSpPr>
        <p:spPr>
          <a:xfrm>
            <a:off x="6172200" y="4096512"/>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41" name="Shape 39"/>
          <p:cNvSpPr/>
          <p:nvPr/>
        </p:nvSpPr>
        <p:spPr>
          <a:xfrm>
            <a:off x="6355080" y="4178808"/>
            <a:ext cx="365760" cy="365760"/>
          </a:xfrm>
          <a:prstGeom prst="ellipse">
            <a:avLst/>
          </a:prstGeom>
          <a:solidFill>
            <a:srgbClr val="2E9E62"/>
          </a:solidFill>
          <a:ln/>
        </p:spPr>
      </p:sp>
      <p:sp>
        <p:nvSpPr>
          <p:cNvPr id="42" name="Text 40"/>
          <p:cNvSpPr/>
          <p:nvPr/>
        </p:nvSpPr>
        <p:spPr>
          <a:xfrm>
            <a:off x="6355080" y="4178808"/>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43" name="Text 41"/>
          <p:cNvSpPr/>
          <p:nvPr/>
        </p:nvSpPr>
        <p:spPr>
          <a:xfrm>
            <a:off x="6858000" y="4096512"/>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Explainable risk intelligence</a:t>
            </a:r>
            <a:endParaRPr lang="en-US" sz="1200" dirty="0"/>
          </a:p>
        </p:txBody>
      </p:sp>
      <p:sp>
        <p:nvSpPr>
          <p:cNvPr id="44" name="Shape 42"/>
          <p:cNvSpPr/>
          <p:nvPr/>
        </p:nvSpPr>
        <p:spPr>
          <a:xfrm>
            <a:off x="502920" y="4754880"/>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45" name="Shape 43"/>
          <p:cNvSpPr/>
          <p:nvPr/>
        </p:nvSpPr>
        <p:spPr>
          <a:xfrm>
            <a:off x="685800" y="4837176"/>
            <a:ext cx="365760" cy="365760"/>
          </a:xfrm>
          <a:prstGeom prst="ellipse">
            <a:avLst/>
          </a:prstGeom>
          <a:solidFill>
            <a:srgbClr val="2E9E62"/>
          </a:solidFill>
          <a:ln/>
        </p:spPr>
      </p:sp>
      <p:sp>
        <p:nvSpPr>
          <p:cNvPr id="46" name="Text 44"/>
          <p:cNvSpPr/>
          <p:nvPr/>
        </p:nvSpPr>
        <p:spPr>
          <a:xfrm>
            <a:off x="685800" y="4837176"/>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47" name="Text 45"/>
          <p:cNvSpPr/>
          <p:nvPr/>
        </p:nvSpPr>
        <p:spPr>
          <a:xfrm>
            <a:off x="1188720" y="4754880"/>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REST API backend</a:t>
            </a:r>
            <a:endParaRPr lang="en-US" sz="1200" dirty="0"/>
          </a:p>
        </p:txBody>
      </p:sp>
      <p:sp>
        <p:nvSpPr>
          <p:cNvPr id="48" name="Shape 46"/>
          <p:cNvSpPr/>
          <p:nvPr/>
        </p:nvSpPr>
        <p:spPr>
          <a:xfrm>
            <a:off x="6172200" y="4754880"/>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49" name="Shape 47"/>
          <p:cNvSpPr/>
          <p:nvPr/>
        </p:nvSpPr>
        <p:spPr>
          <a:xfrm>
            <a:off x="6355080" y="4837176"/>
            <a:ext cx="365760" cy="365760"/>
          </a:xfrm>
          <a:prstGeom prst="ellipse">
            <a:avLst/>
          </a:prstGeom>
          <a:solidFill>
            <a:srgbClr val="2E9E62"/>
          </a:solidFill>
          <a:ln/>
        </p:spPr>
      </p:sp>
      <p:sp>
        <p:nvSpPr>
          <p:cNvPr id="50" name="Text 48"/>
          <p:cNvSpPr/>
          <p:nvPr/>
        </p:nvSpPr>
        <p:spPr>
          <a:xfrm>
            <a:off x="6355080" y="4837176"/>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51" name="Text 49"/>
          <p:cNvSpPr/>
          <p:nvPr/>
        </p:nvSpPr>
        <p:spPr>
          <a:xfrm>
            <a:off x="6858000" y="4754880"/>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Interactive Streamlit dashboard</a:t>
            </a:r>
            <a:endParaRPr lang="en-US" sz="1200" dirty="0"/>
          </a:p>
        </p:txBody>
      </p:sp>
      <p:sp>
        <p:nvSpPr>
          <p:cNvPr id="52" name="Shape 50"/>
          <p:cNvSpPr/>
          <p:nvPr/>
        </p:nvSpPr>
        <p:spPr>
          <a:xfrm>
            <a:off x="502920" y="5413248"/>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3" name="Shape 51"/>
          <p:cNvSpPr/>
          <p:nvPr/>
        </p:nvSpPr>
        <p:spPr>
          <a:xfrm>
            <a:off x="685800" y="5495544"/>
            <a:ext cx="365760" cy="365760"/>
          </a:xfrm>
          <a:prstGeom prst="ellipse">
            <a:avLst/>
          </a:prstGeom>
          <a:solidFill>
            <a:srgbClr val="2E9E62"/>
          </a:solidFill>
          <a:ln/>
        </p:spPr>
      </p:sp>
      <p:sp>
        <p:nvSpPr>
          <p:cNvPr id="54" name="Text 52"/>
          <p:cNvSpPr/>
          <p:nvPr/>
        </p:nvSpPr>
        <p:spPr>
          <a:xfrm>
            <a:off x="685800" y="5495544"/>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55" name="Text 53"/>
          <p:cNvSpPr/>
          <p:nvPr/>
        </p:nvSpPr>
        <p:spPr>
          <a:xfrm>
            <a:off x="1188720" y="5413248"/>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Docker containerization</a:t>
            </a:r>
            <a:endParaRPr lang="en-US" sz="1200" dirty="0"/>
          </a:p>
        </p:txBody>
      </p:sp>
      <p:sp>
        <p:nvSpPr>
          <p:cNvPr id="56" name="Shape 54"/>
          <p:cNvSpPr/>
          <p:nvPr/>
        </p:nvSpPr>
        <p:spPr>
          <a:xfrm>
            <a:off x="6172200" y="5413248"/>
            <a:ext cx="5440680" cy="530352"/>
          </a:xfrm>
          <a:prstGeom prst="roundRect">
            <a:avLst>
              <a:gd name="adj" fmla="val 13793"/>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7" name="Shape 55"/>
          <p:cNvSpPr/>
          <p:nvPr/>
        </p:nvSpPr>
        <p:spPr>
          <a:xfrm>
            <a:off x="6355080" y="5495544"/>
            <a:ext cx="365760" cy="365760"/>
          </a:xfrm>
          <a:prstGeom prst="ellipse">
            <a:avLst/>
          </a:prstGeom>
          <a:solidFill>
            <a:srgbClr val="2E9E62"/>
          </a:solidFill>
          <a:ln/>
        </p:spPr>
      </p:sp>
      <p:sp>
        <p:nvSpPr>
          <p:cNvPr id="58" name="Text 56"/>
          <p:cNvSpPr/>
          <p:nvPr/>
        </p:nvSpPr>
        <p:spPr>
          <a:xfrm>
            <a:off x="6355080" y="5495544"/>
            <a:ext cx="365760" cy="365760"/>
          </a:xfrm>
          <a:prstGeom prst="rect">
            <a:avLst/>
          </a:prstGeom>
          <a:noFill/>
          <a:ln/>
        </p:spPr>
        <p:txBody>
          <a:bodyPr wrap="square"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59" name="Text 57"/>
          <p:cNvSpPr/>
          <p:nvPr/>
        </p:nvSpPr>
        <p:spPr>
          <a:xfrm>
            <a:off x="6858000" y="5413248"/>
            <a:ext cx="4617720" cy="530352"/>
          </a:xfrm>
          <a:prstGeom prst="rect">
            <a:avLst/>
          </a:prstGeom>
          <a:noFill/>
          <a:ln/>
        </p:spPr>
        <p:txBody>
          <a:bodyPr wrap="square" rtlCol="0" anchor="ctr"/>
          <a:lstStyle/>
          <a:p>
            <a:pPr indent="0" marL="0">
              <a:buNone/>
            </a:pPr>
            <a:r>
              <a:rPr lang="en-US" sz="1200" b="1" dirty="0">
                <a:solidFill>
                  <a:srgbClr val="16234A"/>
                </a:solidFill>
                <a:latin typeface="Calibri" pitchFamily="34" charset="0"/>
                <a:ea typeface="Calibri" pitchFamily="34" charset="-122"/>
                <a:cs typeface="Calibri" pitchFamily="34" charset="-120"/>
              </a:rPr>
              <a:t>GitHub version control</a:t>
            </a:r>
            <a:endParaRPr lang="en-US" sz="1200" dirty="0"/>
          </a:p>
        </p:txBody>
      </p:sp>
      <p:sp>
        <p:nvSpPr>
          <p:cNvPr id="60" name="Text 58"/>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32 · PROJECT RESULTS</a:t>
            </a:r>
            <a:endParaRPr lang="en-US" sz="900" dirty="0"/>
          </a:p>
        </p:txBody>
      </p:sp>
      <p:sp>
        <p:nvSpPr>
          <p:cNvPr id="61" name="Text 59"/>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62" name="Text 60"/>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33</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Business Impact</a:t>
            </a:r>
            <a:endParaRPr lang="en-US" sz="3000" dirty="0"/>
          </a:p>
        </p:txBody>
      </p:sp>
      <p:sp>
        <p:nvSpPr>
          <p:cNvPr id="4" name="Shape 2"/>
          <p:cNvSpPr/>
          <p:nvPr/>
        </p:nvSpPr>
        <p:spPr>
          <a:xfrm>
            <a:off x="502920" y="1463040"/>
            <a:ext cx="3566160" cy="2194560"/>
          </a:xfrm>
          <a:prstGeom prst="roundRect">
            <a:avLst>
              <a:gd name="adj" fmla="val 3333"/>
            </a:avLst>
          </a:prstGeom>
          <a:solidFill>
            <a:srgbClr val="3A6FF0"/>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Text 3"/>
          <p:cNvSpPr/>
          <p:nvPr/>
        </p:nvSpPr>
        <p:spPr>
          <a:xfrm>
            <a:off x="731520" y="1691640"/>
            <a:ext cx="3108960"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Reduce Fraud Losses</a:t>
            </a:r>
            <a:endParaRPr lang="en-US" sz="1650" dirty="0"/>
          </a:p>
        </p:txBody>
      </p:sp>
      <p:sp>
        <p:nvSpPr>
          <p:cNvPr id="6" name="Text 4"/>
          <p:cNvSpPr/>
          <p:nvPr/>
        </p:nvSpPr>
        <p:spPr>
          <a:xfrm>
            <a:off x="731520" y="2468880"/>
            <a:ext cx="3108960" cy="1005840"/>
          </a:xfrm>
          <a:prstGeom prst="rect">
            <a:avLst/>
          </a:prstGeom>
          <a:noFill/>
          <a:ln/>
        </p:spPr>
        <p:txBody>
          <a:bodyPr wrap="square"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Identify suspicious activity earlier</a:t>
            </a:r>
            <a:endParaRPr lang="en-US" sz="1250" dirty="0"/>
          </a:p>
        </p:txBody>
      </p:sp>
      <p:sp>
        <p:nvSpPr>
          <p:cNvPr id="7" name="Shape 5"/>
          <p:cNvSpPr/>
          <p:nvPr/>
        </p:nvSpPr>
        <p:spPr>
          <a:xfrm>
            <a:off x="4297680" y="1463040"/>
            <a:ext cx="3566160" cy="2194560"/>
          </a:xfrm>
          <a:prstGeom prst="roundRect">
            <a:avLst>
              <a:gd name="adj" fmla="val 3333"/>
            </a:avLst>
          </a:prstGeom>
          <a:solidFill>
            <a:srgbClr val="D14343"/>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8" name="Text 6"/>
          <p:cNvSpPr/>
          <p:nvPr/>
        </p:nvSpPr>
        <p:spPr>
          <a:xfrm>
            <a:off x="4526280" y="1691640"/>
            <a:ext cx="3108960"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Detect Coordinated Fraud</a:t>
            </a:r>
            <a:endParaRPr lang="en-US" sz="1650" dirty="0"/>
          </a:p>
        </p:txBody>
      </p:sp>
      <p:sp>
        <p:nvSpPr>
          <p:cNvPr id="9" name="Text 7"/>
          <p:cNvSpPr/>
          <p:nvPr/>
        </p:nvSpPr>
        <p:spPr>
          <a:xfrm>
            <a:off x="4526280" y="2468880"/>
            <a:ext cx="3108960" cy="1005840"/>
          </a:xfrm>
          <a:prstGeom prst="rect">
            <a:avLst/>
          </a:prstGeom>
          <a:noFill/>
          <a:ln/>
        </p:spPr>
        <p:txBody>
          <a:bodyPr wrap="square"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Find groups rather than isolated accounts</a:t>
            </a:r>
            <a:endParaRPr lang="en-US" sz="1250" dirty="0"/>
          </a:p>
        </p:txBody>
      </p:sp>
      <p:sp>
        <p:nvSpPr>
          <p:cNvPr id="10" name="Shape 8"/>
          <p:cNvSpPr/>
          <p:nvPr/>
        </p:nvSpPr>
        <p:spPr>
          <a:xfrm>
            <a:off x="8092440" y="1463040"/>
            <a:ext cx="3566160" cy="2194560"/>
          </a:xfrm>
          <a:prstGeom prst="roundRect">
            <a:avLst>
              <a:gd name="adj" fmla="val 3333"/>
            </a:avLst>
          </a:prstGeom>
          <a:solidFill>
            <a:srgbClr val="F0A23A"/>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1" name="Text 9"/>
          <p:cNvSpPr/>
          <p:nvPr/>
        </p:nvSpPr>
        <p:spPr>
          <a:xfrm>
            <a:off x="8321040" y="1691640"/>
            <a:ext cx="3108960"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Improve Investigation</a:t>
            </a:r>
            <a:endParaRPr lang="en-US" sz="1650" dirty="0"/>
          </a:p>
        </p:txBody>
      </p:sp>
      <p:sp>
        <p:nvSpPr>
          <p:cNvPr id="12" name="Text 10"/>
          <p:cNvSpPr/>
          <p:nvPr/>
        </p:nvSpPr>
        <p:spPr>
          <a:xfrm>
            <a:off x="8321040" y="2468880"/>
            <a:ext cx="3108960" cy="1005840"/>
          </a:xfrm>
          <a:prstGeom prst="rect">
            <a:avLst/>
          </a:prstGeom>
          <a:noFill/>
          <a:ln/>
        </p:spPr>
        <p:txBody>
          <a:bodyPr wrap="square"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Provide network relationships</a:t>
            </a:r>
            <a:endParaRPr lang="en-US" sz="1250" dirty="0"/>
          </a:p>
        </p:txBody>
      </p:sp>
      <p:sp>
        <p:nvSpPr>
          <p:cNvPr id="13" name="Shape 11"/>
          <p:cNvSpPr/>
          <p:nvPr/>
        </p:nvSpPr>
        <p:spPr>
          <a:xfrm>
            <a:off x="502920" y="3886200"/>
            <a:ext cx="3566160" cy="2194560"/>
          </a:xfrm>
          <a:prstGeom prst="roundRect">
            <a:avLst>
              <a:gd name="adj" fmla="val 3333"/>
            </a:avLst>
          </a:prstGeom>
          <a:solidFill>
            <a:srgbClr val="2E9E62"/>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4" name="Text 12"/>
          <p:cNvSpPr/>
          <p:nvPr/>
        </p:nvSpPr>
        <p:spPr>
          <a:xfrm>
            <a:off x="731520" y="4114800"/>
            <a:ext cx="3108960"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Improve Explainability</a:t>
            </a:r>
            <a:endParaRPr lang="en-US" sz="1650" dirty="0"/>
          </a:p>
        </p:txBody>
      </p:sp>
      <p:sp>
        <p:nvSpPr>
          <p:cNvPr id="15" name="Text 13"/>
          <p:cNvSpPr/>
          <p:nvPr/>
        </p:nvSpPr>
        <p:spPr>
          <a:xfrm>
            <a:off x="731520" y="4892040"/>
            <a:ext cx="3108960" cy="1005840"/>
          </a:xfrm>
          <a:prstGeom prst="rect">
            <a:avLst/>
          </a:prstGeom>
          <a:noFill/>
          <a:ln/>
        </p:spPr>
        <p:txBody>
          <a:bodyPr wrap="square"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Show risk reasons</a:t>
            </a:r>
            <a:endParaRPr lang="en-US" sz="1250" dirty="0"/>
          </a:p>
        </p:txBody>
      </p:sp>
      <p:sp>
        <p:nvSpPr>
          <p:cNvPr id="16" name="Shape 14"/>
          <p:cNvSpPr/>
          <p:nvPr/>
        </p:nvSpPr>
        <p:spPr>
          <a:xfrm>
            <a:off x="4297680" y="3886200"/>
            <a:ext cx="3566160" cy="2194560"/>
          </a:xfrm>
          <a:prstGeom prst="roundRect">
            <a:avLst>
              <a:gd name="adj" fmla="val 3333"/>
            </a:avLst>
          </a:prstGeom>
          <a:solidFill>
            <a:srgbClr val="8E5FD1"/>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7" name="Text 15"/>
          <p:cNvSpPr/>
          <p:nvPr/>
        </p:nvSpPr>
        <p:spPr>
          <a:xfrm>
            <a:off x="4526280" y="4114800"/>
            <a:ext cx="3108960"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Prioritize Investigators</a:t>
            </a:r>
            <a:endParaRPr lang="en-US" sz="1650" dirty="0"/>
          </a:p>
        </p:txBody>
      </p:sp>
      <p:sp>
        <p:nvSpPr>
          <p:cNvPr id="18" name="Text 16"/>
          <p:cNvSpPr/>
          <p:nvPr/>
        </p:nvSpPr>
        <p:spPr>
          <a:xfrm>
            <a:off x="4526280" y="4892040"/>
            <a:ext cx="3108960" cy="1005840"/>
          </a:xfrm>
          <a:prstGeom prst="rect">
            <a:avLst/>
          </a:prstGeom>
          <a:noFill/>
          <a:ln/>
        </p:spPr>
        <p:txBody>
          <a:bodyPr wrap="square"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Focus on high-risk customers and networks</a:t>
            </a:r>
            <a:endParaRPr lang="en-US" sz="1250" dirty="0"/>
          </a:p>
        </p:txBody>
      </p:sp>
      <p:sp>
        <p:nvSpPr>
          <p:cNvPr id="19" name="Text 17"/>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33 · BUSINESS IMPACT</a:t>
            </a:r>
            <a:endParaRPr lang="en-US" sz="900" dirty="0"/>
          </a:p>
        </p:txBody>
      </p:sp>
      <p:sp>
        <p:nvSpPr>
          <p:cNvPr id="20" name="Text 18"/>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21" name="Text 19"/>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SECTIONS 34–35</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Limitations &amp; Future Enhancements</a:t>
            </a:r>
            <a:endParaRPr lang="en-US" sz="3000" dirty="0"/>
          </a:p>
        </p:txBody>
      </p:sp>
      <p:sp>
        <p:nvSpPr>
          <p:cNvPr id="4" name="Shape 2"/>
          <p:cNvSpPr/>
          <p:nvPr/>
        </p:nvSpPr>
        <p:spPr>
          <a:xfrm>
            <a:off x="502920" y="1417320"/>
            <a:ext cx="5623560" cy="4754880"/>
          </a:xfrm>
          <a:prstGeom prst="roundRect">
            <a:avLst>
              <a:gd name="adj" fmla="val 1538"/>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Text 3"/>
          <p:cNvSpPr/>
          <p:nvPr/>
        </p:nvSpPr>
        <p:spPr>
          <a:xfrm>
            <a:off x="777240" y="1645920"/>
            <a:ext cx="5029200" cy="320040"/>
          </a:xfrm>
          <a:prstGeom prst="rect">
            <a:avLst/>
          </a:prstGeom>
          <a:noFill/>
          <a:ln/>
        </p:spPr>
        <p:txBody>
          <a:bodyPr wrap="square" rtlCol="0" anchor="ctr"/>
          <a:lstStyle/>
          <a:p>
            <a:pPr indent="0" marL="0">
              <a:buNone/>
            </a:pPr>
            <a:r>
              <a:rPr lang="en-US" sz="1300" b="1" spc="100" kern="0" dirty="0">
                <a:solidFill>
                  <a:srgbClr val="D14343"/>
                </a:solidFill>
                <a:latin typeface="Calibri" pitchFamily="34" charset="0"/>
                <a:ea typeface="Calibri" pitchFamily="34" charset="-122"/>
                <a:cs typeface="Calibri" pitchFamily="34" charset="-120"/>
              </a:rPr>
              <a:t>CURRENT LIMITATIONS</a:t>
            </a:r>
            <a:endParaRPr lang="en-US" sz="1300" dirty="0"/>
          </a:p>
        </p:txBody>
      </p:sp>
      <p:sp>
        <p:nvSpPr>
          <p:cNvPr id="6" name="Shape 4"/>
          <p:cNvSpPr/>
          <p:nvPr/>
        </p:nvSpPr>
        <p:spPr>
          <a:xfrm>
            <a:off x="822960" y="2157984"/>
            <a:ext cx="109728" cy="109728"/>
          </a:xfrm>
          <a:prstGeom prst="ellipse">
            <a:avLst/>
          </a:prstGeom>
          <a:solidFill>
            <a:srgbClr val="D14343"/>
          </a:solidFill>
          <a:ln/>
        </p:spPr>
      </p:sp>
      <p:sp>
        <p:nvSpPr>
          <p:cNvPr id="7" name="Text 5"/>
          <p:cNvSpPr/>
          <p:nvPr/>
        </p:nvSpPr>
        <p:spPr>
          <a:xfrm>
            <a:off x="1051560" y="2057400"/>
            <a:ext cx="4892040" cy="45720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The dataset is synthetic</a:t>
            </a:r>
            <a:endParaRPr lang="en-US" sz="1150" dirty="0"/>
          </a:p>
        </p:txBody>
      </p:sp>
      <p:sp>
        <p:nvSpPr>
          <p:cNvPr id="8" name="Shape 6"/>
          <p:cNvSpPr/>
          <p:nvPr/>
        </p:nvSpPr>
        <p:spPr>
          <a:xfrm>
            <a:off x="822960" y="2660904"/>
            <a:ext cx="109728" cy="109728"/>
          </a:xfrm>
          <a:prstGeom prst="ellipse">
            <a:avLst/>
          </a:prstGeom>
          <a:solidFill>
            <a:srgbClr val="D14343"/>
          </a:solidFill>
          <a:ln/>
        </p:spPr>
      </p:sp>
      <p:sp>
        <p:nvSpPr>
          <p:cNvPr id="9" name="Text 7"/>
          <p:cNvSpPr/>
          <p:nvPr/>
        </p:nvSpPr>
        <p:spPr>
          <a:xfrm>
            <a:off x="1051560" y="2560320"/>
            <a:ext cx="4892040" cy="45720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The system is primarily batch-based</a:t>
            </a:r>
            <a:endParaRPr lang="en-US" sz="1150" dirty="0"/>
          </a:p>
        </p:txBody>
      </p:sp>
      <p:sp>
        <p:nvSpPr>
          <p:cNvPr id="10" name="Shape 8"/>
          <p:cNvSpPr/>
          <p:nvPr/>
        </p:nvSpPr>
        <p:spPr>
          <a:xfrm>
            <a:off x="822960" y="3163824"/>
            <a:ext cx="109728" cy="109728"/>
          </a:xfrm>
          <a:prstGeom prst="ellipse">
            <a:avLst/>
          </a:prstGeom>
          <a:solidFill>
            <a:srgbClr val="D14343"/>
          </a:solidFill>
          <a:ln/>
        </p:spPr>
      </p:sp>
      <p:sp>
        <p:nvSpPr>
          <p:cNvPr id="11" name="Text 9"/>
          <p:cNvSpPr/>
          <p:nvPr/>
        </p:nvSpPr>
        <p:spPr>
          <a:xfrm>
            <a:off x="1051560" y="3063240"/>
            <a:ext cx="4892040" cy="45720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Real-time transaction streaming is not implemented</a:t>
            </a:r>
            <a:endParaRPr lang="en-US" sz="1150" dirty="0"/>
          </a:p>
        </p:txBody>
      </p:sp>
      <p:sp>
        <p:nvSpPr>
          <p:cNvPr id="12" name="Shape 10"/>
          <p:cNvSpPr/>
          <p:nvPr/>
        </p:nvSpPr>
        <p:spPr>
          <a:xfrm>
            <a:off x="822960" y="3666744"/>
            <a:ext cx="109728" cy="109728"/>
          </a:xfrm>
          <a:prstGeom prst="ellipse">
            <a:avLst/>
          </a:prstGeom>
          <a:solidFill>
            <a:srgbClr val="D14343"/>
          </a:solidFill>
          <a:ln/>
        </p:spPr>
      </p:sp>
      <p:sp>
        <p:nvSpPr>
          <p:cNvPr id="13" name="Text 11"/>
          <p:cNvSpPr/>
          <p:nvPr/>
        </p:nvSpPr>
        <p:spPr>
          <a:xfrm>
            <a:off x="1051560" y="3566160"/>
            <a:ext cx="4892040" cy="45720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A production graph database is not used</a:t>
            </a:r>
            <a:endParaRPr lang="en-US" sz="1150" dirty="0"/>
          </a:p>
        </p:txBody>
      </p:sp>
      <p:sp>
        <p:nvSpPr>
          <p:cNvPr id="14" name="Shape 12"/>
          <p:cNvSpPr/>
          <p:nvPr/>
        </p:nvSpPr>
        <p:spPr>
          <a:xfrm>
            <a:off x="822960" y="4169664"/>
            <a:ext cx="109728" cy="109728"/>
          </a:xfrm>
          <a:prstGeom prst="ellipse">
            <a:avLst/>
          </a:prstGeom>
          <a:solidFill>
            <a:srgbClr val="D14343"/>
          </a:solidFill>
          <a:ln/>
        </p:spPr>
      </p:sp>
      <p:sp>
        <p:nvSpPr>
          <p:cNvPr id="15" name="Text 13"/>
          <p:cNvSpPr/>
          <p:nvPr/>
        </p:nvSpPr>
        <p:spPr>
          <a:xfrm>
            <a:off x="1051560" y="4069080"/>
            <a:ext cx="4892040" cy="45720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Advanced GNN models are not currently implemented</a:t>
            </a:r>
            <a:endParaRPr lang="en-US" sz="1150" dirty="0"/>
          </a:p>
        </p:txBody>
      </p:sp>
      <p:sp>
        <p:nvSpPr>
          <p:cNvPr id="16" name="Shape 14"/>
          <p:cNvSpPr/>
          <p:nvPr/>
        </p:nvSpPr>
        <p:spPr>
          <a:xfrm>
            <a:off x="822960" y="4672584"/>
            <a:ext cx="109728" cy="109728"/>
          </a:xfrm>
          <a:prstGeom prst="ellipse">
            <a:avLst/>
          </a:prstGeom>
          <a:solidFill>
            <a:srgbClr val="D14343"/>
          </a:solidFill>
          <a:ln/>
        </p:spPr>
      </p:sp>
      <p:sp>
        <p:nvSpPr>
          <p:cNvPr id="17" name="Text 15"/>
          <p:cNvSpPr/>
          <p:nvPr/>
        </p:nvSpPr>
        <p:spPr>
          <a:xfrm>
            <a:off x="1051560" y="4572000"/>
            <a:ext cx="4892040" cy="45720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Production authentication is not implemented</a:t>
            </a:r>
            <a:endParaRPr lang="en-US" sz="1150" dirty="0"/>
          </a:p>
        </p:txBody>
      </p:sp>
      <p:sp>
        <p:nvSpPr>
          <p:cNvPr id="18" name="Shape 16"/>
          <p:cNvSpPr/>
          <p:nvPr/>
        </p:nvSpPr>
        <p:spPr>
          <a:xfrm>
            <a:off x="822960" y="5175504"/>
            <a:ext cx="109728" cy="109728"/>
          </a:xfrm>
          <a:prstGeom prst="ellipse">
            <a:avLst/>
          </a:prstGeom>
          <a:solidFill>
            <a:srgbClr val="D14343"/>
          </a:solidFill>
          <a:ln/>
        </p:spPr>
      </p:sp>
      <p:sp>
        <p:nvSpPr>
          <p:cNvPr id="19" name="Text 17"/>
          <p:cNvSpPr/>
          <p:nvPr/>
        </p:nvSpPr>
        <p:spPr>
          <a:xfrm>
            <a:off x="1051560" y="5074920"/>
            <a:ext cx="4892040" cy="457200"/>
          </a:xfrm>
          <a:prstGeom prst="rect">
            <a:avLst/>
          </a:prstGeom>
          <a:noFill/>
          <a:ln/>
        </p:spPr>
        <p:txBody>
          <a:bodyPr wrap="square" rtlCol="0" anchor="ctr"/>
          <a:lstStyle/>
          <a:p>
            <a:pPr indent="0" marL="0">
              <a:buNone/>
            </a:pPr>
            <a:r>
              <a:rPr lang="en-US" sz="1150" dirty="0">
                <a:solidFill>
                  <a:srgbClr val="16234A"/>
                </a:solidFill>
                <a:latin typeface="Calibri" pitchFamily="34" charset="0"/>
                <a:ea typeface="Calibri" pitchFamily="34" charset="-122"/>
                <a:cs typeface="Calibri" pitchFamily="34" charset="-120"/>
              </a:rPr>
              <a:t>Cloud deployment is not included in the final prototype</a:t>
            </a:r>
            <a:endParaRPr lang="en-US" sz="1150" dirty="0"/>
          </a:p>
        </p:txBody>
      </p:sp>
      <p:sp>
        <p:nvSpPr>
          <p:cNvPr id="20" name="Shape 18"/>
          <p:cNvSpPr/>
          <p:nvPr/>
        </p:nvSpPr>
        <p:spPr>
          <a:xfrm>
            <a:off x="6309360" y="1417320"/>
            <a:ext cx="5349240" cy="4754880"/>
          </a:xfrm>
          <a:prstGeom prst="roundRect">
            <a:avLst>
              <a:gd name="adj" fmla="val 1538"/>
            </a:avLst>
          </a:prstGeom>
          <a:solidFill>
            <a:srgbClr val="101F3C"/>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1" name="Text 19"/>
          <p:cNvSpPr/>
          <p:nvPr/>
        </p:nvSpPr>
        <p:spPr>
          <a:xfrm>
            <a:off x="6583680" y="1645920"/>
            <a:ext cx="4846320" cy="320040"/>
          </a:xfrm>
          <a:prstGeom prst="rect">
            <a:avLst/>
          </a:prstGeom>
          <a:noFill/>
          <a:ln/>
        </p:spPr>
        <p:txBody>
          <a:bodyPr wrap="square" rtlCol="0" anchor="ctr"/>
          <a:lstStyle/>
          <a:p>
            <a:pPr indent="0" marL="0">
              <a:buNone/>
            </a:pPr>
            <a:r>
              <a:rPr lang="en-US" sz="1300" b="1" spc="100" kern="0" dirty="0">
                <a:solidFill>
                  <a:srgbClr val="F0A23A"/>
                </a:solidFill>
                <a:latin typeface="Calibri" pitchFamily="34" charset="0"/>
                <a:ea typeface="Calibri" pitchFamily="34" charset="-122"/>
                <a:cs typeface="Calibri" pitchFamily="34" charset="-120"/>
              </a:rPr>
              <a:t>FUTURE ENHANCEMENTS</a:t>
            </a:r>
            <a:endParaRPr lang="en-US" sz="1300" dirty="0"/>
          </a:p>
        </p:txBody>
      </p:sp>
      <p:sp>
        <p:nvSpPr>
          <p:cNvPr id="22" name="Shape 20"/>
          <p:cNvSpPr/>
          <p:nvPr/>
        </p:nvSpPr>
        <p:spPr>
          <a:xfrm>
            <a:off x="6583680" y="2157984"/>
            <a:ext cx="109728" cy="109728"/>
          </a:xfrm>
          <a:prstGeom prst="ellipse">
            <a:avLst/>
          </a:prstGeom>
          <a:solidFill>
            <a:srgbClr val="F0A23A"/>
          </a:solidFill>
          <a:ln/>
        </p:spPr>
      </p:sp>
      <p:sp>
        <p:nvSpPr>
          <p:cNvPr id="23" name="Text 21"/>
          <p:cNvSpPr/>
          <p:nvPr/>
        </p:nvSpPr>
        <p:spPr>
          <a:xfrm>
            <a:off x="6812280" y="204825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Real-time streaming (Kafka)</a:t>
            </a:r>
            <a:endParaRPr lang="en-US" sz="1050" dirty="0"/>
          </a:p>
        </p:txBody>
      </p:sp>
      <p:sp>
        <p:nvSpPr>
          <p:cNvPr id="24" name="Shape 22"/>
          <p:cNvSpPr/>
          <p:nvPr/>
        </p:nvSpPr>
        <p:spPr>
          <a:xfrm>
            <a:off x="9189720" y="2157984"/>
            <a:ext cx="109728" cy="109728"/>
          </a:xfrm>
          <a:prstGeom prst="ellipse">
            <a:avLst/>
          </a:prstGeom>
          <a:solidFill>
            <a:srgbClr val="F0A23A"/>
          </a:solidFill>
          <a:ln/>
        </p:spPr>
      </p:sp>
      <p:sp>
        <p:nvSpPr>
          <p:cNvPr id="25" name="Text 23"/>
          <p:cNvSpPr/>
          <p:nvPr/>
        </p:nvSpPr>
        <p:spPr>
          <a:xfrm>
            <a:off x="9418320" y="204825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Graph database (Neo4j / Amazon Neptune)</a:t>
            </a:r>
            <a:endParaRPr lang="en-US" sz="1050" dirty="0"/>
          </a:p>
        </p:txBody>
      </p:sp>
      <p:sp>
        <p:nvSpPr>
          <p:cNvPr id="26" name="Shape 24"/>
          <p:cNvSpPr/>
          <p:nvPr/>
        </p:nvSpPr>
        <p:spPr>
          <a:xfrm>
            <a:off x="6583680" y="2660904"/>
            <a:ext cx="109728" cy="109728"/>
          </a:xfrm>
          <a:prstGeom prst="ellipse">
            <a:avLst/>
          </a:prstGeom>
          <a:solidFill>
            <a:srgbClr val="F0A23A"/>
          </a:solidFill>
          <a:ln/>
        </p:spPr>
      </p:sp>
      <p:sp>
        <p:nvSpPr>
          <p:cNvPr id="27" name="Text 25"/>
          <p:cNvSpPr/>
          <p:nvPr/>
        </p:nvSpPr>
        <p:spPr>
          <a:xfrm>
            <a:off x="6812280" y="255117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Graph Neural Networks (GNN)</a:t>
            </a:r>
            <a:endParaRPr lang="en-US" sz="1050" dirty="0"/>
          </a:p>
        </p:txBody>
      </p:sp>
      <p:sp>
        <p:nvSpPr>
          <p:cNvPr id="28" name="Shape 26"/>
          <p:cNvSpPr/>
          <p:nvPr/>
        </p:nvSpPr>
        <p:spPr>
          <a:xfrm>
            <a:off x="9189720" y="2660904"/>
            <a:ext cx="109728" cy="109728"/>
          </a:xfrm>
          <a:prstGeom prst="ellipse">
            <a:avLst/>
          </a:prstGeom>
          <a:solidFill>
            <a:srgbClr val="F0A23A"/>
          </a:solidFill>
          <a:ln/>
        </p:spPr>
      </p:sp>
      <p:sp>
        <p:nvSpPr>
          <p:cNvPr id="29" name="Text 27"/>
          <p:cNvSpPr/>
          <p:nvPr/>
        </p:nvSpPr>
        <p:spPr>
          <a:xfrm>
            <a:off x="9418320" y="255117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Cloud deployment (AWS)</a:t>
            </a:r>
            <a:endParaRPr lang="en-US" sz="1050" dirty="0"/>
          </a:p>
        </p:txBody>
      </p:sp>
      <p:sp>
        <p:nvSpPr>
          <p:cNvPr id="30" name="Shape 28"/>
          <p:cNvSpPr/>
          <p:nvPr/>
        </p:nvSpPr>
        <p:spPr>
          <a:xfrm>
            <a:off x="6583680" y="3163824"/>
            <a:ext cx="109728" cy="109728"/>
          </a:xfrm>
          <a:prstGeom prst="ellipse">
            <a:avLst/>
          </a:prstGeom>
          <a:solidFill>
            <a:srgbClr val="F0A23A"/>
          </a:solidFill>
          <a:ln/>
        </p:spPr>
      </p:sp>
      <p:sp>
        <p:nvSpPr>
          <p:cNvPr id="31" name="Text 29"/>
          <p:cNvSpPr/>
          <p:nvPr/>
        </p:nvSpPr>
        <p:spPr>
          <a:xfrm>
            <a:off x="6812280" y="305409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Kubernetes orchestration</a:t>
            </a:r>
            <a:endParaRPr lang="en-US" sz="1050" dirty="0"/>
          </a:p>
        </p:txBody>
      </p:sp>
      <p:sp>
        <p:nvSpPr>
          <p:cNvPr id="32" name="Shape 30"/>
          <p:cNvSpPr/>
          <p:nvPr/>
        </p:nvSpPr>
        <p:spPr>
          <a:xfrm>
            <a:off x="9189720" y="3163824"/>
            <a:ext cx="109728" cy="109728"/>
          </a:xfrm>
          <a:prstGeom prst="ellipse">
            <a:avLst/>
          </a:prstGeom>
          <a:solidFill>
            <a:srgbClr val="F0A23A"/>
          </a:solidFill>
          <a:ln/>
        </p:spPr>
      </p:sp>
      <p:sp>
        <p:nvSpPr>
          <p:cNvPr id="33" name="Text 31"/>
          <p:cNvSpPr/>
          <p:nvPr/>
        </p:nvSpPr>
        <p:spPr>
          <a:xfrm>
            <a:off x="9418320" y="305409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CI/CD (GitHub Actions)</a:t>
            </a:r>
            <a:endParaRPr lang="en-US" sz="1050" dirty="0"/>
          </a:p>
        </p:txBody>
      </p:sp>
      <p:sp>
        <p:nvSpPr>
          <p:cNvPr id="34" name="Shape 32"/>
          <p:cNvSpPr/>
          <p:nvPr/>
        </p:nvSpPr>
        <p:spPr>
          <a:xfrm>
            <a:off x="6583680" y="3666744"/>
            <a:ext cx="109728" cy="109728"/>
          </a:xfrm>
          <a:prstGeom prst="ellipse">
            <a:avLst/>
          </a:prstGeom>
          <a:solidFill>
            <a:srgbClr val="F0A23A"/>
          </a:solidFill>
          <a:ln/>
        </p:spPr>
      </p:sp>
      <p:sp>
        <p:nvSpPr>
          <p:cNvPr id="35" name="Text 33"/>
          <p:cNvSpPr/>
          <p:nvPr/>
        </p:nvSpPr>
        <p:spPr>
          <a:xfrm>
            <a:off x="6812280" y="355701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Real payment platform integration</a:t>
            </a:r>
            <a:endParaRPr lang="en-US" sz="1050" dirty="0"/>
          </a:p>
        </p:txBody>
      </p:sp>
      <p:sp>
        <p:nvSpPr>
          <p:cNvPr id="36" name="Shape 34"/>
          <p:cNvSpPr/>
          <p:nvPr/>
        </p:nvSpPr>
        <p:spPr>
          <a:xfrm>
            <a:off x="9189720" y="3666744"/>
            <a:ext cx="109728" cy="109728"/>
          </a:xfrm>
          <a:prstGeom prst="ellipse">
            <a:avLst/>
          </a:prstGeom>
          <a:solidFill>
            <a:srgbClr val="F0A23A"/>
          </a:solidFill>
          <a:ln/>
        </p:spPr>
      </p:sp>
      <p:sp>
        <p:nvSpPr>
          <p:cNvPr id="37" name="Text 35"/>
          <p:cNvSpPr/>
          <p:nvPr/>
        </p:nvSpPr>
        <p:spPr>
          <a:xfrm>
            <a:off x="9418320" y="355701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Automatic alerting system</a:t>
            </a:r>
            <a:endParaRPr lang="en-US" sz="1050" dirty="0"/>
          </a:p>
        </p:txBody>
      </p:sp>
      <p:sp>
        <p:nvSpPr>
          <p:cNvPr id="38" name="Shape 36"/>
          <p:cNvSpPr/>
          <p:nvPr/>
        </p:nvSpPr>
        <p:spPr>
          <a:xfrm>
            <a:off x="6583680" y="4169664"/>
            <a:ext cx="109728" cy="109728"/>
          </a:xfrm>
          <a:prstGeom prst="ellipse">
            <a:avLst/>
          </a:prstGeom>
          <a:solidFill>
            <a:srgbClr val="F0A23A"/>
          </a:solidFill>
          <a:ln/>
        </p:spPr>
      </p:sp>
      <p:sp>
        <p:nvSpPr>
          <p:cNvPr id="39" name="Text 37"/>
          <p:cNvSpPr/>
          <p:nvPr/>
        </p:nvSpPr>
        <p:spPr>
          <a:xfrm>
            <a:off x="6812280" y="4059936"/>
            <a:ext cx="233172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Explainable AI (SHAP)</a:t>
            </a:r>
            <a:endParaRPr lang="en-US" sz="1050" dirty="0"/>
          </a:p>
        </p:txBody>
      </p:sp>
      <p:sp>
        <p:nvSpPr>
          <p:cNvPr id="40" name="Text 38"/>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SECTIONS 34–35 · LIMITATIONS &amp; FUTURE</a:t>
            </a:r>
            <a:endParaRPr lang="en-US" sz="900" dirty="0"/>
          </a:p>
        </p:txBody>
      </p:sp>
      <p:sp>
        <p:nvSpPr>
          <p:cNvPr id="41" name="Text 39"/>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42" name="Text 40"/>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01F3C"/>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F0A23A"/>
                </a:solidFill>
                <a:latin typeface="Calibri" pitchFamily="34" charset="0"/>
                <a:ea typeface="Calibri" pitchFamily="34" charset="-122"/>
                <a:cs typeface="Calibri" pitchFamily="34" charset="-120"/>
              </a:rPr>
              <a:t>SECTION 36</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502920" y="1371600"/>
            <a:ext cx="11155680" cy="822960"/>
          </a:xfrm>
          <a:prstGeom prst="rect">
            <a:avLst/>
          </a:prstGeom>
          <a:noFill/>
          <a:ln/>
        </p:spPr>
        <p:txBody>
          <a:bodyPr wrap="square" rtlCol="0" anchor="ctr"/>
          <a:lstStyle/>
          <a:p>
            <a:pPr indent="0" marL="0">
              <a:lnSpc>
                <a:spcPct val="130000"/>
              </a:lnSpc>
              <a:buNone/>
            </a:pPr>
            <a:r>
              <a:rPr lang="en-US" sz="1500" dirty="0">
                <a:solidFill>
                  <a:srgbClr val="D8E3F5"/>
                </a:solidFill>
                <a:latin typeface="Calibri" pitchFamily="34" charset="0"/>
                <a:ea typeface="Calibri" pitchFamily="34" charset="-122"/>
                <a:cs typeface="Calibri" pitchFamily="34" charset="-120"/>
              </a:rPr>
              <a:t>RISKNET AI demonstrates a hybrid approach to fraud detection by combining rule-based intelligence, machine learning, behavioral analysis, graph intelligence, and fraud ring detection.</a:t>
            </a:r>
            <a:endParaRPr lang="en-US" sz="1500" dirty="0"/>
          </a:p>
        </p:txBody>
      </p:sp>
      <p:sp>
        <p:nvSpPr>
          <p:cNvPr id="5" name="Shape 3"/>
          <p:cNvSpPr/>
          <p:nvPr/>
        </p:nvSpPr>
        <p:spPr>
          <a:xfrm>
            <a:off x="502920" y="2377440"/>
            <a:ext cx="11155680" cy="914400"/>
          </a:xfrm>
          <a:prstGeom prst="roundRect">
            <a:avLst>
              <a:gd name="adj" fmla="val 8000"/>
            </a:avLst>
          </a:prstGeom>
          <a:solidFill>
            <a:srgbClr val="1B2E58"/>
          </a:solidFill>
          <a:ln/>
        </p:spPr>
      </p:sp>
      <p:sp>
        <p:nvSpPr>
          <p:cNvPr id="6" name="Text 4"/>
          <p:cNvSpPr/>
          <p:nvPr/>
        </p:nvSpPr>
        <p:spPr>
          <a:xfrm>
            <a:off x="777240" y="2377440"/>
            <a:ext cx="10607040" cy="914400"/>
          </a:xfrm>
          <a:prstGeom prst="rect">
            <a:avLst/>
          </a:prstGeom>
          <a:noFill/>
          <a:ln/>
        </p:spPr>
        <p:txBody>
          <a:bodyPr wrap="square" rtlCol="0" anchor="ctr"/>
          <a:lstStyle/>
          <a:p>
            <a:pPr indent="0" marL="0">
              <a:buNone/>
            </a:pPr>
            <a:r>
              <a:rPr lang="en-US" sz="1500" b="1" i="1" dirty="0">
                <a:solidFill>
                  <a:srgbClr val="FFFFFF"/>
                </a:solidFill>
                <a:latin typeface="Calibri" pitchFamily="34" charset="0"/>
                <a:ea typeface="Calibri" pitchFamily="34" charset="-122"/>
                <a:cs typeface="Calibri" pitchFamily="34" charset="-120"/>
              </a:rPr>
              <a:t>The key innovation: RISKNET AI does not treat every customer as an isolated entity.</a:t>
            </a:r>
            <a:endParaRPr lang="en-US" sz="1500" dirty="0"/>
          </a:p>
        </p:txBody>
      </p:sp>
      <p:sp>
        <p:nvSpPr>
          <p:cNvPr id="7" name="Shape 5"/>
          <p:cNvSpPr/>
          <p:nvPr/>
        </p:nvSpPr>
        <p:spPr>
          <a:xfrm>
            <a:off x="502920" y="3520440"/>
            <a:ext cx="5440680" cy="621792"/>
          </a:xfrm>
          <a:prstGeom prst="roundRect">
            <a:avLst>
              <a:gd name="adj" fmla="val 11765"/>
            </a:avLst>
          </a:prstGeom>
          <a:solidFill>
            <a:srgbClr val="24396B"/>
          </a:solidFill>
          <a:ln/>
        </p:spPr>
      </p:sp>
      <p:sp>
        <p:nvSpPr>
          <p:cNvPr id="8" name="Text 6"/>
          <p:cNvSpPr/>
          <p:nvPr/>
        </p:nvSpPr>
        <p:spPr>
          <a:xfrm>
            <a:off x="731520" y="3520440"/>
            <a:ext cx="502920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Who is the customer connected to?</a:t>
            </a:r>
            <a:endParaRPr lang="en-US" sz="1250" dirty="0"/>
          </a:p>
        </p:txBody>
      </p:sp>
      <p:sp>
        <p:nvSpPr>
          <p:cNvPr id="9" name="Shape 7"/>
          <p:cNvSpPr/>
          <p:nvPr/>
        </p:nvSpPr>
        <p:spPr>
          <a:xfrm>
            <a:off x="6172200" y="3520440"/>
            <a:ext cx="5440680" cy="621792"/>
          </a:xfrm>
          <a:prstGeom prst="roundRect">
            <a:avLst>
              <a:gd name="adj" fmla="val 11765"/>
            </a:avLst>
          </a:prstGeom>
          <a:solidFill>
            <a:srgbClr val="24396B"/>
          </a:solidFill>
          <a:ln/>
        </p:spPr>
      </p:sp>
      <p:sp>
        <p:nvSpPr>
          <p:cNvPr id="10" name="Text 8"/>
          <p:cNvSpPr/>
          <p:nvPr/>
        </p:nvSpPr>
        <p:spPr>
          <a:xfrm>
            <a:off x="6400800" y="3520440"/>
            <a:ext cx="502920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What device is shared?</a:t>
            </a:r>
            <a:endParaRPr lang="en-US" sz="1250" dirty="0"/>
          </a:p>
        </p:txBody>
      </p:sp>
      <p:sp>
        <p:nvSpPr>
          <p:cNvPr id="11" name="Shape 9"/>
          <p:cNvSpPr/>
          <p:nvPr/>
        </p:nvSpPr>
        <p:spPr>
          <a:xfrm>
            <a:off x="502920" y="4297680"/>
            <a:ext cx="5440680" cy="621792"/>
          </a:xfrm>
          <a:prstGeom prst="roundRect">
            <a:avLst>
              <a:gd name="adj" fmla="val 11765"/>
            </a:avLst>
          </a:prstGeom>
          <a:solidFill>
            <a:srgbClr val="24396B"/>
          </a:solidFill>
          <a:ln/>
        </p:spPr>
      </p:sp>
      <p:sp>
        <p:nvSpPr>
          <p:cNvPr id="12" name="Text 10"/>
          <p:cNvSpPr/>
          <p:nvPr/>
        </p:nvSpPr>
        <p:spPr>
          <a:xfrm>
            <a:off x="731520" y="4297680"/>
            <a:ext cx="502920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What payment instrument is shared?</a:t>
            </a:r>
            <a:endParaRPr lang="en-US" sz="1250" dirty="0"/>
          </a:p>
        </p:txBody>
      </p:sp>
      <p:sp>
        <p:nvSpPr>
          <p:cNvPr id="13" name="Shape 11"/>
          <p:cNvSpPr/>
          <p:nvPr/>
        </p:nvSpPr>
        <p:spPr>
          <a:xfrm>
            <a:off x="6172200" y="4297680"/>
            <a:ext cx="5440680" cy="621792"/>
          </a:xfrm>
          <a:prstGeom prst="roundRect">
            <a:avLst>
              <a:gd name="adj" fmla="val 11765"/>
            </a:avLst>
          </a:prstGeom>
          <a:solidFill>
            <a:srgbClr val="24396B"/>
          </a:solidFill>
          <a:ln/>
        </p:spPr>
      </p:sp>
      <p:sp>
        <p:nvSpPr>
          <p:cNvPr id="14" name="Text 12"/>
          <p:cNvSpPr/>
          <p:nvPr/>
        </p:nvSpPr>
        <p:spPr>
          <a:xfrm>
            <a:off x="6400800" y="4297680"/>
            <a:ext cx="502920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Does the customer belong to a suspicious network?</a:t>
            </a:r>
            <a:endParaRPr lang="en-US" sz="1250" dirty="0"/>
          </a:p>
        </p:txBody>
      </p:sp>
      <p:sp>
        <p:nvSpPr>
          <p:cNvPr id="15" name="Text 13"/>
          <p:cNvSpPr/>
          <p:nvPr/>
        </p:nvSpPr>
        <p:spPr>
          <a:xfrm>
            <a:off x="502920" y="5257800"/>
            <a:ext cx="11155680" cy="457200"/>
          </a:xfrm>
          <a:prstGeom prst="rect">
            <a:avLst/>
          </a:prstGeom>
          <a:noFill/>
          <a:ln/>
        </p:spPr>
        <p:txBody>
          <a:bodyPr wrap="square" rtlCol="0" anchor="ctr"/>
          <a:lstStyle/>
          <a:p>
            <a:pPr algn="ctr" indent="0" marL="0">
              <a:buNone/>
            </a:pPr>
            <a:r>
              <a:rPr lang="en-US" sz="1200" b="1" spc="100" kern="0" dirty="0">
                <a:solidFill>
                  <a:srgbClr val="F0A23A"/>
                </a:solidFill>
                <a:latin typeface="Calibri" pitchFamily="34" charset="0"/>
                <a:ea typeface="Calibri" pitchFamily="34" charset="-122"/>
                <a:cs typeface="Calibri" pitchFamily="34" charset="-120"/>
              </a:rPr>
              <a:t>DATA → FEATURES → ML → GRAPH → FRAUD RINGS → FINAL RISK → API → DASHBOARD → DOCKER DEPLOYMENT</a:t>
            </a:r>
            <a:endParaRPr lang="en-US" sz="1200" dirty="0"/>
          </a:p>
        </p:txBody>
      </p:sp>
      <p:sp>
        <p:nvSpPr>
          <p:cNvPr id="16" name="Text 14"/>
          <p:cNvSpPr/>
          <p:nvPr/>
        </p:nvSpPr>
        <p:spPr>
          <a:xfrm>
            <a:off x="502920" y="5806440"/>
            <a:ext cx="11155680" cy="457200"/>
          </a:xfrm>
          <a:prstGeom prst="rect">
            <a:avLst/>
          </a:prstGeom>
          <a:noFill/>
          <a:ln/>
        </p:spPr>
        <p:txBody>
          <a:bodyPr wrap="square" rtlCol="0" anchor="ctr"/>
          <a:lstStyle/>
          <a:p>
            <a:pPr algn="ctr" indent="0" marL="0">
              <a:buNone/>
            </a:pPr>
            <a:r>
              <a:rPr lang="en-US" sz="1300" i="1" dirty="0">
                <a:solidFill>
                  <a:srgbClr val="9FB1D6"/>
                </a:solidFill>
                <a:latin typeface="Calibri" pitchFamily="34" charset="0"/>
                <a:ea typeface="Calibri" pitchFamily="34" charset="-122"/>
                <a:cs typeface="Calibri" pitchFamily="34" charset="-120"/>
              </a:rPr>
              <a:t>A complete Buildathon prototype for AI-powered Fraud Ring and Customer Risk Intelligence.</a:t>
            </a:r>
            <a:endParaRPr lang="en-US" sz="1300" dirty="0"/>
          </a:p>
        </p:txBody>
      </p:sp>
      <p:sp>
        <p:nvSpPr>
          <p:cNvPr id="17" name="Text 15"/>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9FB1D6"/>
                </a:solidFill>
                <a:latin typeface="Calibri" pitchFamily="34" charset="0"/>
                <a:ea typeface="Calibri" pitchFamily="34" charset="-122"/>
                <a:cs typeface="Calibri" pitchFamily="34" charset="-120"/>
              </a:rPr>
              <a:t>SECTION 36 · CONCLUSION</a:t>
            </a:r>
            <a:endParaRPr lang="en-US" sz="900" dirty="0"/>
          </a:p>
        </p:txBody>
      </p:sp>
      <p:sp>
        <p:nvSpPr>
          <p:cNvPr id="18" name="Text 16"/>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RISKNET AI</a:t>
            </a:r>
            <a:endParaRPr lang="en-US" sz="900" dirty="0"/>
          </a:p>
        </p:txBody>
      </p:sp>
      <p:sp>
        <p:nvSpPr>
          <p:cNvPr id="19" name="Text 1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FB1D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02920" y="320040"/>
            <a:ext cx="9144000" cy="292608"/>
          </a:xfrm>
          <a:prstGeom prst="rect">
            <a:avLst/>
          </a:prstGeom>
          <a:noFill/>
          <a:ln/>
        </p:spPr>
        <p:txBody>
          <a:bodyPr wrap="square" rtlCol="0" anchor="ctr"/>
          <a:lstStyle/>
          <a:p>
            <a:pPr indent="0" marL="0">
              <a:buNone/>
            </a:pPr>
            <a:r>
              <a:rPr lang="en-US" sz="1200" b="1" spc="200" kern="0" dirty="0">
                <a:solidFill>
                  <a:srgbClr val="3A6FF0"/>
                </a:solidFill>
                <a:latin typeface="Calibri" pitchFamily="34" charset="0"/>
                <a:ea typeface="Calibri" pitchFamily="34" charset="-122"/>
                <a:cs typeface="Calibri" pitchFamily="34" charset="-120"/>
              </a:rPr>
              <a:t>SECTION 37</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References</a:t>
            </a:r>
            <a:endParaRPr lang="en-US" sz="3000" dirty="0"/>
          </a:p>
        </p:txBody>
      </p:sp>
      <p:sp>
        <p:nvSpPr>
          <p:cNvPr id="4" name="Shape 2"/>
          <p:cNvSpPr/>
          <p:nvPr/>
        </p:nvSpPr>
        <p:spPr>
          <a:xfrm>
            <a:off x="502920" y="1645920"/>
            <a:ext cx="11155680" cy="621792"/>
          </a:xfrm>
          <a:prstGeom prst="roundRect">
            <a:avLst>
              <a:gd name="adj" fmla="val 11765"/>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5" name="Shape 3"/>
          <p:cNvSpPr/>
          <p:nvPr/>
        </p:nvSpPr>
        <p:spPr>
          <a:xfrm>
            <a:off x="845820" y="1751076"/>
            <a:ext cx="411480" cy="411480"/>
          </a:xfrm>
          <a:prstGeom prst="ellipse">
            <a:avLst/>
          </a:prstGeom>
          <a:solidFill>
            <a:srgbClr val="101F3C"/>
          </a:solidFill>
          <a:ln/>
        </p:spPr>
      </p:sp>
      <p:sp>
        <p:nvSpPr>
          <p:cNvPr id="6" name="Text 4"/>
          <p:cNvSpPr/>
          <p:nvPr/>
        </p:nvSpPr>
        <p:spPr>
          <a:xfrm>
            <a:off x="845820" y="1751076"/>
            <a:ext cx="411480" cy="411480"/>
          </a:xfrm>
          <a:prstGeom prst="rect">
            <a:avLst/>
          </a:prstGeom>
          <a:noFill/>
          <a:ln/>
        </p:spPr>
        <p:txBody>
          <a:bodyPr wrap="square" rtlCol="0" anchor="ctr"/>
          <a:lstStyle/>
          <a:p>
            <a:pPr algn="ctr" indent="0" marL="0">
              <a:buNone/>
            </a:pPr>
            <a:r>
              <a:rPr lang="en-US" sz="1170" b="1" dirty="0">
                <a:solidFill>
                  <a:srgbClr val="FFFFFF"/>
                </a:solidFill>
                <a:latin typeface="Calibri" pitchFamily="34" charset="0"/>
                <a:ea typeface="Calibri" pitchFamily="34" charset="-122"/>
                <a:cs typeface="Calibri" pitchFamily="34" charset="-120"/>
              </a:rPr>
              <a:t>1</a:t>
            </a:r>
            <a:endParaRPr lang="en-US" sz="1170" dirty="0"/>
          </a:p>
        </p:txBody>
      </p:sp>
      <p:sp>
        <p:nvSpPr>
          <p:cNvPr id="7" name="Text 5"/>
          <p:cNvSpPr/>
          <p:nvPr/>
        </p:nvSpPr>
        <p:spPr>
          <a:xfrm>
            <a:off x="1463040" y="1645920"/>
            <a:ext cx="9875520" cy="621792"/>
          </a:xfrm>
          <a:prstGeom prst="rect">
            <a:avLst/>
          </a:prstGeom>
          <a:noFill/>
          <a:ln/>
        </p:spPr>
        <p:txBody>
          <a:bodyPr wrap="square" rtlCol="0" anchor="ctr"/>
          <a:lstStyle/>
          <a:p>
            <a:pPr indent="0" marL="0">
              <a:buNone/>
            </a:pPr>
            <a:r>
              <a:rPr lang="en-US" sz="1400" dirty="0">
                <a:solidFill>
                  <a:srgbClr val="16234A"/>
                </a:solidFill>
                <a:latin typeface="Calibri" pitchFamily="34" charset="0"/>
                <a:ea typeface="Calibri" pitchFamily="34" charset="-122"/>
                <a:cs typeface="Calibri" pitchFamily="34" charset="-120"/>
              </a:rPr>
              <a:t>Microsoft Learn — Fraud Detection Model Workflow</a:t>
            </a:r>
            <a:endParaRPr lang="en-US" sz="1400" dirty="0"/>
          </a:p>
        </p:txBody>
      </p:sp>
      <p:sp>
        <p:nvSpPr>
          <p:cNvPr id="8" name="Shape 6"/>
          <p:cNvSpPr/>
          <p:nvPr/>
        </p:nvSpPr>
        <p:spPr>
          <a:xfrm>
            <a:off x="502920" y="2423160"/>
            <a:ext cx="11155680" cy="621792"/>
          </a:xfrm>
          <a:prstGeom prst="roundRect">
            <a:avLst>
              <a:gd name="adj" fmla="val 11765"/>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9" name="Shape 7"/>
          <p:cNvSpPr/>
          <p:nvPr/>
        </p:nvSpPr>
        <p:spPr>
          <a:xfrm>
            <a:off x="845820" y="2528316"/>
            <a:ext cx="411480" cy="411480"/>
          </a:xfrm>
          <a:prstGeom prst="ellipse">
            <a:avLst/>
          </a:prstGeom>
          <a:solidFill>
            <a:srgbClr val="101F3C"/>
          </a:solidFill>
          <a:ln/>
        </p:spPr>
      </p:sp>
      <p:sp>
        <p:nvSpPr>
          <p:cNvPr id="10" name="Text 8"/>
          <p:cNvSpPr/>
          <p:nvPr/>
        </p:nvSpPr>
        <p:spPr>
          <a:xfrm>
            <a:off x="845820" y="2528316"/>
            <a:ext cx="411480" cy="411480"/>
          </a:xfrm>
          <a:prstGeom prst="rect">
            <a:avLst/>
          </a:prstGeom>
          <a:noFill/>
          <a:ln/>
        </p:spPr>
        <p:txBody>
          <a:bodyPr wrap="square" rtlCol="0" anchor="ctr"/>
          <a:lstStyle/>
          <a:p>
            <a:pPr algn="ctr" indent="0" marL="0">
              <a:buNone/>
            </a:pPr>
            <a:r>
              <a:rPr lang="en-US" sz="1170" b="1" dirty="0">
                <a:solidFill>
                  <a:srgbClr val="FFFFFF"/>
                </a:solidFill>
                <a:latin typeface="Calibri" pitchFamily="34" charset="0"/>
                <a:ea typeface="Calibri" pitchFamily="34" charset="-122"/>
                <a:cs typeface="Calibri" pitchFamily="34" charset="-120"/>
              </a:rPr>
              <a:t>2</a:t>
            </a:r>
            <a:endParaRPr lang="en-US" sz="1170" dirty="0"/>
          </a:p>
        </p:txBody>
      </p:sp>
      <p:sp>
        <p:nvSpPr>
          <p:cNvPr id="11" name="Text 9"/>
          <p:cNvSpPr/>
          <p:nvPr/>
        </p:nvSpPr>
        <p:spPr>
          <a:xfrm>
            <a:off x="1463040" y="2423160"/>
            <a:ext cx="9875520" cy="621792"/>
          </a:xfrm>
          <a:prstGeom prst="rect">
            <a:avLst/>
          </a:prstGeom>
          <a:noFill/>
          <a:ln/>
        </p:spPr>
        <p:txBody>
          <a:bodyPr wrap="square" rtlCol="0" anchor="ctr"/>
          <a:lstStyle/>
          <a:p>
            <a:pPr indent="0" marL="0">
              <a:buNone/>
            </a:pPr>
            <a:r>
              <a:rPr lang="en-US" sz="1400" dirty="0">
                <a:solidFill>
                  <a:srgbClr val="16234A"/>
                </a:solidFill>
                <a:latin typeface="Calibri" pitchFamily="34" charset="0"/>
                <a:ea typeface="Calibri" pitchFamily="34" charset="-122"/>
                <a:cs typeface="Calibri" pitchFamily="34" charset="-120"/>
              </a:rPr>
              <a:t>AWS — Near Real-Time Fraud Detection with Graph Neural Networks</a:t>
            </a:r>
            <a:endParaRPr lang="en-US" sz="1400" dirty="0"/>
          </a:p>
        </p:txBody>
      </p:sp>
      <p:sp>
        <p:nvSpPr>
          <p:cNvPr id="12" name="Shape 10"/>
          <p:cNvSpPr/>
          <p:nvPr/>
        </p:nvSpPr>
        <p:spPr>
          <a:xfrm>
            <a:off x="502920" y="3200400"/>
            <a:ext cx="11155680" cy="621792"/>
          </a:xfrm>
          <a:prstGeom prst="roundRect">
            <a:avLst>
              <a:gd name="adj" fmla="val 11765"/>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3" name="Shape 11"/>
          <p:cNvSpPr/>
          <p:nvPr/>
        </p:nvSpPr>
        <p:spPr>
          <a:xfrm>
            <a:off x="845820" y="3305556"/>
            <a:ext cx="411480" cy="411480"/>
          </a:xfrm>
          <a:prstGeom prst="ellipse">
            <a:avLst/>
          </a:prstGeom>
          <a:solidFill>
            <a:srgbClr val="101F3C"/>
          </a:solidFill>
          <a:ln/>
        </p:spPr>
      </p:sp>
      <p:sp>
        <p:nvSpPr>
          <p:cNvPr id="14" name="Text 12"/>
          <p:cNvSpPr/>
          <p:nvPr/>
        </p:nvSpPr>
        <p:spPr>
          <a:xfrm>
            <a:off x="845820" y="3305556"/>
            <a:ext cx="411480" cy="411480"/>
          </a:xfrm>
          <a:prstGeom prst="rect">
            <a:avLst/>
          </a:prstGeom>
          <a:noFill/>
          <a:ln/>
        </p:spPr>
        <p:txBody>
          <a:bodyPr wrap="square" rtlCol="0" anchor="ctr"/>
          <a:lstStyle/>
          <a:p>
            <a:pPr algn="ctr" indent="0" marL="0">
              <a:buNone/>
            </a:pPr>
            <a:r>
              <a:rPr lang="en-US" sz="1170" b="1" dirty="0">
                <a:solidFill>
                  <a:srgbClr val="FFFFFF"/>
                </a:solidFill>
                <a:latin typeface="Calibri" pitchFamily="34" charset="0"/>
                <a:ea typeface="Calibri" pitchFamily="34" charset="-122"/>
                <a:cs typeface="Calibri" pitchFamily="34" charset="-120"/>
              </a:rPr>
              <a:t>3</a:t>
            </a:r>
            <a:endParaRPr lang="en-US" sz="1170" dirty="0"/>
          </a:p>
        </p:txBody>
      </p:sp>
      <p:sp>
        <p:nvSpPr>
          <p:cNvPr id="15" name="Text 13"/>
          <p:cNvSpPr/>
          <p:nvPr/>
        </p:nvSpPr>
        <p:spPr>
          <a:xfrm>
            <a:off x="1463040" y="3200400"/>
            <a:ext cx="9875520" cy="621792"/>
          </a:xfrm>
          <a:prstGeom prst="rect">
            <a:avLst/>
          </a:prstGeom>
          <a:noFill/>
          <a:ln/>
        </p:spPr>
        <p:txBody>
          <a:bodyPr wrap="square" rtlCol="0" anchor="ctr"/>
          <a:lstStyle/>
          <a:p>
            <a:pPr indent="0" marL="0">
              <a:buNone/>
            </a:pPr>
            <a:r>
              <a:rPr lang="en-US" sz="1400" dirty="0">
                <a:solidFill>
                  <a:srgbClr val="16234A"/>
                </a:solidFill>
                <a:latin typeface="Calibri" pitchFamily="34" charset="0"/>
                <a:ea typeface="Calibri" pitchFamily="34" charset="-122"/>
                <a:cs typeface="Calibri" pitchFamily="34" charset="-120"/>
              </a:rPr>
              <a:t>AWS Machine Learning Blog — GNN-Based Real-Time Fraud Detection</a:t>
            </a:r>
            <a:endParaRPr lang="en-US" sz="1400" dirty="0"/>
          </a:p>
        </p:txBody>
      </p:sp>
      <p:sp>
        <p:nvSpPr>
          <p:cNvPr id="16" name="Shape 14"/>
          <p:cNvSpPr/>
          <p:nvPr/>
        </p:nvSpPr>
        <p:spPr>
          <a:xfrm>
            <a:off x="502920" y="3977640"/>
            <a:ext cx="11155680" cy="621792"/>
          </a:xfrm>
          <a:prstGeom prst="roundRect">
            <a:avLst>
              <a:gd name="adj" fmla="val 11765"/>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17" name="Shape 15"/>
          <p:cNvSpPr/>
          <p:nvPr/>
        </p:nvSpPr>
        <p:spPr>
          <a:xfrm>
            <a:off x="845820" y="4082796"/>
            <a:ext cx="411480" cy="411480"/>
          </a:xfrm>
          <a:prstGeom prst="ellipse">
            <a:avLst/>
          </a:prstGeom>
          <a:solidFill>
            <a:srgbClr val="101F3C"/>
          </a:solidFill>
          <a:ln/>
        </p:spPr>
      </p:sp>
      <p:sp>
        <p:nvSpPr>
          <p:cNvPr id="18" name="Text 16"/>
          <p:cNvSpPr/>
          <p:nvPr/>
        </p:nvSpPr>
        <p:spPr>
          <a:xfrm>
            <a:off x="845820" y="4082796"/>
            <a:ext cx="411480" cy="411480"/>
          </a:xfrm>
          <a:prstGeom prst="rect">
            <a:avLst/>
          </a:prstGeom>
          <a:noFill/>
          <a:ln/>
        </p:spPr>
        <p:txBody>
          <a:bodyPr wrap="square" rtlCol="0" anchor="ctr"/>
          <a:lstStyle/>
          <a:p>
            <a:pPr algn="ctr" indent="0" marL="0">
              <a:buNone/>
            </a:pPr>
            <a:r>
              <a:rPr lang="en-US" sz="1170" b="1" dirty="0">
                <a:solidFill>
                  <a:srgbClr val="FFFFFF"/>
                </a:solidFill>
                <a:latin typeface="Calibri" pitchFamily="34" charset="0"/>
                <a:ea typeface="Calibri" pitchFamily="34" charset="-122"/>
                <a:cs typeface="Calibri" pitchFamily="34" charset="-120"/>
              </a:rPr>
              <a:t>4</a:t>
            </a:r>
            <a:endParaRPr lang="en-US" sz="1170" dirty="0"/>
          </a:p>
        </p:txBody>
      </p:sp>
      <p:sp>
        <p:nvSpPr>
          <p:cNvPr id="19" name="Text 17"/>
          <p:cNvSpPr/>
          <p:nvPr/>
        </p:nvSpPr>
        <p:spPr>
          <a:xfrm>
            <a:off x="1463040" y="3977640"/>
            <a:ext cx="9875520" cy="621792"/>
          </a:xfrm>
          <a:prstGeom prst="rect">
            <a:avLst/>
          </a:prstGeom>
          <a:noFill/>
          <a:ln/>
        </p:spPr>
        <p:txBody>
          <a:bodyPr wrap="square" rtlCol="0" anchor="ctr"/>
          <a:lstStyle/>
          <a:p>
            <a:pPr indent="0" marL="0">
              <a:buNone/>
            </a:pPr>
            <a:r>
              <a:rPr lang="en-US" sz="1400" dirty="0">
                <a:solidFill>
                  <a:srgbClr val="16234A"/>
                </a:solidFill>
                <a:latin typeface="Calibri" pitchFamily="34" charset="0"/>
                <a:ea typeface="Calibri" pitchFamily="34" charset="-122"/>
                <a:cs typeface="Calibri" pitchFamily="34" charset="-120"/>
              </a:rPr>
              <a:t>AWS Labs — Fraud Detection with Graph Neural Networks</a:t>
            </a:r>
            <a:endParaRPr lang="en-US" sz="1400" dirty="0"/>
          </a:p>
        </p:txBody>
      </p:sp>
      <p:sp>
        <p:nvSpPr>
          <p:cNvPr id="20" name="Shape 18"/>
          <p:cNvSpPr/>
          <p:nvPr/>
        </p:nvSpPr>
        <p:spPr>
          <a:xfrm>
            <a:off x="502920" y="4754880"/>
            <a:ext cx="11155680" cy="621792"/>
          </a:xfrm>
          <a:prstGeom prst="roundRect">
            <a:avLst>
              <a:gd name="adj" fmla="val 11765"/>
            </a:avLst>
          </a:prstGeom>
          <a:solidFill>
            <a:srgbClr val="FFFFFF"/>
          </a:solidFill>
          <a:ln w="12700">
            <a:solidFill>
              <a:srgbClr val="E2E7F1"/>
            </a:solidFill>
            <a:prstDash val="solid"/>
          </a:ln>
          <a:effectLst>
            <a:outerShdw sx="100000" sy="100000" kx="0" ky="0" algn="bl" rotWithShape="0" blurRad="101600" dist="25400" dir="5400000">
              <a:srgbClr val="1B2E58">
                <a:alpha val="12000"/>
              </a:srgbClr>
            </a:outerShdw>
          </a:effectLst>
        </p:spPr>
      </p:sp>
      <p:sp>
        <p:nvSpPr>
          <p:cNvPr id="21" name="Shape 19"/>
          <p:cNvSpPr/>
          <p:nvPr/>
        </p:nvSpPr>
        <p:spPr>
          <a:xfrm>
            <a:off x="845820" y="4860036"/>
            <a:ext cx="411480" cy="411480"/>
          </a:xfrm>
          <a:prstGeom prst="ellipse">
            <a:avLst/>
          </a:prstGeom>
          <a:solidFill>
            <a:srgbClr val="101F3C"/>
          </a:solidFill>
          <a:ln/>
        </p:spPr>
      </p:sp>
      <p:sp>
        <p:nvSpPr>
          <p:cNvPr id="22" name="Text 20"/>
          <p:cNvSpPr/>
          <p:nvPr/>
        </p:nvSpPr>
        <p:spPr>
          <a:xfrm>
            <a:off x="845820" y="4860036"/>
            <a:ext cx="411480" cy="411480"/>
          </a:xfrm>
          <a:prstGeom prst="rect">
            <a:avLst/>
          </a:prstGeom>
          <a:noFill/>
          <a:ln/>
        </p:spPr>
        <p:txBody>
          <a:bodyPr wrap="square" rtlCol="0" anchor="ctr"/>
          <a:lstStyle/>
          <a:p>
            <a:pPr algn="ctr" indent="0" marL="0">
              <a:buNone/>
            </a:pPr>
            <a:r>
              <a:rPr lang="en-US" sz="1170" b="1" dirty="0">
                <a:solidFill>
                  <a:srgbClr val="FFFFFF"/>
                </a:solidFill>
                <a:latin typeface="Calibri" pitchFamily="34" charset="0"/>
                <a:ea typeface="Calibri" pitchFamily="34" charset="-122"/>
                <a:cs typeface="Calibri" pitchFamily="34" charset="-120"/>
              </a:rPr>
              <a:t>5</a:t>
            </a:r>
            <a:endParaRPr lang="en-US" sz="1170" dirty="0"/>
          </a:p>
        </p:txBody>
      </p:sp>
      <p:sp>
        <p:nvSpPr>
          <p:cNvPr id="23" name="Text 21"/>
          <p:cNvSpPr/>
          <p:nvPr/>
        </p:nvSpPr>
        <p:spPr>
          <a:xfrm>
            <a:off x="1463040" y="4754880"/>
            <a:ext cx="9875520" cy="621792"/>
          </a:xfrm>
          <a:prstGeom prst="rect">
            <a:avLst/>
          </a:prstGeom>
          <a:noFill/>
          <a:ln/>
        </p:spPr>
        <p:txBody>
          <a:bodyPr wrap="square" rtlCol="0" anchor="ctr"/>
          <a:lstStyle/>
          <a:p>
            <a:pPr indent="0" marL="0">
              <a:buNone/>
            </a:pPr>
            <a:r>
              <a:rPr lang="en-US" sz="1400" dirty="0">
                <a:solidFill>
                  <a:srgbClr val="16234A"/>
                </a:solidFill>
                <a:latin typeface="Calibri" pitchFamily="34" charset="0"/>
                <a:ea typeface="Calibri" pitchFamily="34" charset="-122"/>
                <a:cs typeface="Calibri" pitchFamily="34" charset="-120"/>
              </a:rPr>
              <a:t>Google Codelabs — Fraud Detection with Graph Analysis</a:t>
            </a:r>
            <a:endParaRPr lang="en-US" sz="1400" dirty="0"/>
          </a:p>
        </p:txBody>
      </p:sp>
      <p:sp>
        <p:nvSpPr>
          <p:cNvPr id="24" name="Text 22"/>
          <p:cNvSpPr/>
          <p:nvPr/>
        </p:nvSpPr>
        <p:spPr>
          <a:xfrm>
            <a:off x="457200" y="6510528"/>
            <a:ext cx="7315200" cy="274320"/>
          </a:xfrm>
          <a:prstGeom prst="rect">
            <a:avLst/>
          </a:prstGeom>
          <a:noFill/>
          <a:ln/>
        </p:spPr>
        <p:txBody>
          <a:bodyPr wrap="square" rtlCol="0" anchor="ctr"/>
          <a:lstStyle/>
          <a:p>
            <a:pPr algn="l" indent="0" marL="0">
              <a:buNone/>
            </a:pPr>
            <a:r>
              <a:rPr lang="en-US" sz="900" spc="100" kern="0" dirty="0">
                <a:solidFill>
                  <a:srgbClr val="5B6B8C"/>
                </a:solidFill>
                <a:latin typeface="Calibri" pitchFamily="34" charset="0"/>
                <a:ea typeface="Calibri" pitchFamily="34" charset="-122"/>
                <a:cs typeface="Calibri" pitchFamily="34" charset="-120"/>
              </a:rPr>
              <a:t>SECTION 37 · REFERENCES</a:t>
            </a:r>
            <a:endParaRPr lang="en-US" sz="900" dirty="0"/>
          </a:p>
        </p:txBody>
      </p:sp>
      <p:sp>
        <p:nvSpPr>
          <p:cNvPr id="25" name="Text 23"/>
          <p:cNvSpPr/>
          <p:nvPr/>
        </p:nvSpPr>
        <p:spPr>
          <a:xfrm>
            <a:off x="8686800" y="6510528"/>
            <a:ext cx="228600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RISKNET AI</a:t>
            </a:r>
            <a:endParaRPr lang="en-US" sz="900" dirty="0"/>
          </a:p>
        </p:txBody>
      </p:sp>
      <p:sp>
        <p:nvSpPr>
          <p:cNvPr id="26" name="Text 24"/>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2026-09-03T08:52:49Z</dcterms:created>
  <dcterms:modified xsi:type="dcterms:W3CDTF">2026-09-03T08:52:49Z</dcterms:modified>
</cp:coreProperties>
</file>